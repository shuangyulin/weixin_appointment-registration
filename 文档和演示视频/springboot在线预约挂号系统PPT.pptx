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9.jpe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image" Target="../media/image28.jpeg"/><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27.png"/><Relationship Id="rId14" Type="http://schemas.openxmlformats.org/officeDocument/2006/relationships/notesSlide" Target="../notesSlides/notesSlide15.xml"/><Relationship Id="rId13" Type="http://schemas.openxmlformats.org/officeDocument/2006/relationships/slideLayout" Target="../slideLayouts/slideLayout1.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29.jpe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32.jpeg"/><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33.png"/><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image" Target="../media/image37.jpeg"/><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image" Target="../media/image27.png"/><Relationship Id="rId14" Type="http://schemas.openxmlformats.org/officeDocument/2006/relationships/notesSlide" Target="../notesSlides/notesSlide23.xml"/><Relationship Id="rId13" Type="http://schemas.openxmlformats.org/officeDocument/2006/relationships/slideLayout" Target="../slideLayouts/slideLayout1.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9" Type="http://schemas.openxmlformats.org/officeDocument/2006/relationships/image" Target="../media/image45.png"/><Relationship Id="rId8" Type="http://schemas.openxmlformats.org/officeDocument/2006/relationships/image" Target="../media/image44.png"/><Relationship Id="rId7" Type="http://schemas.openxmlformats.org/officeDocument/2006/relationships/image" Target="../media/image43.png"/><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1" Type="http://schemas.openxmlformats.org/officeDocument/2006/relationships/notesSlide" Target="../notesSlides/notesSlide24.xml"/><Relationship Id="rId10" Type="http://schemas.openxmlformats.org/officeDocument/2006/relationships/slideLayout" Target="../slideLayouts/slideLayout1.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46.jpeg"/><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1.xml"/><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xml"/><Relationship Id="rId3" Type="http://schemas.openxmlformats.org/officeDocument/2006/relationships/image" Target="../media/image50.jpeg"/><Relationship Id="rId2" Type="http://schemas.openxmlformats.org/officeDocument/2006/relationships/image" Target="../media/image27.png"/><Relationship Id="rId1" Type="http://schemas.openxmlformats.org/officeDocument/2006/relationships/image" Target="../media/image5.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51.jpeg"/><Relationship Id="rId1" Type="http://schemas.openxmlformats.org/officeDocument/2006/relationships/image" Target="../media/image5.pn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xml"/><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pn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1.xml"/><Relationship Id="rId4" Type="http://schemas.openxmlformats.org/officeDocument/2006/relationships/image" Target="../media/image56.jpeg"/><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image" Target="../media/image5.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1.xml"/><Relationship Id="rId4" Type="http://schemas.openxmlformats.org/officeDocument/2006/relationships/image" Target="../media/image59.jpeg"/><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42286" y="1303734"/>
            <a:ext cx="3899935" cy="1386840"/>
          </a:xfrm>
          <a:prstGeom prst="rect">
            <a:avLst/>
          </a:prstGeom>
          <a:solidFill>
            <a:srgbClr val="000000">
              <a:alpha val="0"/>
            </a:srgbClr>
          </a:solidFill>
        </p:spPr>
        <p:txBody>
          <a:bodyPr wrap="square" lIns="95250" tIns="95250" rIns="95250" bIns="95250" rtlCol="0" anchor="t">
            <a:spAutoFit/>
          </a:bodyPr>
          <a:lstStyle/>
          <a:p>
            <a:pPr marL="0" indent="0" algn="l">
              <a:lnSpc>
                <a:spcPct val="100000"/>
              </a:lnSpc>
              <a:spcBef>
                <a:spcPts val="750"/>
              </a:spcBef>
              <a:buNone/>
            </a:pPr>
            <a:r>
              <a:rPr lang="zh-CN" altLang="en-US" sz="3890" b="1" kern="0" spc="36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在线预约挂号系统</a:t>
            </a:r>
            <a:endParaRPr lang="en-US" sz="1440" dirty="0"/>
          </a:p>
        </p:txBody>
      </p:sp>
      <p:sp>
        <p:nvSpPr>
          <p:cNvPr id="4" name="Text 2"/>
          <p:cNvSpPr/>
          <p:nvPr/>
        </p:nvSpPr>
        <p:spPr>
          <a:xfrm>
            <a:off x="6798981" y="4373018"/>
            <a:ext cx="2143240" cy="415925"/>
          </a:xfrm>
          <a:prstGeom prst="rect">
            <a:avLst/>
          </a:prstGeom>
          <a:noFill/>
        </p:spPr>
        <p:txBody>
          <a:bodyPr wrap="square" lIns="95250" tIns="95250" rIns="95250" bIns="95250" rtlCol="0" anchor="t">
            <a:spAutoFit/>
          </a:bodyPr>
          <a:lstStyle/>
          <a:p>
            <a:pPr marL="0" indent="0" algn="l">
              <a:lnSpc>
                <a:spcPct val="113000"/>
              </a:lnSpc>
              <a:spcBef>
                <a:spcPts val="375"/>
              </a:spcBef>
              <a:buNone/>
            </a:pPr>
            <a:r>
              <a:rPr lang="en-US" sz="1295" dirty="0">
                <a:solidFill>
                  <a:srgbClr val="FFFFFF"/>
                </a:solidFill>
                <a:latin typeface="PingFang SC" pitchFamily="34" charset="0"/>
                <a:ea typeface="PingFang SC" pitchFamily="34" charset="-122"/>
                <a:cs typeface="PingFang SC" pitchFamily="34" charset="-120"/>
              </a:rPr>
              <a:t>汇报人: </a:t>
            </a:r>
            <a:endParaRPr lang="en-US" sz="1440" dirty="0"/>
          </a:p>
        </p:txBody>
      </p:sp>
      <p:sp>
        <p:nvSpPr>
          <p:cNvPr id="5" name="Shape 3"/>
          <p:cNvSpPr/>
          <p:nvPr/>
        </p:nvSpPr>
        <p:spPr>
          <a:xfrm>
            <a:off x="5598226" y="2756440"/>
            <a:ext cx="3178257" cy="0"/>
          </a:xfrm>
          <a:custGeom>
            <a:avLst/>
            <a:gdLst/>
            <a:ahLst/>
            <a:cxnLst/>
            <a:rect l="l" t="t" r="r" b="b"/>
            <a:pathLst>
              <a:path w="3178257">
                <a:moveTo>
                  <a:pt x="0" y="0"/>
                </a:moveTo>
                <a:moveTo>
                  <a:pt x="0" y="0"/>
                </a:moveTo>
                <a:lnTo>
                  <a:pt x="3178257" y="0"/>
                </a:lnTo>
              </a:path>
            </a:pathLst>
          </a:custGeom>
          <a:noFill/>
          <a:ln w="9525">
            <a:solidFill>
              <a:srgbClr val="FFFFFF">
                <a:alpha val="21961"/>
              </a:srgbClr>
            </a:solidFill>
            <a:prstDash val="solid"/>
            <a:headEnd type="none"/>
            <a:tailEnd type="non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546108" y="2110739"/>
            <a:ext cx="1556684" cy="768096"/>
          </a:xfrm>
          <a:prstGeom prst="rect">
            <a:avLst/>
          </a:prstGeom>
          <a:noFill/>
        </p:spPr>
        <p:txBody>
          <a:bodyPr wrap="square" lIns="95250" tIns="95250" rIns="95250" bIns="95250" rtlCol="0" anchor="t">
            <a:spAutoFit/>
          </a:bodyPr>
          <a:lstStyle/>
          <a:p>
            <a:pPr marL="0" indent="0" algn="ctr">
              <a:lnSpc>
                <a:spcPct val="100000"/>
              </a:lnSpc>
              <a:buNone/>
            </a:pPr>
            <a:r>
              <a:rPr lang="en-US" sz="3890"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目录</a:t>
            </a:r>
            <a:endParaRPr lang="en-US" sz="1440" dirty="0"/>
          </a:p>
        </p:txBody>
      </p:sp>
      <p:pic>
        <p:nvPicPr>
          <p:cNvPr id="3" name="Image 0" descr="preencoded.png"/>
          <p:cNvPicPr>
            <a:picLocks noChangeAspect="1"/>
          </p:cNvPicPr>
          <p:nvPr/>
        </p:nvPicPr>
        <p:blipFill>
          <a:blip r:embed="rId2"/>
          <a:stretch>
            <a:fillRect/>
          </a:stretch>
        </p:blipFill>
        <p:spPr>
          <a:xfrm>
            <a:off x="4574051" y="634833"/>
            <a:ext cx="3911029" cy="2316394"/>
          </a:xfrm>
          <a:prstGeom prst="rect">
            <a:avLst/>
          </a:prstGeom>
        </p:spPr>
      </p:pic>
      <p:sp>
        <p:nvSpPr>
          <p:cNvPr id="4" name="Text 1"/>
          <p:cNvSpPr/>
          <p:nvPr/>
        </p:nvSpPr>
        <p:spPr>
          <a:xfrm>
            <a:off x="4797974" y="559611"/>
            <a:ext cx="3108960" cy="45720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440" dirty="0">
                <a:solidFill>
                  <a:srgbClr val="333333"/>
                </a:solidFill>
                <a:latin typeface="PingFang SC" pitchFamily="34" charset="0"/>
                <a:ea typeface="PingFang SC" pitchFamily="34" charset="-122"/>
                <a:cs typeface="PingFang SC" pitchFamily="34" charset="-120"/>
              </a:rPr>
              <a:t>系统开发背景</a:t>
            </a:r>
            <a:endParaRPr lang="en-US" sz="1440" dirty="0"/>
          </a:p>
        </p:txBody>
      </p:sp>
      <p:sp>
        <p:nvSpPr>
          <p:cNvPr id="5" name="Text 2"/>
          <p:cNvSpPr/>
          <p:nvPr/>
        </p:nvSpPr>
        <p:spPr>
          <a:xfrm>
            <a:off x="4176182" y="477315"/>
            <a:ext cx="713232" cy="64008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328CB2"/>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6" name="Text 3"/>
          <p:cNvSpPr/>
          <p:nvPr/>
        </p:nvSpPr>
        <p:spPr>
          <a:xfrm>
            <a:off x="4797974" y="1069194"/>
            <a:ext cx="3108960" cy="45720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440" dirty="0">
                <a:solidFill>
                  <a:srgbClr val="333333"/>
                </a:solidFill>
                <a:latin typeface="PingFang SC" pitchFamily="34" charset="0"/>
                <a:ea typeface="PingFang SC" pitchFamily="34" charset="-122"/>
                <a:cs typeface="PingFang SC" pitchFamily="34" charset="-120"/>
              </a:rPr>
              <a:t>技术与工具</a:t>
            </a:r>
            <a:endParaRPr lang="en-US" sz="1440" dirty="0"/>
          </a:p>
        </p:txBody>
      </p:sp>
      <p:sp>
        <p:nvSpPr>
          <p:cNvPr id="7" name="Text 4"/>
          <p:cNvSpPr/>
          <p:nvPr/>
        </p:nvSpPr>
        <p:spPr>
          <a:xfrm>
            <a:off x="4176182" y="986898"/>
            <a:ext cx="713232" cy="64008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328CB2"/>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8" name="Text 5"/>
          <p:cNvSpPr/>
          <p:nvPr/>
        </p:nvSpPr>
        <p:spPr>
          <a:xfrm>
            <a:off x="4797974" y="1578776"/>
            <a:ext cx="3108960" cy="45720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440" dirty="0">
                <a:solidFill>
                  <a:srgbClr val="333333"/>
                </a:solidFill>
                <a:latin typeface="PingFang SC" pitchFamily="34" charset="0"/>
                <a:ea typeface="PingFang SC" pitchFamily="34" charset="-122"/>
                <a:cs typeface="PingFang SC" pitchFamily="34" charset="-120"/>
              </a:rPr>
              <a:t>需求分析</a:t>
            </a:r>
            <a:endParaRPr lang="en-US" sz="1440" dirty="0"/>
          </a:p>
        </p:txBody>
      </p:sp>
      <p:sp>
        <p:nvSpPr>
          <p:cNvPr id="9" name="Text 6"/>
          <p:cNvSpPr/>
          <p:nvPr/>
        </p:nvSpPr>
        <p:spPr>
          <a:xfrm>
            <a:off x="4176182" y="1496480"/>
            <a:ext cx="713232" cy="64008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328CB2"/>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10" name="Text 7"/>
          <p:cNvSpPr/>
          <p:nvPr/>
        </p:nvSpPr>
        <p:spPr>
          <a:xfrm>
            <a:off x="4797974" y="2088359"/>
            <a:ext cx="3108960" cy="45720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440" dirty="0">
                <a:solidFill>
                  <a:srgbClr val="333333"/>
                </a:solidFill>
                <a:latin typeface="PingFang SC" pitchFamily="34" charset="0"/>
                <a:ea typeface="PingFang SC" pitchFamily="34" charset="-122"/>
                <a:cs typeface="PingFang SC" pitchFamily="34" charset="-120"/>
              </a:rPr>
              <a:t>系统设计</a:t>
            </a:r>
            <a:endParaRPr lang="en-US" sz="1440" dirty="0"/>
          </a:p>
        </p:txBody>
      </p:sp>
      <p:sp>
        <p:nvSpPr>
          <p:cNvPr id="11" name="Text 8"/>
          <p:cNvSpPr/>
          <p:nvPr/>
        </p:nvSpPr>
        <p:spPr>
          <a:xfrm>
            <a:off x="4176182" y="2006063"/>
            <a:ext cx="713232" cy="64008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328CB2"/>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440" dirty="0"/>
          </a:p>
        </p:txBody>
      </p:sp>
      <p:sp>
        <p:nvSpPr>
          <p:cNvPr id="12" name="Text 9"/>
          <p:cNvSpPr/>
          <p:nvPr/>
        </p:nvSpPr>
        <p:spPr>
          <a:xfrm>
            <a:off x="4797974" y="2597941"/>
            <a:ext cx="3108960" cy="45720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440" dirty="0">
                <a:solidFill>
                  <a:srgbClr val="333333"/>
                </a:solidFill>
                <a:latin typeface="PingFang SC" pitchFamily="34" charset="0"/>
                <a:ea typeface="PingFang SC" pitchFamily="34" charset="-122"/>
                <a:cs typeface="PingFang SC" pitchFamily="34" charset="-120"/>
              </a:rPr>
              <a:t>系统实现</a:t>
            </a:r>
            <a:endParaRPr lang="en-US" sz="1440" dirty="0"/>
          </a:p>
        </p:txBody>
      </p:sp>
      <p:sp>
        <p:nvSpPr>
          <p:cNvPr id="13" name="Text 10"/>
          <p:cNvSpPr/>
          <p:nvPr/>
        </p:nvSpPr>
        <p:spPr>
          <a:xfrm>
            <a:off x="4176182" y="2515645"/>
            <a:ext cx="713232" cy="64008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328CB2"/>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1440" dirty="0"/>
          </a:p>
        </p:txBody>
      </p:sp>
      <p:sp>
        <p:nvSpPr>
          <p:cNvPr id="14" name="Text 11"/>
          <p:cNvSpPr/>
          <p:nvPr/>
        </p:nvSpPr>
        <p:spPr>
          <a:xfrm>
            <a:off x="4797974" y="3107524"/>
            <a:ext cx="3108960" cy="45720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440" dirty="0">
                <a:solidFill>
                  <a:srgbClr val="333333"/>
                </a:solidFill>
                <a:latin typeface="PingFang SC" pitchFamily="34" charset="0"/>
                <a:ea typeface="PingFang SC" pitchFamily="34" charset="-122"/>
                <a:cs typeface="PingFang SC" pitchFamily="34" charset="-120"/>
              </a:rPr>
              <a:t>系统测试</a:t>
            </a:r>
            <a:endParaRPr lang="en-US" sz="1440" dirty="0"/>
          </a:p>
        </p:txBody>
      </p:sp>
      <p:sp>
        <p:nvSpPr>
          <p:cNvPr id="15" name="Text 12"/>
          <p:cNvSpPr/>
          <p:nvPr/>
        </p:nvSpPr>
        <p:spPr>
          <a:xfrm>
            <a:off x="4176182" y="3025228"/>
            <a:ext cx="713232" cy="64008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328CB2"/>
                </a:solidFill>
                <a:latin typeface="微软雅黑" panose="020B0503020204020204" pitchFamily="34" charset="-122"/>
                <a:ea typeface="微软雅黑" panose="020B0503020204020204" pitchFamily="34" charset="-122"/>
                <a:cs typeface="微软雅黑" panose="020B0503020204020204" pitchFamily="34" charset="-120"/>
              </a:rPr>
              <a:t>06</a:t>
            </a:r>
            <a:endParaRPr lang="en-US" sz="1440" dirty="0"/>
          </a:p>
        </p:txBody>
      </p:sp>
      <p:sp>
        <p:nvSpPr>
          <p:cNvPr id="16" name="Text 13"/>
          <p:cNvSpPr/>
          <p:nvPr/>
        </p:nvSpPr>
        <p:spPr>
          <a:xfrm>
            <a:off x="4797974" y="3617106"/>
            <a:ext cx="3108960" cy="45720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440" dirty="0">
                <a:solidFill>
                  <a:srgbClr val="333333"/>
                </a:solidFill>
                <a:latin typeface="PingFang SC" pitchFamily="34" charset="0"/>
                <a:ea typeface="PingFang SC" pitchFamily="34" charset="-122"/>
                <a:cs typeface="PingFang SC" pitchFamily="34" charset="-120"/>
              </a:rPr>
              <a:t>开发过程与挑战</a:t>
            </a:r>
            <a:endParaRPr lang="en-US" sz="1440" dirty="0"/>
          </a:p>
        </p:txBody>
      </p:sp>
      <p:sp>
        <p:nvSpPr>
          <p:cNvPr id="17" name="Text 14"/>
          <p:cNvSpPr/>
          <p:nvPr/>
        </p:nvSpPr>
        <p:spPr>
          <a:xfrm>
            <a:off x="4176182" y="3534810"/>
            <a:ext cx="713232" cy="64008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328CB2"/>
                </a:solidFill>
                <a:latin typeface="微软雅黑" panose="020B0503020204020204" pitchFamily="34" charset="-122"/>
                <a:ea typeface="微软雅黑" panose="020B0503020204020204" pitchFamily="34" charset="-122"/>
                <a:cs typeface="微软雅黑" panose="020B0503020204020204" pitchFamily="34" charset="-120"/>
              </a:rPr>
              <a:t>07</a:t>
            </a:r>
            <a:endParaRPr lang="en-US" sz="1440" dirty="0"/>
          </a:p>
        </p:txBody>
      </p:sp>
      <p:sp>
        <p:nvSpPr>
          <p:cNvPr id="18" name="Text 15"/>
          <p:cNvSpPr/>
          <p:nvPr/>
        </p:nvSpPr>
        <p:spPr>
          <a:xfrm>
            <a:off x="4797974" y="4126689"/>
            <a:ext cx="3108960" cy="45720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440" dirty="0">
                <a:solidFill>
                  <a:srgbClr val="333333"/>
                </a:solidFill>
                <a:latin typeface="PingFang SC" pitchFamily="34" charset="0"/>
                <a:ea typeface="PingFang SC" pitchFamily="34" charset="-122"/>
                <a:cs typeface="PingFang SC" pitchFamily="34" charset="-120"/>
              </a:rPr>
              <a:t>致谢部分</a:t>
            </a:r>
            <a:endParaRPr lang="en-US" sz="1440" dirty="0"/>
          </a:p>
        </p:txBody>
      </p:sp>
      <p:sp>
        <p:nvSpPr>
          <p:cNvPr id="19" name="Text 16"/>
          <p:cNvSpPr/>
          <p:nvPr/>
        </p:nvSpPr>
        <p:spPr>
          <a:xfrm>
            <a:off x="4176182" y="4044393"/>
            <a:ext cx="713232" cy="64008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328CB2"/>
                </a:solidFill>
                <a:latin typeface="微软雅黑" panose="020B0503020204020204" pitchFamily="34" charset="-122"/>
                <a:ea typeface="微软雅黑" panose="020B0503020204020204" pitchFamily="34" charset="-122"/>
                <a:cs typeface="微软雅黑" panose="020B0503020204020204" pitchFamily="34" charset="-120"/>
              </a:rPr>
              <a:t>08</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023" y="1222687"/>
            <a:ext cx="1882760" cy="179222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8350" b="1" dirty="0">
                <a:solidFill>
                  <a:srgbClr val="FFFFFF">
                    <a:alpha val="40000"/>
                  </a:srgbClr>
                </a:solidFill>
                <a:latin typeface="Arial" panose="020B0604020202020204" pitchFamily="34" charset="0"/>
                <a:ea typeface="Arial" panose="020B0604020202020204" pitchFamily="34" charset="-122"/>
                <a:cs typeface="Arial" panose="020B0604020202020204" pitchFamily="34" charset="-120"/>
              </a:rPr>
              <a:t>01</a:t>
            </a:r>
            <a:endParaRPr lang="en-US" sz="1440" dirty="0"/>
          </a:p>
        </p:txBody>
      </p:sp>
      <p:sp>
        <p:nvSpPr>
          <p:cNvPr id="3" name="Text 1"/>
          <p:cNvSpPr/>
          <p:nvPr/>
        </p:nvSpPr>
        <p:spPr>
          <a:xfrm>
            <a:off x="403023" y="2507428"/>
            <a:ext cx="3807290" cy="74980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系统开发背景</a:t>
            </a:r>
            <a:endParaRPr lang="en-US" sz="14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课题背景与意义</a:t>
            </a:r>
            <a:endParaRPr lang="en-US" sz="1440" dirty="0"/>
          </a:p>
        </p:txBody>
      </p:sp>
      <p:sp>
        <p:nvSpPr>
          <p:cNvPr id="3" name="Shape 1"/>
          <p:cNvSpPr/>
          <p:nvPr/>
        </p:nvSpPr>
        <p:spPr>
          <a:xfrm>
            <a:off x="1163262" y="1262153"/>
            <a:ext cx="1151947" cy="1151947"/>
          </a:xfrm>
          <a:custGeom>
            <a:avLst/>
            <a:gdLst/>
            <a:ahLst/>
            <a:cxnLst/>
            <a:rect l="l" t="t" r="r" b="b"/>
            <a:pathLst>
              <a:path w="1151947" h="1151947">
                <a:moveTo>
                  <a:pt x="575974" y="0"/>
                </a:moveTo>
                <a:moveTo>
                  <a:pt x="575974" y="0"/>
                </a:moveTo>
                <a:cubicBezTo>
                  <a:pt x="893862" y="0"/>
                  <a:pt x="1151947" y="258085"/>
                  <a:pt x="1151947" y="575974"/>
                </a:cubicBezTo>
                <a:cubicBezTo>
                  <a:pt x="1151947" y="893862"/>
                  <a:pt x="893862" y="1151947"/>
                  <a:pt x="575974" y="1151947"/>
                </a:cubicBezTo>
                <a:cubicBezTo>
                  <a:pt x="258085" y="1151947"/>
                  <a:pt x="0" y="893862"/>
                  <a:pt x="0" y="575974"/>
                </a:cubicBezTo>
                <a:cubicBezTo>
                  <a:pt x="0" y="258085"/>
                  <a:pt x="258085" y="0"/>
                  <a:pt x="575974" y="0"/>
                </a:cubicBezTo>
                <a:close/>
              </a:path>
            </a:pathLst>
          </a:custGeom>
          <a:solidFill>
            <a:srgbClr val="328CB2">
              <a:alpha val="0"/>
            </a:srgbClr>
          </a:solidFill>
          <a:ln w="38100">
            <a:solidFill>
              <a:srgbClr val="69BBE3"/>
            </a:solidFill>
            <a:prstDash val="solid"/>
          </a:ln>
        </p:spPr>
      </p:sp>
      <p:sp>
        <p:nvSpPr>
          <p:cNvPr id="4" name="Shape 2"/>
          <p:cNvSpPr/>
          <p:nvPr/>
        </p:nvSpPr>
        <p:spPr>
          <a:xfrm>
            <a:off x="6844840" y="1262153"/>
            <a:ext cx="1151947" cy="1151947"/>
          </a:xfrm>
          <a:custGeom>
            <a:avLst/>
            <a:gdLst/>
            <a:ahLst/>
            <a:cxnLst/>
            <a:rect l="l" t="t" r="r" b="b"/>
            <a:pathLst>
              <a:path w="1151947" h="1151947">
                <a:moveTo>
                  <a:pt x="575974" y="0"/>
                </a:moveTo>
                <a:moveTo>
                  <a:pt x="575974" y="0"/>
                </a:moveTo>
                <a:cubicBezTo>
                  <a:pt x="893862" y="0"/>
                  <a:pt x="1151947" y="258085"/>
                  <a:pt x="1151947" y="575974"/>
                </a:cubicBezTo>
                <a:cubicBezTo>
                  <a:pt x="1151947" y="893862"/>
                  <a:pt x="893862" y="1151947"/>
                  <a:pt x="575974" y="1151947"/>
                </a:cubicBezTo>
                <a:cubicBezTo>
                  <a:pt x="258085" y="1151947"/>
                  <a:pt x="0" y="893862"/>
                  <a:pt x="0" y="575974"/>
                </a:cubicBezTo>
                <a:cubicBezTo>
                  <a:pt x="0" y="258085"/>
                  <a:pt x="258085" y="0"/>
                  <a:pt x="575974" y="0"/>
                </a:cubicBezTo>
                <a:close/>
              </a:path>
            </a:pathLst>
          </a:custGeom>
          <a:solidFill>
            <a:srgbClr val="328CB2">
              <a:alpha val="0"/>
            </a:srgbClr>
          </a:solidFill>
          <a:ln w="38100">
            <a:solidFill>
              <a:srgbClr val="69BBE3"/>
            </a:solidFill>
            <a:prstDash val="solid"/>
          </a:ln>
        </p:spPr>
      </p:sp>
      <p:pic>
        <p:nvPicPr>
          <p:cNvPr id="5" name="Image 0" descr="preencoded.png"/>
          <p:cNvPicPr>
            <a:picLocks noChangeAspect="1"/>
          </p:cNvPicPr>
          <p:nvPr/>
        </p:nvPicPr>
        <p:blipFill>
          <a:blip r:embed="rId2"/>
          <a:stretch>
            <a:fillRect/>
          </a:stretch>
        </p:blipFill>
        <p:spPr>
          <a:xfrm>
            <a:off x="1393876" y="1492766"/>
            <a:ext cx="690721" cy="690721"/>
          </a:xfrm>
          <a:prstGeom prst="rect">
            <a:avLst/>
          </a:prstGeom>
        </p:spPr>
      </p:pic>
      <p:pic>
        <p:nvPicPr>
          <p:cNvPr id="6" name="Image 1" descr="preencoded.png"/>
          <p:cNvPicPr>
            <a:picLocks noChangeAspect="1"/>
          </p:cNvPicPr>
          <p:nvPr/>
        </p:nvPicPr>
        <p:blipFill>
          <a:blip r:embed="rId3"/>
          <a:stretch>
            <a:fillRect/>
          </a:stretch>
        </p:blipFill>
        <p:spPr>
          <a:xfrm>
            <a:off x="7164924" y="1582237"/>
            <a:ext cx="511778" cy="511778"/>
          </a:xfrm>
          <a:prstGeom prst="rect">
            <a:avLst/>
          </a:prstGeom>
        </p:spPr>
      </p:pic>
      <p:sp>
        <p:nvSpPr>
          <p:cNvPr id="7" name="Shape 3"/>
          <p:cNvSpPr/>
          <p:nvPr/>
        </p:nvSpPr>
        <p:spPr>
          <a:xfrm>
            <a:off x="3850635" y="1080185"/>
            <a:ext cx="1442730" cy="1442730"/>
          </a:xfrm>
          <a:custGeom>
            <a:avLst/>
            <a:gdLst/>
            <a:ahLst/>
            <a:cxnLst/>
            <a:rect l="l" t="t" r="r" b="b"/>
            <a:pathLst>
              <a:path w="1442730" h="1442730">
                <a:moveTo>
                  <a:pt x="721365" y="0"/>
                </a:moveTo>
                <a:moveTo>
                  <a:pt x="721365" y="0"/>
                </a:moveTo>
                <a:cubicBezTo>
                  <a:pt x="1119497" y="0"/>
                  <a:pt x="1442730" y="323233"/>
                  <a:pt x="1442730" y="721365"/>
                </a:cubicBezTo>
                <a:cubicBezTo>
                  <a:pt x="1442730" y="1119497"/>
                  <a:pt x="1119497" y="1442730"/>
                  <a:pt x="721365" y="1442730"/>
                </a:cubicBezTo>
                <a:cubicBezTo>
                  <a:pt x="323233" y="1442730"/>
                  <a:pt x="0" y="1119497"/>
                  <a:pt x="0" y="721365"/>
                </a:cubicBezTo>
                <a:cubicBezTo>
                  <a:pt x="0" y="323233"/>
                  <a:pt x="323233" y="0"/>
                  <a:pt x="721365" y="0"/>
                </a:cubicBezTo>
                <a:close/>
              </a:path>
            </a:pathLst>
          </a:custGeom>
          <a:solidFill>
            <a:srgbClr val="328CB2">
              <a:alpha val="0"/>
            </a:srgbClr>
          </a:solidFill>
          <a:ln w="38100">
            <a:solidFill>
              <a:srgbClr val="328CB2"/>
            </a:solidFill>
            <a:prstDash val="solid"/>
          </a:ln>
        </p:spPr>
      </p:sp>
      <p:pic>
        <p:nvPicPr>
          <p:cNvPr id="8" name="Image 2" descr="preencoded.png"/>
          <p:cNvPicPr>
            <a:picLocks noChangeAspect="1"/>
          </p:cNvPicPr>
          <p:nvPr/>
        </p:nvPicPr>
        <p:blipFill>
          <a:blip r:embed="rId4"/>
          <a:stretch>
            <a:fillRect/>
          </a:stretch>
        </p:blipFill>
        <p:spPr>
          <a:xfrm>
            <a:off x="4215456" y="1445006"/>
            <a:ext cx="713089" cy="713089"/>
          </a:xfrm>
          <a:prstGeom prst="rect">
            <a:avLst/>
          </a:prstGeom>
        </p:spPr>
      </p:pic>
      <p:sp>
        <p:nvSpPr>
          <p:cNvPr id="9" name="Text 4"/>
          <p:cNvSpPr/>
          <p:nvPr/>
        </p:nvSpPr>
        <p:spPr>
          <a:xfrm>
            <a:off x="358844" y="2594576"/>
            <a:ext cx="2760785" cy="483319"/>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69BBE3"/>
                </a:solidFill>
                <a:latin typeface="PingFang SC" pitchFamily="34" charset="0"/>
                <a:ea typeface="PingFang SC" pitchFamily="34" charset="-122"/>
                <a:cs typeface="PingFang SC" pitchFamily="34" charset="-120"/>
              </a:rPr>
              <a:t>医疗服务需求增长</a:t>
            </a:r>
            <a:endParaRPr lang="en-US" sz="1440" dirty="0"/>
          </a:p>
        </p:txBody>
      </p:sp>
      <p:sp>
        <p:nvSpPr>
          <p:cNvPr id="10" name="Text 5"/>
          <p:cNvSpPr/>
          <p:nvPr/>
        </p:nvSpPr>
        <p:spPr>
          <a:xfrm>
            <a:off x="682353" y="3105327"/>
            <a:ext cx="2113767"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随着社会经济的快速发展和人口老龄化的加剧，人们对医疗服务的需求不断增加，医疗资源的紧张问题愈发凸显。</a:t>
            </a:r>
            <a:endParaRPr lang="en-US" sz="1440" dirty="0"/>
          </a:p>
        </p:txBody>
      </p:sp>
      <p:sp>
        <p:nvSpPr>
          <p:cNvPr id="11" name="Text 6"/>
          <p:cNvSpPr/>
          <p:nvPr/>
        </p:nvSpPr>
        <p:spPr>
          <a:xfrm>
            <a:off x="3191713" y="2719426"/>
            <a:ext cx="2760574" cy="483718"/>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传统就医模式的问题</a:t>
            </a:r>
            <a:endParaRPr lang="en-US" sz="1440" dirty="0"/>
          </a:p>
        </p:txBody>
      </p:sp>
      <p:sp>
        <p:nvSpPr>
          <p:cNvPr id="12" name="Text 7"/>
          <p:cNvSpPr/>
          <p:nvPr/>
        </p:nvSpPr>
        <p:spPr>
          <a:xfrm>
            <a:off x="3514954" y="3229661"/>
            <a:ext cx="2114093"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在传统就医模式下，患者往往需要在医院排队等候挂号，不仅耗费大量时间，还容易造成医院大厅的拥挤和混乱。</a:t>
            </a:r>
            <a:endParaRPr lang="en-US" sz="1440" dirty="0"/>
          </a:p>
        </p:txBody>
      </p:sp>
      <p:sp>
        <p:nvSpPr>
          <p:cNvPr id="13" name="Text 8"/>
          <p:cNvSpPr/>
          <p:nvPr/>
        </p:nvSpPr>
        <p:spPr>
          <a:xfrm>
            <a:off x="6040526" y="2594153"/>
            <a:ext cx="2760574" cy="483718"/>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69BBE3"/>
                </a:solidFill>
                <a:latin typeface="PingFang SC" pitchFamily="34" charset="0"/>
                <a:ea typeface="PingFang SC" pitchFamily="34" charset="-122"/>
                <a:cs typeface="PingFang SC" pitchFamily="34" charset="-120"/>
              </a:rPr>
              <a:t>信息技术在医疗行业的应用</a:t>
            </a:r>
            <a:endParaRPr lang="en-US" sz="1440" dirty="0"/>
          </a:p>
        </p:txBody>
      </p:sp>
      <p:sp>
        <p:nvSpPr>
          <p:cNvPr id="14" name="Text 9"/>
          <p:cNvSpPr/>
          <p:nvPr/>
        </p:nvSpPr>
        <p:spPr>
          <a:xfrm>
            <a:off x="6363767" y="3105302"/>
            <a:ext cx="2114093"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随着信息技术的飞速发展，互联网、移动设备等技术在各个领域的广泛应用，为医疗行业的信息化变革提供了技术支持和契机。</a:t>
            </a:r>
            <a:endParaRPr lang="en-US" sz="14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国内外研究现状</a:t>
            </a:r>
            <a:endParaRPr lang="en-US" sz="1440" dirty="0"/>
          </a:p>
        </p:txBody>
      </p:sp>
      <p:sp>
        <p:nvSpPr>
          <p:cNvPr id="3" name="Text 1"/>
          <p:cNvSpPr/>
          <p:nvPr/>
        </p:nvSpPr>
        <p:spPr>
          <a:xfrm>
            <a:off x="3339648" y="1020931"/>
            <a:ext cx="5480411" cy="420624"/>
          </a:xfrm>
          <a:prstGeom prst="rect">
            <a:avLst/>
          </a:prstGeom>
          <a:noFill/>
        </p:spPr>
        <p:txBody>
          <a:bodyPr wrap="square" lIns="95250" tIns="95250" rIns="95250" bIns="95250" rtlCol="0" anchor="b"/>
          <a:lstStyle/>
          <a:p>
            <a:pPr marL="0" indent="0">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国内在线预约挂号系统进展</a:t>
            </a:r>
            <a:endParaRPr lang="en-US" sz="1440" dirty="0"/>
          </a:p>
        </p:txBody>
      </p:sp>
      <p:pic>
        <p:nvPicPr>
          <p:cNvPr id="4" name="Image 0" descr="https://sgw-dx.xf-yun.com/api/v1/sparkdesk/_17468668772454f0a24f33ade438c958d20c6018bb63b.jpg?authorization=c2ltcGxlLWp3dCBhaz1zcGFya2Rlc2s4MDAwMDAwMDAwMDE7ZXhwPTMzMjM2NjY4Nzc7YWxnbz1obWFjLXNoYTI1NjtzaWc9SmxibU80NUVnQ0h1T3BlVlJMV2lNZDJFV1FzdDlCNExNZVovQzFyOEpyMD0=&amp;x_location=7YfmxI7B7uKO7jlRxIftd6UpfPD="/>
          <p:cNvPicPr>
            <a:picLocks noChangeAspect="1"/>
          </p:cNvPicPr>
          <p:nvPr/>
        </p:nvPicPr>
        <p:blipFill>
          <a:blip r:embed="rId2"/>
          <a:srcRect/>
          <a:stretch>
            <a:fillRect/>
          </a:stretch>
        </p:blipFill>
        <p:spPr>
          <a:xfrm>
            <a:off x="320040" y="1446751"/>
            <a:ext cx="2831897" cy="2831897"/>
          </a:xfrm>
          <a:prstGeom prst="rect">
            <a:avLst/>
          </a:prstGeom>
        </p:spPr>
      </p:pic>
      <p:sp>
        <p:nvSpPr>
          <p:cNvPr id="5" name="Text 2"/>
          <p:cNvSpPr/>
          <p:nvPr/>
        </p:nvSpPr>
        <p:spPr>
          <a:xfrm>
            <a:off x="3339648" y="1271795"/>
            <a:ext cx="5480411"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我国在线预约挂号系统近年来取得显著进展，多数公立医院已接入省级或国家级平台，实现线上预约等功能，极大提高了医疗服务效率和患者就医体验。</a:t>
            </a:r>
            <a:endParaRPr lang="en-US" sz="1440" dirty="0"/>
          </a:p>
        </p:txBody>
      </p:sp>
      <p:sp>
        <p:nvSpPr>
          <p:cNvPr id="6" name="Text 3"/>
          <p:cNvSpPr/>
          <p:nvPr/>
        </p:nvSpPr>
        <p:spPr>
          <a:xfrm>
            <a:off x="3339648" y="2350635"/>
            <a:ext cx="5480411" cy="420624"/>
          </a:xfrm>
          <a:prstGeom prst="rect">
            <a:avLst/>
          </a:prstGeom>
          <a:noFill/>
        </p:spPr>
        <p:txBody>
          <a:bodyPr wrap="square" lIns="95250" tIns="95250" rIns="95250" bIns="95250" rtlCol="0" anchor="b"/>
          <a:lstStyle/>
          <a:p>
            <a:pPr marL="0" indent="0">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面临的挑战与问题</a:t>
            </a:r>
            <a:endParaRPr lang="en-US" sz="1440" dirty="0"/>
          </a:p>
        </p:txBody>
      </p:sp>
      <p:sp>
        <p:nvSpPr>
          <p:cNvPr id="7" name="Text 4"/>
          <p:cNvSpPr/>
          <p:nvPr/>
        </p:nvSpPr>
        <p:spPr>
          <a:xfrm>
            <a:off x="3339648" y="2609554"/>
            <a:ext cx="5480411"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尽管取得了进展，但我国在线预约挂号系统仍面临优质医疗资源集中、基层医疗机构利用率低等问题，以及界面设计不友好、系统稳定性不足等技术挑战。</a:t>
            </a:r>
            <a:endParaRPr lang="en-US" sz="1440" dirty="0"/>
          </a:p>
        </p:txBody>
      </p:sp>
      <p:sp>
        <p:nvSpPr>
          <p:cNvPr id="8" name="Text 5"/>
          <p:cNvSpPr/>
          <p:nvPr/>
        </p:nvSpPr>
        <p:spPr>
          <a:xfrm>
            <a:off x="3339648" y="3688394"/>
            <a:ext cx="5480411" cy="420624"/>
          </a:xfrm>
          <a:prstGeom prst="rect">
            <a:avLst/>
          </a:prstGeom>
          <a:noFill/>
        </p:spPr>
        <p:txBody>
          <a:bodyPr wrap="square" lIns="95250" tIns="95250" rIns="95250" bIns="95250" rtlCol="0" anchor="b"/>
          <a:lstStyle/>
          <a:p>
            <a:pPr marL="0" indent="0">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国外预约挂号系统发展</a:t>
            </a:r>
            <a:endParaRPr lang="en-US" sz="1440" dirty="0"/>
          </a:p>
        </p:txBody>
      </p:sp>
      <p:sp>
        <p:nvSpPr>
          <p:cNvPr id="9" name="Text 6"/>
          <p:cNvSpPr/>
          <p:nvPr/>
        </p:nvSpPr>
        <p:spPr>
          <a:xfrm>
            <a:off x="3339648" y="3939114"/>
            <a:ext cx="5482133"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国外在门诊预约挂号系统的研究和应用方面起步较早，欧美国家普遍采用电话预约，随着互联网技术的发展，预约挂号系统逐渐与互联网结合，理论研究也较为深入。</a:t>
            </a:r>
            <a:endParaRPr lang="en-US" sz="14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023" y="1222687"/>
            <a:ext cx="1882760" cy="179222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8350" b="1" dirty="0">
                <a:solidFill>
                  <a:srgbClr val="FFFFFF">
                    <a:alpha val="40000"/>
                  </a:srgbClr>
                </a:solidFill>
                <a:latin typeface="Arial" panose="020B0604020202020204" pitchFamily="34" charset="0"/>
                <a:ea typeface="Arial" panose="020B0604020202020204" pitchFamily="34" charset="-122"/>
                <a:cs typeface="Arial" panose="020B0604020202020204" pitchFamily="34" charset="-120"/>
              </a:rPr>
              <a:t>02</a:t>
            </a:r>
            <a:endParaRPr lang="en-US" sz="1440" dirty="0"/>
          </a:p>
        </p:txBody>
      </p:sp>
      <p:sp>
        <p:nvSpPr>
          <p:cNvPr id="3" name="Text 1"/>
          <p:cNvSpPr/>
          <p:nvPr/>
        </p:nvSpPr>
        <p:spPr>
          <a:xfrm>
            <a:off x="403023" y="2507428"/>
            <a:ext cx="3807290" cy="74980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技术与工具</a:t>
            </a:r>
            <a:endParaRPr lang="en-US" sz="14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Spring Boot框架</a:t>
            </a:r>
            <a:endParaRPr lang="en-US" sz="1440" dirty="0"/>
          </a:p>
        </p:txBody>
      </p:sp>
      <p:sp>
        <p:nvSpPr>
          <p:cNvPr id="3" name="Shape 1"/>
          <p:cNvSpPr/>
          <p:nvPr/>
        </p:nvSpPr>
        <p:spPr>
          <a:xfrm rot="-2700000">
            <a:off x="7333482" y="4195378"/>
            <a:ext cx="350690" cy="346969"/>
          </a:xfrm>
          <a:custGeom>
            <a:avLst/>
            <a:gdLst/>
            <a:ahLst/>
            <a:cxnLst/>
            <a:rect l="l" t="t" r="r" b="b"/>
            <a:pathLst>
              <a:path w="350690" h="346969">
                <a:moveTo>
                  <a:pt x="0" y="0"/>
                </a:moveTo>
                <a:moveTo>
                  <a:pt x="0" y="0"/>
                </a:moveTo>
                <a:lnTo>
                  <a:pt x="0" y="346969"/>
                </a:lnTo>
                <a:lnTo>
                  <a:pt x="350690" y="346969"/>
                </a:lnTo>
                <a:close/>
              </a:path>
            </a:pathLst>
          </a:custGeom>
          <a:solidFill>
            <a:srgbClr val="328CB2"/>
          </a:solidFill>
        </p:spPr>
      </p:sp>
      <p:sp>
        <p:nvSpPr>
          <p:cNvPr id="4" name="Shape 2"/>
          <p:cNvSpPr/>
          <p:nvPr/>
        </p:nvSpPr>
        <p:spPr>
          <a:xfrm>
            <a:off x="6171872" y="1555689"/>
            <a:ext cx="2673911" cy="2923311"/>
          </a:xfrm>
          <a:custGeom>
            <a:avLst/>
            <a:gdLst/>
            <a:ahLst/>
            <a:cxnLst/>
            <a:rect l="l" t="t" r="r" b="b"/>
            <a:pathLst>
              <a:path w="2673911" h="2923311">
                <a:moveTo>
                  <a:pt x="334239" y="0"/>
                </a:moveTo>
                <a:moveTo>
                  <a:pt x="334239" y="0"/>
                </a:moveTo>
                <a:lnTo>
                  <a:pt x="2339672" y="0"/>
                </a:lnTo>
                <a:quadBezTo>
                  <a:pt x="2673911" y="0"/>
                  <a:pt x="2673911" y="311807"/>
                </a:quadBezTo>
                <a:lnTo>
                  <a:pt x="2673911" y="2611504"/>
                </a:lnTo>
                <a:quadBezTo>
                  <a:pt x="2673911" y="2923311"/>
                  <a:pt x="2339672" y="2923311"/>
                </a:quadBezTo>
                <a:lnTo>
                  <a:pt x="334239" y="2923311"/>
                </a:lnTo>
                <a:quadBezTo>
                  <a:pt x="0" y="2923311"/>
                  <a:pt x="0" y="2611504"/>
                </a:quadBezTo>
                <a:lnTo>
                  <a:pt x="0" y="311807"/>
                </a:lnTo>
                <a:quadBezTo>
                  <a:pt x="0" y="0"/>
                  <a:pt x="334239" y="0"/>
                </a:quadBezTo>
                <a:close/>
              </a:path>
            </a:pathLst>
          </a:custGeom>
          <a:solidFill>
            <a:srgbClr val="328CB2"/>
          </a:solidFill>
        </p:spPr>
      </p:sp>
      <p:sp>
        <p:nvSpPr>
          <p:cNvPr id="5" name="Shape 3"/>
          <p:cNvSpPr/>
          <p:nvPr/>
        </p:nvSpPr>
        <p:spPr>
          <a:xfrm>
            <a:off x="3235044" y="1543220"/>
            <a:ext cx="2673911" cy="2923311"/>
          </a:xfrm>
          <a:custGeom>
            <a:avLst/>
            <a:gdLst/>
            <a:ahLst/>
            <a:cxnLst/>
            <a:rect l="l" t="t" r="r" b="b"/>
            <a:pathLst>
              <a:path w="2673911" h="2923311">
                <a:moveTo>
                  <a:pt x="334239" y="0"/>
                </a:moveTo>
                <a:moveTo>
                  <a:pt x="334239" y="0"/>
                </a:moveTo>
                <a:lnTo>
                  <a:pt x="2339672" y="0"/>
                </a:lnTo>
                <a:quadBezTo>
                  <a:pt x="2673911" y="0"/>
                  <a:pt x="2673911" y="311807"/>
                </a:quadBezTo>
                <a:lnTo>
                  <a:pt x="2673911" y="2611504"/>
                </a:lnTo>
                <a:quadBezTo>
                  <a:pt x="2673911" y="2923311"/>
                  <a:pt x="2339672" y="2923311"/>
                </a:quadBezTo>
                <a:lnTo>
                  <a:pt x="334239" y="2923311"/>
                </a:lnTo>
                <a:quadBezTo>
                  <a:pt x="0" y="2923311"/>
                  <a:pt x="0" y="2611504"/>
                </a:quadBezTo>
                <a:lnTo>
                  <a:pt x="0" y="311807"/>
                </a:lnTo>
                <a:quadBezTo>
                  <a:pt x="0" y="0"/>
                  <a:pt x="334239" y="0"/>
                </a:quadBezTo>
                <a:close/>
              </a:path>
            </a:pathLst>
          </a:custGeom>
          <a:solidFill>
            <a:srgbClr val="69BBE3"/>
          </a:solidFill>
        </p:spPr>
      </p:sp>
      <p:sp>
        <p:nvSpPr>
          <p:cNvPr id="6" name="Shape 4"/>
          <p:cNvSpPr/>
          <p:nvPr/>
        </p:nvSpPr>
        <p:spPr>
          <a:xfrm rot="-2700000">
            <a:off x="4396655" y="4195378"/>
            <a:ext cx="350690" cy="346969"/>
          </a:xfrm>
          <a:custGeom>
            <a:avLst/>
            <a:gdLst/>
            <a:ahLst/>
            <a:cxnLst/>
            <a:rect l="l" t="t" r="r" b="b"/>
            <a:pathLst>
              <a:path w="350690" h="346969">
                <a:moveTo>
                  <a:pt x="0" y="0"/>
                </a:moveTo>
                <a:moveTo>
                  <a:pt x="0" y="0"/>
                </a:moveTo>
                <a:lnTo>
                  <a:pt x="0" y="346969"/>
                </a:lnTo>
                <a:lnTo>
                  <a:pt x="350690" y="346969"/>
                </a:lnTo>
                <a:close/>
              </a:path>
            </a:pathLst>
          </a:custGeom>
          <a:solidFill>
            <a:srgbClr val="69BBE3"/>
          </a:solidFill>
        </p:spPr>
      </p:sp>
      <p:sp>
        <p:nvSpPr>
          <p:cNvPr id="7" name="Shape 5"/>
          <p:cNvSpPr/>
          <p:nvPr/>
        </p:nvSpPr>
        <p:spPr>
          <a:xfrm>
            <a:off x="298217" y="1555689"/>
            <a:ext cx="2673911" cy="2923311"/>
          </a:xfrm>
          <a:custGeom>
            <a:avLst/>
            <a:gdLst/>
            <a:ahLst/>
            <a:cxnLst/>
            <a:rect l="l" t="t" r="r" b="b"/>
            <a:pathLst>
              <a:path w="2673911" h="2923311">
                <a:moveTo>
                  <a:pt x="334239" y="0"/>
                </a:moveTo>
                <a:moveTo>
                  <a:pt x="334239" y="0"/>
                </a:moveTo>
                <a:lnTo>
                  <a:pt x="2339672" y="0"/>
                </a:lnTo>
                <a:quadBezTo>
                  <a:pt x="2673911" y="0"/>
                  <a:pt x="2673911" y="311807"/>
                </a:quadBezTo>
                <a:lnTo>
                  <a:pt x="2673911" y="2611504"/>
                </a:lnTo>
                <a:quadBezTo>
                  <a:pt x="2673911" y="2923311"/>
                  <a:pt x="2339672" y="2923311"/>
                </a:quadBezTo>
                <a:lnTo>
                  <a:pt x="334239" y="2923311"/>
                </a:lnTo>
                <a:quadBezTo>
                  <a:pt x="0" y="2923311"/>
                  <a:pt x="0" y="2611504"/>
                </a:quadBezTo>
                <a:lnTo>
                  <a:pt x="0" y="311807"/>
                </a:lnTo>
                <a:quadBezTo>
                  <a:pt x="0" y="0"/>
                  <a:pt x="334239" y="0"/>
                </a:quadBezTo>
                <a:close/>
              </a:path>
            </a:pathLst>
          </a:custGeom>
          <a:solidFill>
            <a:srgbClr val="328CB2"/>
          </a:solidFill>
        </p:spPr>
      </p:sp>
      <p:sp>
        <p:nvSpPr>
          <p:cNvPr id="8" name="Shape 6"/>
          <p:cNvSpPr/>
          <p:nvPr/>
        </p:nvSpPr>
        <p:spPr>
          <a:xfrm rot="-2700000">
            <a:off x="1459828" y="4195378"/>
            <a:ext cx="350690" cy="346969"/>
          </a:xfrm>
          <a:custGeom>
            <a:avLst/>
            <a:gdLst/>
            <a:ahLst/>
            <a:cxnLst/>
            <a:rect l="l" t="t" r="r" b="b"/>
            <a:pathLst>
              <a:path w="350690" h="346969">
                <a:moveTo>
                  <a:pt x="0" y="0"/>
                </a:moveTo>
                <a:moveTo>
                  <a:pt x="0" y="0"/>
                </a:moveTo>
                <a:lnTo>
                  <a:pt x="0" y="346969"/>
                </a:lnTo>
                <a:lnTo>
                  <a:pt x="350690" y="346969"/>
                </a:lnTo>
                <a:close/>
              </a:path>
            </a:pathLst>
          </a:custGeom>
          <a:solidFill>
            <a:srgbClr val="328CB2"/>
          </a:solidFill>
        </p:spPr>
      </p:sp>
      <p:sp>
        <p:nvSpPr>
          <p:cNvPr id="9" name="Text 7"/>
          <p:cNvSpPr/>
          <p:nvPr/>
        </p:nvSpPr>
        <p:spPr>
          <a:xfrm>
            <a:off x="387944" y="2258344"/>
            <a:ext cx="2494458" cy="525370"/>
          </a:xfrm>
          <a:prstGeom prst="rect">
            <a:avLst/>
          </a:prstGeom>
          <a:noFill/>
        </p:spPr>
        <p:txBody>
          <a:bodyPr wrap="square" lIns="95250" tIns="95250" rIns="95250" bIns="95250" rtlCol="0" anchor="t"/>
          <a:lstStyle/>
          <a:p>
            <a:pPr marL="0" indent="0" algn="ctr">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Spring Boot的核心特性</a:t>
            </a:r>
            <a:endParaRPr lang="en-US" sz="1440" dirty="0"/>
          </a:p>
        </p:txBody>
      </p:sp>
      <p:pic>
        <p:nvPicPr>
          <p:cNvPr id="10" name="Image 0" descr="https://sgw-dx.xf-yun.com/api/v1/sparkdesk/_17468668635703aa3fac36f2a4f18b0c3ab4fc30575a2.jpg?authorization=c2ltcGxlLWp3dCBhaz1zcGFya2Rlc2s4MDAwMDAwMDAwMDE7ZXhwPTMzMjM2NjY4NjM7YWxnbz1obWFjLXNoYTI1NjtzaWc9NnpWTmdmNzlLU3IwNzhwTldKays2aFRyZUdWQW90S0NzRW9rRER2Mkxnbz0=&amp;x_location=7YfmxI7B7uKO7jlRxIftd6UpfPD="/>
          <p:cNvPicPr>
            <a:picLocks noChangeAspect="1"/>
          </p:cNvPicPr>
          <p:nvPr/>
        </p:nvPicPr>
        <p:blipFill>
          <a:blip r:embed="rId2"/>
          <a:srcRect/>
          <a:stretch>
            <a:fillRect/>
          </a:stretch>
        </p:blipFill>
        <p:spPr>
          <a:xfrm>
            <a:off x="1037155" y="932342"/>
            <a:ext cx="1196035" cy="1196035"/>
          </a:xfrm>
          <a:prstGeom prst="ellipse">
            <a:avLst/>
          </a:prstGeom>
        </p:spPr>
      </p:pic>
      <p:sp>
        <p:nvSpPr>
          <p:cNvPr id="11" name="Text 8"/>
          <p:cNvSpPr/>
          <p:nvPr/>
        </p:nvSpPr>
        <p:spPr>
          <a:xfrm>
            <a:off x="387944" y="2796881"/>
            <a:ext cx="2494458"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PingFang SC" pitchFamily="34" charset="0"/>
                <a:ea typeface="PingFang SC" pitchFamily="34" charset="-122"/>
                <a:cs typeface="PingFang SC" pitchFamily="34" charset="-120"/>
              </a:rPr>
              <a:t>Spring Boot通过提供默认配置和内置容器，如Tomcat，简化了Spring应用的初始搭建和开发过程，使开发者能够专注于业务逻辑而非繁琐的配置。</a:t>
            </a:r>
            <a:endParaRPr lang="en-US" sz="1440" dirty="0"/>
          </a:p>
        </p:txBody>
      </p:sp>
      <p:sp>
        <p:nvSpPr>
          <p:cNvPr id="12" name="Text 9"/>
          <p:cNvSpPr/>
          <p:nvPr/>
        </p:nvSpPr>
        <p:spPr>
          <a:xfrm>
            <a:off x="3324771" y="2258344"/>
            <a:ext cx="2494458" cy="525370"/>
          </a:xfrm>
          <a:prstGeom prst="rect">
            <a:avLst/>
          </a:prstGeom>
          <a:noFill/>
        </p:spPr>
        <p:txBody>
          <a:bodyPr wrap="square" lIns="95250" tIns="95250" rIns="95250" bIns="95250" rtlCol="0" anchor="t"/>
          <a:lstStyle/>
          <a:p>
            <a:pPr marL="0" indent="0" algn="ctr">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快速集成与自动配置</a:t>
            </a:r>
            <a:endParaRPr lang="en-US" sz="1440" dirty="0"/>
          </a:p>
        </p:txBody>
      </p:sp>
      <p:pic>
        <p:nvPicPr>
          <p:cNvPr id="13" name="Image 1" descr="https://sgw-dx.xf-yun.com/api/v1/sparkdesk/_1746866866860bc80532695664707b6db59ea2c1c5ad8.jpg?authorization=c2ltcGxlLWp3dCBhaz1zcGFya2Rlc2s4MDAwMDAwMDAwMDE7ZXhwPTMzMjM2NjY4NjY7YWxnbz1obWFjLXNoYTI1NjtzaWc9bTA5NVpYbGpoM1R4RVphQ056RnZmWC9BUEtERHkvd1gvOVpaTW1Kb3NPMD0=&amp;x_location=7YfmxI7B7uKO7jlRxIftd6UpfPD="/>
          <p:cNvPicPr>
            <a:picLocks noChangeAspect="1"/>
          </p:cNvPicPr>
          <p:nvPr/>
        </p:nvPicPr>
        <p:blipFill>
          <a:blip r:embed="rId3"/>
          <a:srcRect/>
          <a:stretch>
            <a:fillRect/>
          </a:stretch>
        </p:blipFill>
        <p:spPr>
          <a:xfrm>
            <a:off x="3973982" y="932342"/>
            <a:ext cx="1196035" cy="1196035"/>
          </a:xfrm>
          <a:prstGeom prst="ellipse">
            <a:avLst/>
          </a:prstGeom>
        </p:spPr>
      </p:pic>
      <p:sp>
        <p:nvSpPr>
          <p:cNvPr id="14" name="Text 10"/>
          <p:cNvSpPr/>
          <p:nvPr/>
        </p:nvSpPr>
        <p:spPr>
          <a:xfrm>
            <a:off x="3324771" y="2796881"/>
            <a:ext cx="2494458"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PingFang SC" pitchFamily="34" charset="0"/>
                <a:ea typeface="PingFang SC" pitchFamily="34" charset="-122"/>
                <a:cs typeface="PingFang SC" pitchFamily="34" charset="-120"/>
              </a:rPr>
              <a:t>Spring Boot提供了多种Starter，方便开发者快速集成各种功能，如数据库访问、消息传递等，其自动配置特性让应用部署变得简单快捷。</a:t>
            </a:r>
            <a:endParaRPr lang="en-US" sz="1440" dirty="0"/>
          </a:p>
        </p:txBody>
      </p:sp>
      <p:sp>
        <p:nvSpPr>
          <p:cNvPr id="15" name="Text 11"/>
          <p:cNvSpPr/>
          <p:nvPr/>
        </p:nvSpPr>
        <p:spPr>
          <a:xfrm>
            <a:off x="6261598" y="2258344"/>
            <a:ext cx="2494458" cy="525370"/>
          </a:xfrm>
          <a:prstGeom prst="rect">
            <a:avLst/>
          </a:prstGeom>
          <a:noFill/>
        </p:spPr>
        <p:txBody>
          <a:bodyPr wrap="square" lIns="95250" tIns="95250" rIns="95250" bIns="95250" rtlCol="0" anchor="t"/>
          <a:lstStyle/>
          <a:p>
            <a:pPr marL="0" indent="0" algn="ctr">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微服务架构的理想选择</a:t>
            </a:r>
            <a:endParaRPr lang="en-US" sz="1440" dirty="0"/>
          </a:p>
        </p:txBody>
      </p:sp>
      <p:pic>
        <p:nvPicPr>
          <p:cNvPr id="16" name="Image 2" descr="https://sgw-dx.xf-yun.com/api/v1/sparkdesk/_17468668700793c11fc26ec2546439a00157717297e9b.jpg?authorization=c2ltcGxlLWp3dCBhaz1zcGFya2Rlc2s4MDAwMDAwMDAwMDE7ZXhwPTMzMjM2NjY4NzA7YWxnbz1obWFjLXNoYTI1NjtzaWc9LzJnMU9XSG1ZRHZDVnhTY3BSQzNxS2xPUGlWaVBxelhweUxFTWNUSlFMWT0=&amp;x_location=7YfmxI7B7uKO7jlRxIftd6UpfPD="/>
          <p:cNvPicPr>
            <a:picLocks noChangeAspect="1"/>
          </p:cNvPicPr>
          <p:nvPr/>
        </p:nvPicPr>
        <p:blipFill>
          <a:blip r:embed="rId4"/>
          <a:srcRect/>
          <a:stretch>
            <a:fillRect/>
          </a:stretch>
        </p:blipFill>
        <p:spPr>
          <a:xfrm>
            <a:off x="6910810" y="932342"/>
            <a:ext cx="1196035" cy="1196035"/>
          </a:xfrm>
          <a:prstGeom prst="ellipse">
            <a:avLst/>
          </a:prstGeom>
        </p:spPr>
      </p:pic>
      <p:sp>
        <p:nvSpPr>
          <p:cNvPr id="17" name="Text 12"/>
          <p:cNvSpPr/>
          <p:nvPr/>
        </p:nvSpPr>
        <p:spPr>
          <a:xfrm>
            <a:off x="6261598" y="2796881"/>
            <a:ext cx="2494458"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PingFang SC" pitchFamily="34" charset="0"/>
                <a:ea typeface="PingFang SC" pitchFamily="34" charset="-122"/>
                <a:cs typeface="PingFang SC" pitchFamily="34" charset="-120"/>
              </a:rPr>
              <a:t>Spring Boot非常适合微服务架构的开发，它简化了服务的创建和管理，使得构建可扩展、高效的分布式系统变得更加容易。</a:t>
            </a:r>
            <a:endParaRPr lang="en-US" sz="14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uni-app前端框架</a:t>
            </a:r>
            <a:endParaRPr lang="en-US" sz="1440" dirty="0"/>
          </a:p>
        </p:txBody>
      </p:sp>
      <p:sp>
        <p:nvSpPr>
          <p:cNvPr id="3" name="Shape 1"/>
          <p:cNvSpPr/>
          <p:nvPr/>
        </p:nvSpPr>
        <p:spPr>
          <a:xfrm>
            <a:off x="1575236" y="1315640"/>
            <a:ext cx="7243956" cy="3189636"/>
          </a:xfrm>
          <a:custGeom>
            <a:avLst/>
            <a:gdLst/>
            <a:ahLst/>
            <a:cxnLst/>
            <a:rect l="l" t="t" r="r" b="b"/>
            <a:pathLst>
              <a:path w="7243956" h="3189636">
                <a:moveTo>
                  <a:pt x="398705" y="0"/>
                </a:moveTo>
                <a:moveTo>
                  <a:pt x="398705" y="0"/>
                </a:moveTo>
                <a:lnTo>
                  <a:pt x="6845251" y="0"/>
                </a:lnTo>
                <a:quadBezTo>
                  <a:pt x="7243956" y="0"/>
                  <a:pt x="7243956" y="398705"/>
                </a:quadBezTo>
                <a:lnTo>
                  <a:pt x="7243956" y="2790932"/>
                </a:lnTo>
                <a:quadBezTo>
                  <a:pt x="7243956" y="3189636"/>
                  <a:pt x="6845251" y="3189636"/>
                </a:quadBezTo>
                <a:lnTo>
                  <a:pt x="398705" y="3189636"/>
                </a:lnTo>
                <a:quadBezTo>
                  <a:pt x="0" y="3189636"/>
                  <a:pt x="0" y="2790932"/>
                </a:quadBezTo>
                <a:lnTo>
                  <a:pt x="0" y="398705"/>
                </a:lnTo>
                <a:quadBezTo>
                  <a:pt x="0" y="0"/>
                  <a:pt x="398705" y="0"/>
                </a:quadBezTo>
                <a:close/>
              </a:path>
            </a:pathLst>
          </a:custGeom>
          <a:solidFill>
            <a:srgbClr val="328CB2">
              <a:alpha val="0"/>
            </a:srgbClr>
          </a:solidFill>
          <a:ln w="95250">
            <a:solidFill>
              <a:srgbClr val="328CB2">
                <a:alpha val="12157"/>
              </a:srgbClr>
            </a:solidFill>
            <a:prstDash val="solid"/>
          </a:ln>
        </p:spPr>
      </p:sp>
      <p:sp>
        <p:nvSpPr>
          <p:cNvPr id="4" name="Shape 2"/>
          <p:cNvSpPr/>
          <p:nvPr/>
        </p:nvSpPr>
        <p:spPr>
          <a:xfrm>
            <a:off x="246513" y="1093905"/>
            <a:ext cx="2152158" cy="3583954"/>
          </a:xfrm>
          <a:custGeom>
            <a:avLst/>
            <a:gdLst/>
            <a:ahLst/>
            <a:cxnLst/>
            <a:rect l="l" t="t" r="r" b="b"/>
            <a:pathLst>
              <a:path w="2152158" h="3583954">
                <a:moveTo>
                  <a:pt x="98930" y="0"/>
                </a:moveTo>
                <a:moveTo>
                  <a:pt x="98930" y="0"/>
                </a:moveTo>
                <a:lnTo>
                  <a:pt x="2053228" y="0"/>
                </a:lnTo>
                <a:quadBezTo>
                  <a:pt x="2152158" y="0"/>
                  <a:pt x="2152158" y="98930"/>
                </a:quadBezTo>
                <a:lnTo>
                  <a:pt x="2152158" y="3485024"/>
                </a:lnTo>
                <a:quadBezTo>
                  <a:pt x="2152158" y="3583954"/>
                  <a:pt x="2053228" y="3583954"/>
                </a:quadBezTo>
                <a:lnTo>
                  <a:pt x="98930" y="3583954"/>
                </a:lnTo>
                <a:quadBezTo>
                  <a:pt x="0" y="3583954"/>
                  <a:pt x="0" y="3485024"/>
                </a:quadBezTo>
                <a:lnTo>
                  <a:pt x="0" y="98930"/>
                </a:lnTo>
                <a:quadBezTo>
                  <a:pt x="0" y="0"/>
                  <a:pt x="98930" y="0"/>
                </a:quadBezTo>
                <a:close/>
              </a:path>
            </a:pathLst>
          </a:custGeom>
          <a:solidFill>
            <a:srgbClr val="328CB2"/>
          </a:solidFill>
        </p:spPr>
      </p:sp>
      <p:pic>
        <p:nvPicPr>
          <p:cNvPr id="5" name="Image 0" descr="preencoded.png"/>
          <p:cNvPicPr>
            <a:picLocks noChangeAspect="1"/>
          </p:cNvPicPr>
          <p:nvPr/>
        </p:nvPicPr>
        <p:blipFill>
          <a:blip r:embed="rId2"/>
          <a:stretch>
            <a:fillRect/>
          </a:stretch>
        </p:blipFill>
        <p:spPr>
          <a:xfrm>
            <a:off x="2847067" y="2040271"/>
            <a:ext cx="1714500" cy="457200"/>
          </a:xfrm>
          <a:prstGeom prst="rect">
            <a:avLst/>
          </a:prstGeom>
        </p:spPr>
      </p:pic>
      <p:pic>
        <p:nvPicPr>
          <p:cNvPr id="6" name="Image 1" descr="preencoded.png"/>
          <p:cNvPicPr>
            <a:picLocks noChangeAspect="1"/>
          </p:cNvPicPr>
          <p:nvPr/>
        </p:nvPicPr>
        <p:blipFill>
          <a:blip r:embed="rId2"/>
          <a:stretch>
            <a:fillRect/>
          </a:stretch>
        </p:blipFill>
        <p:spPr>
          <a:xfrm>
            <a:off x="4773543" y="2040271"/>
            <a:ext cx="1714500" cy="457200"/>
          </a:xfrm>
          <a:prstGeom prst="rect">
            <a:avLst/>
          </a:prstGeom>
        </p:spPr>
      </p:pic>
      <p:pic>
        <p:nvPicPr>
          <p:cNvPr id="7" name="Image 2" descr="preencoded.png"/>
          <p:cNvPicPr>
            <a:picLocks noChangeAspect="1"/>
          </p:cNvPicPr>
          <p:nvPr/>
        </p:nvPicPr>
        <p:blipFill>
          <a:blip r:embed="rId2"/>
          <a:stretch>
            <a:fillRect/>
          </a:stretch>
        </p:blipFill>
        <p:spPr>
          <a:xfrm>
            <a:off x="6700019" y="2040271"/>
            <a:ext cx="1714500" cy="457200"/>
          </a:xfrm>
          <a:prstGeom prst="rect">
            <a:avLst/>
          </a:prstGeom>
        </p:spPr>
      </p:pic>
      <p:sp>
        <p:nvSpPr>
          <p:cNvPr id="8" name="Text 3"/>
          <p:cNvSpPr/>
          <p:nvPr/>
        </p:nvSpPr>
        <p:spPr>
          <a:xfrm>
            <a:off x="2847067" y="1628791"/>
            <a:ext cx="1926476" cy="374904"/>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跨平台开发利器</a:t>
            </a:r>
            <a:endParaRPr lang="en-US" sz="1440" dirty="0"/>
          </a:p>
        </p:txBody>
      </p:sp>
      <p:pic>
        <p:nvPicPr>
          <p:cNvPr id="9" name="Image 3" descr="https://sgw-dx.xf-yun.com/api/v1/sparkdesk/_17468668827523d79a740d35044528ed7ee17b94ebb9d.jpg?authorization=c2ltcGxlLWp3dCBhaz1zcGFya2Rlc2s4MDAwMDAwMDAwMDE7ZXhwPTMzMjM2NjY4ODI7YWxnbz1obWFjLXNoYTI1NjtzaWc9Q0U2bVZhd2Z6VWp2RmI1YXFIZlRqazZ2VlFVa3N1TzZIU0oyZGljdWlncz0=&amp;x_location=7YfmxI7B7uKO7jlRxIftd6UpfPD="/>
          <p:cNvPicPr>
            <a:picLocks noChangeAspect="1"/>
          </p:cNvPicPr>
          <p:nvPr/>
        </p:nvPicPr>
        <p:blipFill>
          <a:blip r:embed="rId3"/>
          <a:srcRect l="20000" r="20000"/>
          <a:stretch>
            <a:fillRect/>
          </a:stretch>
        </p:blipFill>
        <p:spPr>
          <a:xfrm>
            <a:off x="402359" y="970369"/>
            <a:ext cx="2152180" cy="3583848"/>
          </a:xfrm>
          <a:prstGeom prst="rect">
            <a:avLst/>
          </a:prstGeom>
        </p:spPr>
      </p:pic>
      <p:sp>
        <p:nvSpPr>
          <p:cNvPr id="10" name="Text 4"/>
          <p:cNvSpPr/>
          <p:nvPr/>
        </p:nvSpPr>
        <p:spPr>
          <a:xfrm>
            <a:off x="2847067" y="2333760"/>
            <a:ext cx="1645920" cy="128016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uni-app基于Vue.js，一次编码多端适配，覆盖iOS、Android等主流平台，极大简化了前端开发的复杂性，提升开发效率。</a:t>
            </a:r>
            <a:endParaRPr lang="en-US" sz="1440" dirty="0"/>
          </a:p>
        </p:txBody>
      </p:sp>
      <p:sp>
        <p:nvSpPr>
          <p:cNvPr id="11" name="Text 5"/>
          <p:cNvSpPr/>
          <p:nvPr/>
        </p:nvSpPr>
        <p:spPr>
          <a:xfrm>
            <a:off x="4773543" y="1628791"/>
            <a:ext cx="1926476" cy="347472"/>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丰富的组件与API</a:t>
            </a:r>
            <a:endParaRPr lang="en-US" sz="1440" dirty="0"/>
          </a:p>
        </p:txBody>
      </p:sp>
      <p:sp>
        <p:nvSpPr>
          <p:cNvPr id="12" name="Text 6"/>
          <p:cNvSpPr/>
          <p:nvPr/>
        </p:nvSpPr>
        <p:spPr>
          <a:xfrm>
            <a:off x="4773543" y="2333760"/>
            <a:ext cx="1645920" cy="128016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uni-app提供多样化的组件和全面的API接口，支持条件编译，让开发者能够轻松应对不同平台间的兼容性问题，加速项目开发进程。</a:t>
            </a:r>
            <a:endParaRPr lang="en-US" sz="1440" dirty="0"/>
          </a:p>
        </p:txBody>
      </p:sp>
      <p:sp>
        <p:nvSpPr>
          <p:cNvPr id="13" name="Text 7"/>
          <p:cNvSpPr/>
          <p:nvPr/>
        </p:nvSpPr>
        <p:spPr>
          <a:xfrm>
            <a:off x="6700019" y="1628791"/>
            <a:ext cx="1934824" cy="347472"/>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一体化开发体验</a:t>
            </a:r>
            <a:endParaRPr lang="en-US" sz="1440" dirty="0"/>
          </a:p>
        </p:txBody>
      </p:sp>
      <p:sp>
        <p:nvSpPr>
          <p:cNvPr id="14" name="Text 8"/>
          <p:cNvSpPr/>
          <p:nvPr/>
        </p:nvSpPr>
        <p:spPr>
          <a:xfrm>
            <a:off x="6700019" y="2333760"/>
            <a:ext cx="1645920" cy="128016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借助HBuilderX工具，uni-app实现了代码提示、调试到打包的全流程开发支持，为开发者提供了高效便捷的一体化开发环境。</a:t>
            </a:r>
            <a:endParaRPr lang="en-US" sz="14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Hbuilderx开发工具</a:t>
            </a:r>
            <a:endParaRPr lang="en-US" sz="1440" dirty="0"/>
          </a:p>
        </p:txBody>
      </p:sp>
      <p:pic>
        <p:nvPicPr>
          <p:cNvPr id="3" name="Image 0" descr="preencoded.png"/>
          <p:cNvPicPr>
            <a:picLocks noChangeAspect="1"/>
          </p:cNvPicPr>
          <p:nvPr/>
        </p:nvPicPr>
        <p:blipFill>
          <a:blip r:embed="rId2"/>
          <a:stretch>
            <a:fillRect/>
          </a:stretch>
        </p:blipFill>
        <p:spPr>
          <a:xfrm>
            <a:off x="5997313" y="1177268"/>
            <a:ext cx="2638108" cy="3342596"/>
          </a:xfrm>
          <a:prstGeom prst="rect">
            <a:avLst/>
          </a:prstGeom>
        </p:spPr>
      </p:pic>
      <p:pic>
        <p:nvPicPr>
          <p:cNvPr id="4" name="Image 1" descr="preencoded.png"/>
          <p:cNvPicPr>
            <a:picLocks noChangeAspect="1"/>
          </p:cNvPicPr>
          <p:nvPr/>
        </p:nvPicPr>
        <p:blipFill>
          <a:blip r:embed="rId3"/>
          <a:stretch>
            <a:fillRect/>
          </a:stretch>
        </p:blipFill>
        <p:spPr>
          <a:xfrm flipH="1">
            <a:off x="508580" y="1177268"/>
            <a:ext cx="2610676" cy="3342596"/>
          </a:xfrm>
          <a:prstGeom prst="rect">
            <a:avLst/>
          </a:prstGeom>
        </p:spPr>
      </p:pic>
      <p:sp>
        <p:nvSpPr>
          <p:cNvPr id="5" name="Shape 1"/>
          <p:cNvSpPr/>
          <p:nvPr/>
        </p:nvSpPr>
        <p:spPr>
          <a:xfrm>
            <a:off x="2996572" y="1137421"/>
            <a:ext cx="3123424" cy="3422290"/>
          </a:xfrm>
          <a:custGeom>
            <a:avLst/>
            <a:gdLst/>
            <a:ahLst/>
            <a:cxnLst/>
            <a:rect l="l" t="t" r="r" b="b"/>
            <a:pathLst>
              <a:path w="3123424" h="3422290">
                <a:moveTo>
                  <a:pt x="0" y="0"/>
                </a:moveTo>
                <a:moveTo>
                  <a:pt x="0" y="0"/>
                </a:moveTo>
                <a:lnTo>
                  <a:pt x="3123424" y="0"/>
                </a:lnTo>
                <a:lnTo>
                  <a:pt x="3123424" y="3422290"/>
                </a:lnTo>
                <a:lnTo>
                  <a:pt x="0" y="3422290"/>
                </a:lnTo>
                <a:close/>
              </a:path>
            </a:pathLst>
          </a:custGeom>
          <a:solidFill>
            <a:srgbClr val="328CB2"/>
          </a:solidFill>
        </p:spPr>
      </p:sp>
      <p:sp>
        <p:nvSpPr>
          <p:cNvPr id="6" name="Text 2"/>
          <p:cNvSpPr/>
          <p:nvPr/>
        </p:nvSpPr>
        <p:spPr>
          <a:xfrm>
            <a:off x="673172" y="2586947"/>
            <a:ext cx="2176841" cy="374904"/>
          </a:xfrm>
          <a:prstGeom prst="rect">
            <a:avLst/>
          </a:prstGeom>
          <a:noFill/>
        </p:spPr>
        <p:txBody>
          <a:bodyPr wrap="square" lIns="95250" tIns="95250" rIns="95250" bIns="95250" rtlCol="0" anchor="ctr"/>
          <a:lstStyle/>
          <a:p>
            <a:pPr marL="0" indent="0" algn="r">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Hbuilderx的多平台支持</a:t>
            </a:r>
            <a:endParaRPr lang="en-US" sz="1440" dirty="0"/>
          </a:p>
        </p:txBody>
      </p:sp>
      <p:pic>
        <p:nvPicPr>
          <p:cNvPr id="7" name="Image 2" descr="https://sgw-dx.xf-yun.com/api/v1/sparkdesk/_1746866888765f33f6b583d214adaa6bcbde467ea5609.jpg?authorization=c2ltcGxlLWp3dCBhaz1zcGFya2Rlc2s4MDAwMDAwMDAwMDE7ZXhwPTMzMjM2NjY4ODg7YWxnbz1obWFjLXNoYTI1NjtzaWc9cXJDN0J4TDEybEhJRENMbDN5NE4zTFRCN3FCc1lTSXpQaGZuRjVkTm5Scz0=&amp;x_location=7YfmxI7B7uKO7jlRxIftd6UpfPD="/>
          <p:cNvPicPr>
            <a:picLocks noChangeAspect="1"/>
          </p:cNvPicPr>
          <p:nvPr/>
        </p:nvPicPr>
        <p:blipFill>
          <a:blip r:embed="rId4"/>
          <a:srcRect/>
          <a:stretch>
            <a:fillRect/>
          </a:stretch>
        </p:blipFill>
        <p:spPr>
          <a:xfrm>
            <a:off x="1419939" y="1658528"/>
            <a:ext cx="800404" cy="800404"/>
          </a:xfrm>
          <a:prstGeom prst="ellipse">
            <a:avLst/>
          </a:prstGeom>
        </p:spPr>
      </p:pic>
      <p:sp>
        <p:nvSpPr>
          <p:cNvPr id="8" name="Text 3"/>
          <p:cNvSpPr/>
          <p:nvPr/>
        </p:nvSpPr>
        <p:spPr>
          <a:xfrm>
            <a:off x="673172" y="2952081"/>
            <a:ext cx="2187878" cy="1024128"/>
          </a:xfrm>
          <a:prstGeom prst="rect">
            <a:avLst/>
          </a:prstGeom>
          <a:noFill/>
        </p:spPr>
        <p:txBody>
          <a:bodyPr wrap="square" lIns="95250" tIns="95250" rIns="95250" bIns="95250" rtlCol="0" anchor="t">
            <a:spAutoFit/>
          </a:bodyPr>
          <a:lstStyle/>
          <a:p>
            <a:pPr marL="0" indent="0" algn="r">
              <a:lnSpc>
                <a:spcPct val="100000"/>
              </a:lnSpc>
              <a:spcBef>
                <a:spcPts val="375"/>
              </a:spcBef>
              <a:buNone/>
            </a:pPr>
            <a:r>
              <a:rPr lang="en-US" sz="1150" dirty="0">
                <a:solidFill>
                  <a:srgbClr val="FFFFFF"/>
                </a:solidFill>
                <a:latin typeface="PingFang SC" pitchFamily="34" charset="0"/>
                <a:ea typeface="PingFang SC" pitchFamily="34" charset="-122"/>
                <a:cs typeface="PingFang SC" pitchFamily="34" charset="-120"/>
              </a:rPr>
              <a:t>Hbuilderx基于uni-app框架，允许开发者编写一次代码后在iOS、Android、H5、鸿蒙及主流小程序平台运行，极大简化了跨平台开发流程。</a:t>
            </a:r>
            <a:endParaRPr lang="en-US" sz="1440" dirty="0"/>
          </a:p>
        </p:txBody>
      </p:sp>
      <p:sp>
        <p:nvSpPr>
          <p:cNvPr id="9" name="Text 4"/>
          <p:cNvSpPr/>
          <p:nvPr/>
        </p:nvSpPr>
        <p:spPr>
          <a:xfrm>
            <a:off x="3277721" y="2473662"/>
            <a:ext cx="2561125"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高效的开发体验</a:t>
            </a:r>
            <a:endParaRPr lang="en-US" sz="1440" dirty="0"/>
          </a:p>
        </p:txBody>
      </p:sp>
      <p:pic>
        <p:nvPicPr>
          <p:cNvPr id="10" name="Image 3" descr="https://sgw-dx.xf-yun.com/api/v1/sparkdesk/_174686689207205b6bfda0a6041d9901a3cd34941a93e.jpg?authorization=c2ltcGxlLWp3dCBhaz1zcGFya2Rlc2s4MDAwMDAwMDAwMDE7ZXhwPTMzMjM2NjY4OTI7YWxnbz1obWFjLXNoYTI1NjtzaWc9WkFoUW43MGhFemk1UEpqdTV1cmhxbzIyWXBkemwwb3cyRUhJbU45TENTUT0=&amp;x_location=7YfmxI7B7uKO7jlRxIftd6UpfPD="/>
          <p:cNvPicPr>
            <a:picLocks noChangeAspect="1"/>
          </p:cNvPicPr>
          <p:nvPr/>
        </p:nvPicPr>
        <p:blipFill>
          <a:blip r:embed="rId5"/>
          <a:srcRect/>
          <a:stretch>
            <a:fillRect/>
          </a:stretch>
        </p:blipFill>
        <p:spPr>
          <a:xfrm>
            <a:off x="4113257" y="1449791"/>
            <a:ext cx="890053" cy="890053"/>
          </a:xfrm>
          <a:prstGeom prst="ellipse">
            <a:avLst/>
          </a:prstGeom>
        </p:spPr>
      </p:pic>
      <p:sp>
        <p:nvSpPr>
          <p:cNvPr id="11" name="Text 5"/>
          <p:cNvSpPr/>
          <p:nvPr/>
        </p:nvSpPr>
        <p:spPr>
          <a:xfrm>
            <a:off x="3205938" y="2952081"/>
            <a:ext cx="2704693" cy="81381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FFFFFF"/>
                </a:solidFill>
                <a:latin typeface="PingFang SC" pitchFamily="34" charset="0"/>
                <a:ea typeface="PingFang SC" pitchFamily="34" charset="-122"/>
                <a:cs typeface="PingFang SC" pitchFamily="34" charset="-120"/>
              </a:rPr>
              <a:t>Hbuilderx提供一体化的开发环境，包括代码提示、调试和打包功能，使前端开发者能够快速上手并提高开发效率。</a:t>
            </a:r>
            <a:endParaRPr lang="en-US" sz="1440" dirty="0"/>
          </a:p>
        </p:txBody>
      </p:sp>
      <p:sp>
        <p:nvSpPr>
          <p:cNvPr id="12" name="Text 6"/>
          <p:cNvSpPr/>
          <p:nvPr/>
        </p:nvSpPr>
        <p:spPr>
          <a:xfrm>
            <a:off x="6290855" y="2644902"/>
            <a:ext cx="2139744"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强大的性能优化</a:t>
            </a:r>
            <a:endParaRPr lang="en-US" sz="1440" dirty="0"/>
          </a:p>
        </p:txBody>
      </p:sp>
      <p:pic>
        <p:nvPicPr>
          <p:cNvPr id="13" name="Image 4" descr="https://sgw-dx.xf-yun.com/api/v1/sparkdesk/_17468668952020a80fce2391945149d8f2f8ea92a165b.jpg?authorization=c2ltcGxlLWp3dCBhaz1zcGFya2Rlc2s4MDAwMDAwMDAwMDE7ZXhwPTMzMjM2NjY4OTU7YWxnbz1obWFjLXNoYTI1NjtzaWc9V1daL0ZSSnl4alIxcE5FTEJodzZveXZreURsVU9GZ2hScG1Wd2dSbFFXST0=&amp;x_location=7YfmxI7B7uKO7jlRxIftd6UpfPD="/>
          <p:cNvPicPr>
            <a:picLocks noChangeAspect="1"/>
          </p:cNvPicPr>
          <p:nvPr/>
        </p:nvPicPr>
        <p:blipFill>
          <a:blip r:embed="rId6"/>
          <a:srcRect/>
          <a:stretch>
            <a:fillRect/>
          </a:stretch>
        </p:blipFill>
        <p:spPr>
          <a:xfrm>
            <a:off x="6941945" y="1658528"/>
            <a:ext cx="800404" cy="800404"/>
          </a:xfrm>
          <a:prstGeom prst="ellipse">
            <a:avLst/>
          </a:prstGeom>
        </p:spPr>
      </p:pic>
      <p:sp>
        <p:nvSpPr>
          <p:cNvPr id="14" name="Text 7"/>
          <p:cNvSpPr/>
          <p:nvPr/>
        </p:nvSpPr>
        <p:spPr>
          <a:xfrm>
            <a:off x="6290855" y="3010036"/>
            <a:ext cx="2139744"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PingFang SC" pitchFamily="34" charset="0"/>
                <a:ea typeface="PingFang SC" pitchFamily="34" charset="-122"/>
                <a:cs typeface="PingFang SC" pitchFamily="34" charset="-120"/>
              </a:rPr>
              <a:t>uni-app框架支持条件编译和原生代码混写，满足不同平台的高性能需求，同时保持代码的可维护性和扩展性。</a:t>
            </a:r>
            <a:endParaRPr lang="en-US" sz="14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023" y="1222687"/>
            <a:ext cx="1882760" cy="179222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8350" b="1" dirty="0">
                <a:solidFill>
                  <a:srgbClr val="FFFFFF">
                    <a:alpha val="40000"/>
                  </a:srgbClr>
                </a:solidFill>
                <a:latin typeface="Arial" panose="020B0604020202020204" pitchFamily="34" charset="0"/>
                <a:ea typeface="Arial" panose="020B0604020202020204" pitchFamily="34" charset="-122"/>
                <a:cs typeface="Arial" panose="020B0604020202020204" pitchFamily="34" charset="-120"/>
              </a:rPr>
              <a:t>03</a:t>
            </a:r>
            <a:endParaRPr lang="en-US" sz="1440" dirty="0"/>
          </a:p>
        </p:txBody>
      </p:sp>
      <p:sp>
        <p:nvSpPr>
          <p:cNvPr id="3" name="Text 1"/>
          <p:cNvSpPr/>
          <p:nvPr/>
        </p:nvSpPr>
        <p:spPr>
          <a:xfrm>
            <a:off x="403023" y="2507428"/>
            <a:ext cx="3807290" cy="74980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需求分析</a:t>
            </a:r>
            <a:endParaRPr lang="en-US" sz="14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功能需求</a:t>
            </a:r>
            <a:endParaRPr lang="en-US" sz="1440" dirty="0"/>
          </a:p>
        </p:txBody>
      </p:sp>
      <p:pic>
        <p:nvPicPr>
          <p:cNvPr id="3" name="Image 0" descr="preencoded.png"/>
          <p:cNvPicPr>
            <a:picLocks noChangeAspect="1"/>
          </p:cNvPicPr>
          <p:nvPr/>
        </p:nvPicPr>
        <p:blipFill>
          <a:blip r:embed="rId2"/>
          <a:stretch>
            <a:fillRect/>
          </a:stretch>
        </p:blipFill>
        <p:spPr>
          <a:xfrm>
            <a:off x="76401" y="1066046"/>
            <a:ext cx="4436520" cy="3771042"/>
          </a:xfrm>
          <a:prstGeom prst="rect">
            <a:avLst/>
          </a:prstGeom>
        </p:spPr>
      </p:pic>
      <p:pic>
        <p:nvPicPr>
          <p:cNvPr id="4" name="Image 1" descr="preencoded.png"/>
          <p:cNvPicPr>
            <a:picLocks noChangeAspect="1"/>
          </p:cNvPicPr>
          <p:nvPr/>
        </p:nvPicPr>
        <p:blipFill>
          <a:blip r:embed="rId3"/>
          <a:stretch>
            <a:fillRect/>
          </a:stretch>
        </p:blipFill>
        <p:spPr>
          <a:xfrm>
            <a:off x="41314" y="982706"/>
            <a:ext cx="4423962" cy="3760368"/>
          </a:xfrm>
          <a:prstGeom prst="rect">
            <a:avLst/>
          </a:prstGeom>
        </p:spPr>
      </p:pic>
      <p:pic>
        <p:nvPicPr>
          <p:cNvPr id="5" name="Image 2" descr="preencoded.png"/>
          <p:cNvPicPr>
            <a:picLocks noChangeAspect="1"/>
          </p:cNvPicPr>
          <p:nvPr/>
        </p:nvPicPr>
        <p:blipFill>
          <a:blip r:embed="rId4"/>
          <a:stretch>
            <a:fillRect/>
          </a:stretch>
        </p:blipFill>
        <p:spPr>
          <a:xfrm>
            <a:off x="2029443" y="1449195"/>
            <a:ext cx="484281" cy="484281"/>
          </a:xfrm>
          <a:prstGeom prst="rect">
            <a:avLst/>
          </a:prstGeom>
        </p:spPr>
      </p:pic>
      <p:pic>
        <p:nvPicPr>
          <p:cNvPr id="6" name="Image 3" descr="preencoded.png"/>
          <p:cNvPicPr>
            <a:picLocks noChangeAspect="1"/>
          </p:cNvPicPr>
          <p:nvPr/>
        </p:nvPicPr>
        <p:blipFill>
          <a:blip r:embed="rId5"/>
          <a:stretch>
            <a:fillRect/>
          </a:stretch>
        </p:blipFill>
        <p:spPr>
          <a:xfrm>
            <a:off x="2094231" y="3672546"/>
            <a:ext cx="363931" cy="363931"/>
          </a:xfrm>
          <a:prstGeom prst="rect">
            <a:avLst/>
          </a:prstGeom>
        </p:spPr>
      </p:pic>
      <p:sp>
        <p:nvSpPr>
          <p:cNvPr id="7" name="Shape 1"/>
          <p:cNvSpPr/>
          <p:nvPr/>
        </p:nvSpPr>
        <p:spPr>
          <a:xfrm>
            <a:off x="2222311" y="1135963"/>
            <a:ext cx="6665542" cy="991529"/>
          </a:xfrm>
          <a:custGeom>
            <a:avLst/>
            <a:gdLst/>
            <a:ahLst/>
            <a:cxnLst/>
            <a:rect l="l" t="t" r="r" b="b"/>
            <a:pathLst>
              <a:path w="6665542" h="991529">
                <a:moveTo>
                  <a:pt x="0" y="0"/>
                </a:moveTo>
                <a:moveTo>
                  <a:pt x="0" y="0"/>
                </a:moveTo>
                <a:lnTo>
                  <a:pt x="6665542" y="0"/>
                </a:lnTo>
                <a:lnTo>
                  <a:pt x="6665542" y="991529"/>
                </a:lnTo>
                <a:lnTo>
                  <a:pt x="0" y="991529"/>
                </a:lnTo>
                <a:close/>
              </a:path>
            </a:pathLst>
          </a:custGeom>
          <a:solidFill>
            <a:srgbClr val="328CB2">
              <a:alpha val="5882"/>
            </a:srgbClr>
          </a:solidFill>
        </p:spPr>
      </p:sp>
      <p:sp>
        <p:nvSpPr>
          <p:cNvPr id="8" name="Shape 2"/>
          <p:cNvSpPr/>
          <p:nvPr/>
        </p:nvSpPr>
        <p:spPr>
          <a:xfrm>
            <a:off x="2495848" y="2241059"/>
            <a:ext cx="6392005" cy="1036265"/>
          </a:xfrm>
          <a:custGeom>
            <a:avLst/>
            <a:gdLst/>
            <a:ahLst/>
            <a:cxnLst/>
            <a:rect l="l" t="t" r="r" b="b"/>
            <a:pathLst>
              <a:path w="6392005" h="1036265">
                <a:moveTo>
                  <a:pt x="0" y="0"/>
                </a:moveTo>
                <a:moveTo>
                  <a:pt x="0" y="0"/>
                </a:moveTo>
                <a:lnTo>
                  <a:pt x="6392005" y="0"/>
                </a:lnTo>
                <a:lnTo>
                  <a:pt x="6392005" y="1036265"/>
                </a:lnTo>
                <a:lnTo>
                  <a:pt x="0" y="1036265"/>
                </a:lnTo>
                <a:close/>
              </a:path>
            </a:pathLst>
          </a:custGeom>
          <a:solidFill>
            <a:srgbClr val="328CB2">
              <a:alpha val="5882"/>
            </a:srgbClr>
          </a:solidFill>
        </p:spPr>
      </p:sp>
      <p:sp>
        <p:nvSpPr>
          <p:cNvPr id="9" name="Shape 3"/>
          <p:cNvSpPr/>
          <p:nvPr/>
        </p:nvSpPr>
        <p:spPr>
          <a:xfrm>
            <a:off x="2495848" y="3450894"/>
            <a:ext cx="6392005" cy="997700"/>
          </a:xfrm>
          <a:custGeom>
            <a:avLst/>
            <a:gdLst/>
            <a:ahLst/>
            <a:cxnLst/>
            <a:rect l="l" t="t" r="r" b="b"/>
            <a:pathLst>
              <a:path w="6392005" h="997700">
                <a:moveTo>
                  <a:pt x="0" y="0"/>
                </a:moveTo>
                <a:moveTo>
                  <a:pt x="0" y="0"/>
                </a:moveTo>
                <a:lnTo>
                  <a:pt x="6392005" y="0"/>
                </a:lnTo>
                <a:lnTo>
                  <a:pt x="6392005" y="997700"/>
                </a:lnTo>
                <a:lnTo>
                  <a:pt x="0" y="997700"/>
                </a:lnTo>
                <a:close/>
              </a:path>
            </a:pathLst>
          </a:custGeom>
          <a:solidFill>
            <a:srgbClr val="328CB2">
              <a:alpha val="5882"/>
            </a:srgbClr>
          </a:solidFill>
        </p:spPr>
      </p:sp>
      <p:pic>
        <p:nvPicPr>
          <p:cNvPr id="10" name="Image 4" descr="preencoded.png"/>
          <p:cNvPicPr>
            <a:picLocks noChangeAspect="1"/>
          </p:cNvPicPr>
          <p:nvPr/>
        </p:nvPicPr>
        <p:blipFill>
          <a:blip r:embed="rId6"/>
          <a:stretch>
            <a:fillRect/>
          </a:stretch>
        </p:blipFill>
        <p:spPr>
          <a:xfrm>
            <a:off x="2091036" y="2544318"/>
            <a:ext cx="352384" cy="352384"/>
          </a:xfrm>
          <a:prstGeom prst="rect">
            <a:avLst/>
          </a:prstGeom>
        </p:spPr>
      </p:pic>
      <p:sp>
        <p:nvSpPr>
          <p:cNvPr id="11" name="Text 4"/>
          <p:cNvSpPr/>
          <p:nvPr/>
        </p:nvSpPr>
        <p:spPr>
          <a:xfrm>
            <a:off x="3070118" y="1457992"/>
            <a:ext cx="2458052" cy="347472"/>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患者信息管理</a:t>
            </a:r>
            <a:endParaRPr lang="en-US" sz="1440" dirty="0"/>
          </a:p>
        </p:txBody>
      </p:sp>
      <p:sp>
        <p:nvSpPr>
          <p:cNvPr id="12" name="Text 5"/>
          <p:cNvSpPr/>
          <p:nvPr/>
        </p:nvSpPr>
        <p:spPr>
          <a:xfrm>
            <a:off x="5528170" y="1199971"/>
            <a:ext cx="3293515" cy="850392"/>
          </a:xfrm>
          <a:prstGeom prst="rect">
            <a:avLst/>
          </a:prstGeom>
          <a:noFill/>
        </p:spPr>
        <p:txBody>
          <a:bodyPr wrap="square" lIns="95250" tIns="95250" rIns="95250" bIns="95250" rtlCol="0" anchor="ctr"/>
          <a:lstStyle/>
          <a:p>
            <a:pPr marL="0" indent="0">
              <a:lnSpc>
                <a:spcPct val="100000"/>
              </a:lnSpc>
              <a:buNone/>
            </a:pPr>
            <a:r>
              <a:rPr lang="en-US" sz="1010" dirty="0">
                <a:solidFill>
                  <a:srgbClr val="333333"/>
                </a:solidFill>
                <a:latin typeface="PingFang SC" pitchFamily="34" charset="0"/>
                <a:ea typeface="PingFang SC" pitchFamily="34" charset="-122"/>
                <a:cs typeface="PingFang SC" pitchFamily="34" charset="-120"/>
              </a:rPr>
              <a:t>系统允许患者注册和登录，管理个人信息和预约记录。患者可以查看自己的历史预约记录，并修改个人信息以确保准确性。</a:t>
            </a:r>
            <a:endParaRPr lang="en-US" sz="1440" dirty="0"/>
          </a:p>
        </p:txBody>
      </p:sp>
      <p:sp>
        <p:nvSpPr>
          <p:cNvPr id="13" name="Text 6"/>
          <p:cNvSpPr/>
          <p:nvPr/>
        </p:nvSpPr>
        <p:spPr>
          <a:xfrm>
            <a:off x="3548007" y="2585455"/>
            <a:ext cx="2435684" cy="347472"/>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预约挂号功能</a:t>
            </a:r>
            <a:endParaRPr lang="en-US" sz="1440" dirty="0"/>
          </a:p>
        </p:txBody>
      </p:sp>
      <p:sp>
        <p:nvSpPr>
          <p:cNvPr id="14" name="Text 7"/>
          <p:cNvSpPr/>
          <p:nvPr/>
        </p:nvSpPr>
        <p:spPr>
          <a:xfrm>
            <a:off x="5983691" y="2311135"/>
            <a:ext cx="2837994" cy="850392"/>
          </a:xfrm>
          <a:prstGeom prst="rect">
            <a:avLst/>
          </a:prstGeom>
          <a:noFill/>
        </p:spPr>
        <p:txBody>
          <a:bodyPr wrap="square" lIns="95250" tIns="95250" rIns="95250" bIns="95250" rtlCol="0" anchor="ctr"/>
          <a:lstStyle/>
          <a:p>
            <a:pPr marL="0" indent="0">
              <a:lnSpc>
                <a:spcPct val="100000"/>
              </a:lnSpc>
              <a:buNone/>
            </a:pPr>
            <a:r>
              <a:rPr lang="en-US" sz="1010" dirty="0">
                <a:solidFill>
                  <a:srgbClr val="333333"/>
                </a:solidFill>
                <a:latin typeface="PingFang SC" pitchFamily="34" charset="0"/>
                <a:ea typeface="PingFang SC" pitchFamily="34" charset="-122"/>
                <a:cs typeface="PingFang SC" pitchFamily="34" charset="-120"/>
              </a:rPr>
              <a:t>核心功能是支持患者按科室、医生及时间选择挂号，并实时更新号源信息。这确保了患者在需要时能够方便地找到合适的医生和时间进行预约。</a:t>
            </a:r>
            <a:endParaRPr lang="en-US" sz="1440" dirty="0"/>
          </a:p>
        </p:txBody>
      </p:sp>
      <p:sp>
        <p:nvSpPr>
          <p:cNvPr id="15" name="Text 8"/>
          <p:cNvSpPr/>
          <p:nvPr/>
        </p:nvSpPr>
        <p:spPr>
          <a:xfrm>
            <a:off x="4056920" y="3776008"/>
            <a:ext cx="2223189" cy="347472"/>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后台管理功能</a:t>
            </a:r>
            <a:endParaRPr lang="en-US" sz="1440" dirty="0"/>
          </a:p>
        </p:txBody>
      </p:sp>
      <p:sp>
        <p:nvSpPr>
          <p:cNvPr id="16" name="Text 9"/>
          <p:cNvSpPr/>
          <p:nvPr/>
        </p:nvSpPr>
        <p:spPr>
          <a:xfrm>
            <a:off x="6280109" y="3437680"/>
            <a:ext cx="2541576" cy="1014984"/>
          </a:xfrm>
          <a:prstGeom prst="rect">
            <a:avLst/>
          </a:prstGeom>
          <a:noFill/>
        </p:spPr>
        <p:txBody>
          <a:bodyPr wrap="square" lIns="95250" tIns="95250" rIns="95250" bIns="95250" rtlCol="0" anchor="ctr"/>
          <a:lstStyle/>
          <a:p>
            <a:pPr marL="0" indent="0">
              <a:lnSpc>
                <a:spcPct val="100000"/>
              </a:lnSpc>
              <a:buNone/>
            </a:pPr>
            <a:r>
              <a:rPr lang="en-US" sz="1010" dirty="0">
                <a:solidFill>
                  <a:srgbClr val="333333"/>
                </a:solidFill>
                <a:latin typeface="PingFang SC" pitchFamily="34" charset="0"/>
                <a:ea typeface="PingFang SC" pitchFamily="34" charset="-122"/>
                <a:cs typeface="PingFang SC" pitchFamily="34" charset="-120"/>
              </a:rPr>
              <a:t>对于医院管理者，系统提供了全面的后台管理功能，包括用户管理、医生排班、科室信息管理以及预约数据统计分析，以便优化医院运营。</a:t>
            </a:r>
            <a:endParaRPr lang="en-US" sz="14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性能需求</a:t>
            </a:r>
            <a:endParaRPr lang="en-US" sz="1440" dirty="0"/>
          </a:p>
        </p:txBody>
      </p:sp>
      <p:sp>
        <p:nvSpPr>
          <p:cNvPr id="3" name="Shape 1"/>
          <p:cNvSpPr/>
          <p:nvPr/>
        </p:nvSpPr>
        <p:spPr>
          <a:xfrm>
            <a:off x="2790441" y="2395037"/>
            <a:ext cx="1963317" cy="2222308"/>
          </a:xfrm>
          <a:custGeom>
            <a:avLst/>
            <a:gdLst/>
            <a:ahLst/>
            <a:cxnLst/>
            <a:rect l="l" t="t" r="r" b="b"/>
            <a:pathLst>
              <a:path w="1963317" h="2222308">
                <a:moveTo>
                  <a:pt x="245415" y="0"/>
                </a:moveTo>
                <a:moveTo>
                  <a:pt x="245415" y="0"/>
                </a:moveTo>
                <a:lnTo>
                  <a:pt x="1717902" y="0"/>
                </a:lnTo>
                <a:quadBezTo>
                  <a:pt x="1963317" y="0"/>
                  <a:pt x="1963317" y="245415"/>
                </a:quadBezTo>
                <a:lnTo>
                  <a:pt x="1963317" y="1976893"/>
                </a:lnTo>
                <a:quadBezTo>
                  <a:pt x="1963317" y="2222308"/>
                  <a:pt x="1717902" y="2222308"/>
                </a:quadBezTo>
                <a:lnTo>
                  <a:pt x="245415" y="2222308"/>
                </a:lnTo>
                <a:quadBezTo>
                  <a:pt x="0" y="2222308"/>
                  <a:pt x="0" y="1976893"/>
                </a:quadBezTo>
                <a:lnTo>
                  <a:pt x="0" y="245415"/>
                </a:lnTo>
                <a:quadBezTo>
                  <a:pt x="0" y="0"/>
                  <a:pt x="245415" y="0"/>
                </a:quadBezTo>
                <a:close/>
              </a:path>
            </a:pathLst>
          </a:custGeom>
          <a:solidFill>
            <a:srgbClr val="328CB2"/>
          </a:solidFill>
        </p:spPr>
      </p:sp>
      <p:sp>
        <p:nvSpPr>
          <p:cNvPr id="4" name="Shape 2"/>
          <p:cNvSpPr/>
          <p:nvPr/>
        </p:nvSpPr>
        <p:spPr>
          <a:xfrm>
            <a:off x="4839400" y="1911812"/>
            <a:ext cx="1963317" cy="2705533"/>
          </a:xfrm>
          <a:custGeom>
            <a:avLst/>
            <a:gdLst/>
            <a:ahLst/>
            <a:cxnLst/>
            <a:rect l="l" t="t" r="r" b="b"/>
            <a:pathLst>
              <a:path w="1963317" h="2705533">
                <a:moveTo>
                  <a:pt x="245415" y="0"/>
                </a:moveTo>
                <a:moveTo>
                  <a:pt x="245415" y="0"/>
                </a:moveTo>
                <a:lnTo>
                  <a:pt x="1717902" y="0"/>
                </a:lnTo>
                <a:quadBezTo>
                  <a:pt x="1963317" y="0"/>
                  <a:pt x="1963317" y="245415"/>
                </a:quadBezTo>
                <a:lnTo>
                  <a:pt x="1963317" y="2460118"/>
                </a:lnTo>
                <a:quadBezTo>
                  <a:pt x="1963317" y="2705533"/>
                  <a:pt x="1717902" y="2705533"/>
                </a:quadBezTo>
                <a:lnTo>
                  <a:pt x="245415" y="2705533"/>
                </a:lnTo>
                <a:quadBezTo>
                  <a:pt x="0" y="2705533"/>
                  <a:pt x="0" y="2460118"/>
                </a:quadBezTo>
                <a:lnTo>
                  <a:pt x="0" y="245415"/>
                </a:lnTo>
                <a:quadBezTo>
                  <a:pt x="0" y="0"/>
                  <a:pt x="245415" y="0"/>
                </a:quadBezTo>
                <a:close/>
              </a:path>
            </a:pathLst>
          </a:custGeom>
          <a:solidFill>
            <a:srgbClr val="328CB2">
              <a:alpha val="0"/>
            </a:srgbClr>
          </a:solidFill>
          <a:ln w="19050">
            <a:solidFill>
              <a:srgbClr val="328CB2"/>
            </a:solidFill>
            <a:prstDash val="solid"/>
          </a:ln>
        </p:spPr>
      </p:sp>
      <p:sp>
        <p:nvSpPr>
          <p:cNvPr id="5" name="Shape 3"/>
          <p:cNvSpPr/>
          <p:nvPr/>
        </p:nvSpPr>
        <p:spPr>
          <a:xfrm>
            <a:off x="6888358" y="1360926"/>
            <a:ext cx="1963443" cy="3256419"/>
          </a:xfrm>
          <a:custGeom>
            <a:avLst/>
            <a:gdLst/>
            <a:ahLst/>
            <a:cxnLst/>
            <a:rect l="l" t="t" r="r" b="b"/>
            <a:pathLst>
              <a:path w="1963443" h="3256419">
                <a:moveTo>
                  <a:pt x="245430" y="0"/>
                </a:moveTo>
                <a:moveTo>
                  <a:pt x="245430" y="0"/>
                </a:moveTo>
                <a:lnTo>
                  <a:pt x="1718013" y="0"/>
                </a:lnTo>
                <a:quadBezTo>
                  <a:pt x="1963443" y="0"/>
                  <a:pt x="1963443" y="245430"/>
                </a:quadBezTo>
                <a:lnTo>
                  <a:pt x="1963443" y="3010988"/>
                </a:lnTo>
                <a:quadBezTo>
                  <a:pt x="1963443" y="3256419"/>
                  <a:pt x="1718013" y="3256419"/>
                </a:quadBezTo>
                <a:lnTo>
                  <a:pt x="245430" y="3256419"/>
                </a:lnTo>
                <a:quadBezTo>
                  <a:pt x="0" y="3256419"/>
                  <a:pt x="0" y="3010988"/>
                </a:quadBezTo>
                <a:lnTo>
                  <a:pt x="0" y="245430"/>
                </a:lnTo>
                <a:quadBezTo>
                  <a:pt x="0" y="0"/>
                  <a:pt x="245430" y="0"/>
                </a:quadBezTo>
                <a:close/>
              </a:path>
            </a:pathLst>
          </a:custGeom>
          <a:solidFill>
            <a:srgbClr val="328CB2"/>
          </a:solidFill>
        </p:spPr>
      </p:sp>
      <p:pic>
        <p:nvPicPr>
          <p:cNvPr id="6" name="Image 0" descr="preencoded.png"/>
          <p:cNvPicPr>
            <a:picLocks noChangeAspect="1"/>
          </p:cNvPicPr>
          <p:nvPr/>
        </p:nvPicPr>
        <p:blipFill>
          <a:blip r:embed="rId2"/>
          <a:stretch>
            <a:fillRect/>
          </a:stretch>
        </p:blipFill>
        <p:spPr>
          <a:xfrm>
            <a:off x="2925168" y="838481"/>
            <a:ext cx="3828464" cy="1044890"/>
          </a:xfrm>
          <a:prstGeom prst="rect">
            <a:avLst/>
          </a:prstGeom>
        </p:spPr>
      </p:pic>
      <p:sp>
        <p:nvSpPr>
          <p:cNvPr id="7" name="Text 4"/>
          <p:cNvSpPr/>
          <p:nvPr/>
        </p:nvSpPr>
        <p:spPr>
          <a:xfrm>
            <a:off x="2790441" y="2522788"/>
            <a:ext cx="1963317" cy="539500"/>
          </a:xfrm>
          <a:prstGeom prst="rect">
            <a:avLst/>
          </a:prstGeom>
          <a:noFill/>
        </p:spPr>
        <p:txBody>
          <a:bodyPr wrap="square" lIns="95250" tIns="95250" rIns="95250" bIns="95250" rtlCol="0" anchor="t"/>
          <a:lstStyle/>
          <a:p>
            <a:pPr marL="0" indent="0">
              <a:lnSpc>
                <a:spcPct val="100000"/>
              </a:lnSpc>
              <a:spcBef>
                <a:spcPts val="375"/>
              </a:spcBef>
              <a:buNone/>
            </a:pPr>
            <a:r>
              <a:rPr lang="en-US" sz="1440" b="1" dirty="0">
                <a:solidFill>
                  <a:srgbClr val="FFFFFF"/>
                </a:solidFill>
                <a:latin typeface="PingFang SC" pitchFamily="34" charset="0"/>
                <a:ea typeface="PingFang SC" pitchFamily="34" charset="-122"/>
                <a:cs typeface="PingFang SC" pitchFamily="34" charset="-120"/>
              </a:rPr>
              <a:t>响应时间标准</a:t>
            </a:r>
            <a:endParaRPr lang="en-US" sz="1440" dirty="0"/>
          </a:p>
        </p:txBody>
      </p:sp>
      <p:pic>
        <p:nvPicPr>
          <p:cNvPr id="8" name="Image 1" descr="https://sgw-dx.xf-yun.com/api/v1/sparkdesk/_17468669051114686dc9a85d34081bd8d5ee961ddc97b.jpg?authorization=c2ltcGxlLWp3dCBhaz1zcGFya2Rlc2s4MDAwMDAwMDAwMDE7ZXhwPTMzMjM2NjY5MDU7YWxnbz1obWFjLXNoYTI1NjtzaWc9a25ONjhQa3RIeERCTkpqRHlpdDlqWWJoWG1kWGNaeEtkSE9yZHpTQWdBND0=&amp;x_location=7YfmxI7B7uKO7jlRxIftd6UpfPD="/>
          <p:cNvPicPr>
            <a:picLocks noChangeAspect="1"/>
          </p:cNvPicPr>
          <p:nvPr/>
        </p:nvPicPr>
        <p:blipFill>
          <a:blip r:embed="rId3"/>
          <a:srcRect l="16667" r="16667"/>
          <a:stretch>
            <a:fillRect/>
          </a:stretch>
        </p:blipFill>
        <p:spPr>
          <a:xfrm>
            <a:off x="292199" y="1108727"/>
            <a:ext cx="2339078" cy="3508617"/>
          </a:xfrm>
          <a:prstGeom prst="rect">
            <a:avLst/>
          </a:prstGeom>
        </p:spPr>
      </p:pic>
      <p:sp>
        <p:nvSpPr>
          <p:cNvPr id="9" name="Text 5"/>
          <p:cNvSpPr/>
          <p:nvPr/>
        </p:nvSpPr>
        <p:spPr>
          <a:xfrm>
            <a:off x="2790441" y="2968142"/>
            <a:ext cx="1963317"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FFFFFF"/>
                </a:solidFill>
                <a:latin typeface="PingFang SC" pitchFamily="34" charset="0"/>
                <a:ea typeface="PingFang SC" pitchFamily="34" charset="-122"/>
                <a:cs typeface="PingFang SC" pitchFamily="34" charset="-120"/>
              </a:rPr>
              <a:t>为确保用户操作的流畅性，我们设定了平均响应时间不超过2秒的性能目标，这是衡量系统性能的重要指标之一。</a:t>
            </a:r>
            <a:endParaRPr lang="en-US" sz="1440" dirty="0"/>
          </a:p>
        </p:txBody>
      </p:sp>
      <p:sp>
        <p:nvSpPr>
          <p:cNvPr id="10" name="Text 6"/>
          <p:cNvSpPr/>
          <p:nvPr/>
        </p:nvSpPr>
        <p:spPr>
          <a:xfrm>
            <a:off x="4839400" y="2075514"/>
            <a:ext cx="1963317" cy="401302"/>
          </a:xfrm>
          <a:prstGeom prst="rect">
            <a:avLst/>
          </a:prstGeom>
          <a:noFill/>
        </p:spPr>
        <p:txBody>
          <a:bodyPr wrap="square" lIns="95250" tIns="95250" rIns="95250" bIns="95250" rtlCol="0" anchor="t"/>
          <a:lstStyle/>
          <a:p>
            <a:pPr marL="0" indent="0">
              <a:lnSpc>
                <a:spcPct val="100000"/>
              </a:lnSpc>
              <a:spcBef>
                <a:spcPts val="375"/>
              </a:spcBef>
              <a:buNone/>
            </a:pPr>
            <a:r>
              <a:rPr lang="en-US" sz="1440" b="1" dirty="0">
                <a:solidFill>
                  <a:srgbClr val="328CB2"/>
                </a:solidFill>
                <a:latin typeface="PingFang SC" pitchFamily="34" charset="0"/>
                <a:ea typeface="PingFang SC" pitchFamily="34" charset="-122"/>
                <a:cs typeface="PingFang SC" pitchFamily="34" charset="-120"/>
              </a:rPr>
              <a:t>并发用户支持</a:t>
            </a:r>
            <a:endParaRPr lang="en-US" sz="1440" dirty="0"/>
          </a:p>
        </p:txBody>
      </p:sp>
      <p:sp>
        <p:nvSpPr>
          <p:cNvPr id="11" name="Text 7"/>
          <p:cNvSpPr/>
          <p:nvPr/>
        </p:nvSpPr>
        <p:spPr>
          <a:xfrm>
            <a:off x="4839400" y="2536958"/>
            <a:ext cx="1963317"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333333"/>
                </a:solidFill>
                <a:latin typeface="PingFang SC" pitchFamily="34" charset="0"/>
                <a:ea typeface="PingFang SC" pitchFamily="34" charset="-122"/>
                <a:cs typeface="PingFang SC" pitchFamily="34" charset="-120"/>
              </a:rPr>
              <a:t>系统应能支持至少1000名并发用户，以满足高峰期的使用需求，保证在高负载情况下仍能保持稳定运行。</a:t>
            </a:r>
            <a:endParaRPr lang="en-US" sz="1440" dirty="0"/>
          </a:p>
        </p:txBody>
      </p:sp>
      <p:sp>
        <p:nvSpPr>
          <p:cNvPr id="12" name="Text 8"/>
          <p:cNvSpPr/>
          <p:nvPr/>
        </p:nvSpPr>
        <p:spPr>
          <a:xfrm>
            <a:off x="6888421" y="1695062"/>
            <a:ext cx="1963317" cy="401302"/>
          </a:xfrm>
          <a:prstGeom prst="rect">
            <a:avLst/>
          </a:prstGeom>
          <a:noFill/>
        </p:spPr>
        <p:txBody>
          <a:bodyPr wrap="square" lIns="95250" tIns="95250" rIns="95250" bIns="95250" rtlCol="0" anchor="t"/>
          <a:lstStyle/>
          <a:p>
            <a:pPr marL="0" indent="0">
              <a:lnSpc>
                <a:spcPct val="100000"/>
              </a:lnSpc>
              <a:spcBef>
                <a:spcPts val="375"/>
              </a:spcBef>
              <a:buNone/>
            </a:pPr>
            <a:r>
              <a:rPr lang="en-US" sz="1440" b="1" dirty="0">
                <a:solidFill>
                  <a:srgbClr val="FFFFFF"/>
                </a:solidFill>
                <a:latin typeface="PingFang SC" pitchFamily="34" charset="0"/>
                <a:ea typeface="PingFang SC" pitchFamily="34" charset="-122"/>
                <a:cs typeface="PingFang SC" pitchFamily="34" charset="-120"/>
              </a:rPr>
              <a:t>资源利用率优化</a:t>
            </a:r>
            <a:endParaRPr lang="en-US" sz="1440" dirty="0"/>
          </a:p>
        </p:txBody>
      </p:sp>
      <p:sp>
        <p:nvSpPr>
          <p:cNvPr id="13" name="Text 9"/>
          <p:cNvSpPr/>
          <p:nvPr/>
        </p:nvSpPr>
        <p:spPr>
          <a:xfrm>
            <a:off x="6888358" y="2255172"/>
            <a:ext cx="1963317"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FFFFFF"/>
                </a:solidFill>
                <a:latin typeface="PingFang SC" pitchFamily="34" charset="0"/>
                <a:ea typeface="PingFang SC" pitchFamily="34" charset="-122"/>
                <a:cs typeface="PingFang SC" pitchFamily="34" charset="-120"/>
              </a:rPr>
              <a:t>在有限的硬件资源下，系统需要优化资源利用率，确保提供高效的服务，同时避免崩溃或数据丢失的情况发生。</a:t>
            </a:r>
            <a:endParaRPr lang="en-US" sz="14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可行性分析</a:t>
            </a:r>
            <a:endParaRPr lang="en-US" sz="1440" dirty="0"/>
          </a:p>
        </p:txBody>
      </p:sp>
      <p:sp>
        <p:nvSpPr>
          <p:cNvPr id="3" name="Shape 1"/>
          <p:cNvSpPr/>
          <p:nvPr/>
        </p:nvSpPr>
        <p:spPr>
          <a:xfrm>
            <a:off x="334023" y="1070220"/>
            <a:ext cx="2653589" cy="3419822"/>
          </a:xfrm>
          <a:custGeom>
            <a:avLst/>
            <a:gdLst/>
            <a:ahLst/>
            <a:cxnLst/>
            <a:rect l="l" t="t" r="r" b="b"/>
            <a:pathLst>
              <a:path w="2653589" h="3419822">
                <a:moveTo>
                  <a:pt x="331699" y="0"/>
                </a:moveTo>
                <a:moveTo>
                  <a:pt x="331699" y="0"/>
                </a:moveTo>
                <a:lnTo>
                  <a:pt x="2653589" y="0"/>
                </a:lnTo>
                <a:lnTo>
                  <a:pt x="2653589" y="3051818"/>
                </a:lnTo>
                <a:quadBezTo>
                  <a:pt x="2653589" y="3419822"/>
                  <a:pt x="2321890" y="3419822"/>
                </a:quadBezTo>
                <a:lnTo>
                  <a:pt x="0" y="3419822"/>
                </a:lnTo>
                <a:lnTo>
                  <a:pt x="0" y="368004"/>
                </a:lnTo>
                <a:quadBezTo>
                  <a:pt x="0" y="0"/>
                  <a:pt x="331699" y="0"/>
                </a:quadBezTo>
                <a:close/>
              </a:path>
            </a:pathLst>
          </a:custGeom>
          <a:solidFill>
            <a:srgbClr val="328CB2">
              <a:alpha val="10000"/>
            </a:srgbClr>
          </a:solidFill>
        </p:spPr>
      </p:sp>
      <p:sp>
        <p:nvSpPr>
          <p:cNvPr id="4" name="Text 2"/>
          <p:cNvSpPr/>
          <p:nvPr/>
        </p:nvSpPr>
        <p:spPr>
          <a:xfrm>
            <a:off x="407175" y="1347658"/>
            <a:ext cx="1362233" cy="70408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735" b="1" dirty="0">
                <a:solidFill>
                  <a:srgbClr val="328CB2"/>
                </a:solidFill>
                <a:latin typeface="PingFang SC" pitchFamily="34" charset="0"/>
                <a:ea typeface="PingFang SC" pitchFamily="34" charset="-122"/>
                <a:cs typeface="PingFang SC" pitchFamily="34" charset="-120"/>
              </a:rPr>
              <a:t>01</a:t>
            </a:r>
            <a:endParaRPr lang="en-US" sz="1440" dirty="0"/>
          </a:p>
        </p:txBody>
      </p:sp>
      <p:sp>
        <p:nvSpPr>
          <p:cNvPr id="5" name="Shape 3"/>
          <p:cNvSpPr/>
          <p:nvPr/>
        </p:nvSpPr>
        <p:spPr>
          <a:xfrm>
            <a:off x="3240367" y="1070220"/>
            <a:ext cx="2653589" cy="3419822"/>
          </a:xfrm>
          <a:custGeom>
            <a:avLst/>
            <a:gdLst/>
            <a:ahLst/>
            <a:cxnLst/>
            <a:rect l="l" t="t" r="r" b="b"/>
            <a:pathLst>
              <a:path w="2653589" h="3419822">
                <a:moveTo>
                  <a:pt x="331699" y="0"/>
                </a:moveTo>
                <a:moveTo>
                  <a:pt x="331699" y="0"/>
                </a:moveTo>
                <a:lnTo>
                  <a:pt x="2653589" y="0"/>
                </a:lnTo>
                <a:lnTo>
                  <a:pt x="2653589" y="3051818"/>
                </a:lnTo>
                <a:quadBezTo>
                  <a:pt x="2653589" y="3419822"/>
                  <a:pt x="2321890" y="3419822"/>
                </a:quadBezTo>
                <a:lnTo>
                  <a:pt x="0" y="3419822"/>
                </a:lnTo>
                <a:lnTo>
                  <a:pt x="0" y="368004"/>
                </a:lnTo>
                <a:quadBezTo>
                  <a:pt x="0" y="0"/>
                  <a:pt x="331699" y="0"/>
                </a:quadBezTo>
                <a:close/>
              </a:path>
            </a:pathLst>
          </a:custGeom>
          <a:solidFill>
            <a:srgbClr val="69BBE3">
              <a:alpha val="10000"/>
            </a:srgbClr>
          </a:solidFill>
        </p:spPr>
      </p:sp>
      <p:sp>
        <p:nvSpPr>
          <p:cNvPr id="6" name="Text 4"/>
          <p:cNvSpPr/>
          <p:nvPr/>
        </p:nvSpPr>
        <p:spPr>
          <a:xfrm>
            <a:off x="3322826" y="1347658"/>
            <a:ext cx="1104990" cy="70408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735" b="1" dirty="0">
                <a:solidFill>
                  <a:srgbClr val="69BBE3"/>
                </a:solidFill>
                <a:latin typeface="PingFang SC" pitchFamily="34" charset="0"/>
                <a:ea typeface="PingFang SC" pitchFamily="34" charset="-122"/>
                <a:cs typeface="PingFang SC" pitchFamily="34" charset="-120"/>
              </a:rPr>
              <a:t>02</a:t>
            </a:r>
            <a:endParaRPr lang="en-US" sz="1440" dirty="0"/>
          </a:p>
        </p:txBody>
      </p:sp>
      <p:sp>
        <p:nvSpPr>
          <p:cNvPr id="7" name="Shape 5"/>
          <p:cNvSpPr/>
          <p:nvPr/>
        </p:nvSpPr>
        <p:spPr>
          <a:xfrm>
            <a:off x="6156388" y="1070220"/>
            <a:ext cx="2653589" cy="3419822"/>
          </a:xfrm>
          <a:custGeom>
            <a:avLst/>
            <a:gdLst/>
            <a:ahLst/>
            <a:cxnLst/>
            <a:rect l="l" t="t" r="r" b="b"/>
            <a:pathLst>
              <a:path w="2653589" h="3419822">
                <a:moveTo>
                  <a:pt x="331699" y="0"/>
                </a:moveTo>
                <a:moveTo>
                  <a:pt x="331699" y="0"/>
                </a:moveTo>
                <a:lnTo>
                  <a:pt x="2653589" y="0"/>
                </a:lnTo>
                <a:lnTo>
                  <a:pt x="2653589" y="3051818"/>
                </a:lnTo>
                <a:quadBezTo>
                  <a:pt x="2653589" y="3419822"/>
                  <a:pt x="2321890" y="3419822"/>
                </a:quadBezTo>
                <a:lnTo>
                  <a:pt x="0" y="3419822"/>
                </a:lnTo>
                <a:lnTo>
                  <a:pt x="0" y="368004"/>
                </a:lnTo>
                <a:quadBezTo>
                  <a:pt x="0" y="0"/>
                  <a:pt x="331699" y="0"/>
                </a:quadBezTo>
                <a:close/>
              </a:path>
            </a:pathLst>
          </a:custGeom>
          <a:solidFill>
            <a:srgbClr val="328CB2">
              <a:alpha val="10000"/>
            </a:srgbClr>
          </a:solidFill>
        </p:spPr>
      </p:sp>
      <p:sp>
        <p:nvSpPr>
          <p:cNvPr id="8" name="Text 6"/>
          <p:cNvSpPr/>
          <p:nvPr/>
        </p:nvSpPr>
        <p:spPr>
          <a:xfrm>
            <a:off x="6229333" y="1347658"/>
            <a:ext cx="1333989" cy="70408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735" b="1" dirty="0">
                <a:solidFill>
                  <a:srgbClr val="328CB2"/>
                </a:solidFill>
                <a:latin typeface="PingFang SC" pitchFamily="34" charset="0"/>
                <a:ea typeface="PingFang SC" pitchFamily="34" charset="-122"/>
                <a:cs typeface="PingFang SC" pitchFamily="34" charset="-120"/>
              </a:rPr>
              <a:t>03</a:t>
            </a:r>
            <a:endParaRPr lang="en-US" sz="1440" dirty="0"/>
          </a:p>
        </p:txBody>
      </p:sp>
      <p:sp>
        <p:nvSpPr>
          <p:cNvPr id="9" name="Text 7"/>
          <p:cNvSpPr/>
          <p:nvPr/>
        </p:nvSpPr>
        <p:spPr>
          <a:xfrm>
            <a:off x="334023" y="1947106"/>
            <a:ext cx="2653589" cy="466344"/>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市场需求分析</a:t>
            </a:r>
            <a:endParaRPr lang="en-US" sz="1440" dirty="0"/>
          </a:p>
        </p:txBody>
      </p:sp>
      <p:sp>
        <p:nvSpPr>
          <p:cNvPr id="10" name="Text 8"/>
          <p:cNvSpPr/>
          <p:nvPr/>
        </p:nvSpPr>
        <p:spPr>
          <a:xfrm>
            <a:off x="334023" y="2459170"/>
            <a:ext cx="2516103" cy="10607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通过深入调研目标市场，了解消费者需求和偏好，评估产品或服务在市场中的潜在接受度和需求量，为项目的成功提供数据支持。</a:t>
            </a:r>
            <a:endParaRPr lang="en-US" sz="1440" dirty="0"/>
          </a:p>
        </p:txBody>
      </p:sp>
      <p:sp>
        <p:nvSpPr>
          <p:cNvPr id="11" name="Text 9"/>
          <p:cNvSpPr/>
          <p:nvPr/>
        </p:nvSpPr>
        <p:spPr>
          <a:xfrm>
            <a:off x="3240530" y="1947106"/>
            <a:ext cx="2653426" cy="374904"/>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69BBE3"/>
                </a:solidFill>
                <a:latin typeface="PingFang SC" pitchFamily="34" charset="0"/>
                <a:ea typeface="PingFang SC" pitchFamily="34" charset="-122"/>
                <a:cs typeface="PingFang SC" pitchFamily="34" charset="-120"/>
              </a:rPr>
              <a:t>技术可行性评估</a:t>
            </a:r>
            <a:endParaRPr lang="en-US" sz="1440" dirty="0"/>
          </a:p>
        </p:txBody>
      </p:sp>
      <p:sp>
        <p:nvSpPr>
          <p:cNvPr id="12" name="Text 10"/>
          <p:cNvSpPr/>
          <p:nvPr/>
        </p:nvSpPr>
        <p:spPr>
          <a:xfrm>
            <a:off x="3240530" y="2459170"/>
            <a:ext cx="2516103" cy="10607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分析现有技术条件是否能够支撑项目的实现，包括硬件、软件、网络等基础设施的可用性和成熟度，确保技术方案的可实施性。</a:t>
            </a:r>
            <a:endParaRPr lang="en-US" sz="1440" dirty="0"/>
          </a:p>
        </p:txBody>
      </p:sp>
      <p:sp>
        <p:nvSpPr>
          <p:cNvPr id="13" name="Text 11"/>
          <p:cNvSpPr/>
          <p:nvPr/>
        </p:nvSpPr>
        <p:spPr>
          <a:xfrm>
            <a:off x="6156181" y="1947106"/>
            <a:ext cx="2377440" cy="374904"/>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经济效益预测</a:t>
            </a:r>
            <a:endParaRPr lang="en-US" sz="1440" dirty="0"/>
          </a:p>
        </p:txBody>
      </p:sp>
      <p:sp>
        <p:nvSpPr>
          <p:cNvPr id="14" name="Text 12"/>
          <p:cNvSpPr/>
          <p:nvPr/>
        </p:nvSpPr>
        <p:spPr>
          <a:xfrm>
            <a:off x="6156181" y="2459170"/>
            <a:ext cx="2516103" cy="10607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对项目的成本投入与预期收益进行详细计算，包括直接成本、间接成本以及潜在的经济回报，评估项目的财务可行性和长期盈利能力。</a:t>
            </a:r>
            <a:endParaRPr lang="en-US" sz="14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023" y="1222687"/>
            <a:ext cx="1882760" cy="179222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8350" b="1" dirty="0">
                <a:solidFill>
                  <a:srgbClr val="FFFFFF">
                    <a:alpha val="40000"/>
                  </a:srgbClr>
                </a:solidFill>
                <a:latin typeface="Arial" panose="020B0604020202020204" pitchFamily="34" charset="0"/>
                <a:ea typeface="Arial" panose="020B0604020202020204" pitchFamily="34" charset="-122"/>
                <a:cs typeface="Arial" panose="020B0604020202020204" pitchFamily="34" charset="-120"/>
              </a:rPr>
              <a:t>04</a:t>
            </a:r>
            <a:endParaRPr lang="en-US" sz="1440" dirty="0"/>
          </a:p>
        </p:txBody>
      </p:sp>
      <p:sp>
        <p:nvSpPr>
          <p:cNvPr id="3" name="Text 1"/>
          <p:cNvSpPr/>
          <p:nvPr/>
        </p:nvSpPr>
        <p:spPr>
          <a:xfrm>
            <a:off x="403023" y="2507428"/>
            <a:ext cx="3807290" cy="74980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系统设计</a:t>
            </a:r>
            <a:endParaRPr lang="en-US" sz="14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功能结构设计</a:t>
            </a:r>
            <a:endParaRPr lang="en-US" sz="1440" dirty="0"/>
          </a:p>
        </p:txBody>
      </p:sp>
      <p:sp>
        <p:nvSpPr>
          <p:cNvPr id="3" name="Shape 1"/>
          <p:cNvSpPr/>
          <p:nvPr/>
        </p:nvSpPr>
        <p:spPr>
          <a:xfrm>
            <a:off x="372998" y="1262645"/>
            <a:ext cx="6793133" cy="0"/>
          </a:xfrm>
          <a:custGeom>
            <a:avLst/>
            <a:gdLst/>
            <a:ahLst/>
            <a:cxnLst/>
            <a:rect l="l" t="t" r="r" b="b"/>
            <a:pathLst>
              <a:path w="6793133">
                <a:moveTo>
                  <a:pt x="6793133" y="0"/>
                </a:moveTo>
                <a:moveTo>
                  <a:pt x="6793133" y="0"/>
                </a:moveTo>
                <a:lnTo>
                  <a:pt x="0" y="0"/>
                </a:lnTo>
              </a:path>
            </a:pathLst>
          </a:custGeom>
          <a:noFill/>
          <a:ln w="9525">
            <a:solidFill>
              <a:srgbClr val="E1E1E1"/>
            </a:solidFill>
            <a:prstDash val="solid"/>
            <a:headEnd type="none"/>
            <a:tailEnd type="none"/>
          </a:ln>
        </p:spPr>
      </p:sp>
      <p:pic>
        <p:nvPicPr>
          <p:cNvPr id="4" name="Image 0" descr="https://oceandoc-ai.obs.ap-southeast-3.myhuaweicloud.com/ppt_list_page/_19052329831_pZN4da1732156004906-023884567989475713.png?authorization=c2ltcGxlLWp3dCBhaz1zcGFya2Rlc2s4MDAwMDAwMDAwMDE7ZXhwPTMzMDg5NTYwMDY7YWxnbz1obWFjLXNoYTI1NjtzaWc9ZHp5V29yc3hUUWQ1RGZHYUpqTWxuS28xL29WZUtjTytzbGo0QXNrVTVOcz0=&amp;x_location=7YfmxI7B7uKO7jlRxIftd60pfXD="/>
          <p:cNvPicPr>
            <a:picLocks noChangeAspect="1"/>
          </p:cNvPicPr>
          <p:nvPr/>
        </p:nvPicPr>
        <p:blipFill>
          <a:blip r:embed="rId2"/>
          <a:stretch>
            <a:fillRect/>
          </a:stretch>
        </p:blipFill>
        <p:spPr>
          <a:xfrm>
            <a:off x="6988961" y="901354"/>
            <a:ext cx="1832206" cy="3494071"/>
          </a:xfrm>
          <a:prstGeom prst="rect">
            <a:avLst/>
          </a:prstGeom>
        </p:spPr>
      </p:pic>
      <p:sp>
        <p:nvSpPr>
          <p:cNvPr id="5" name="Text 2"/>
          <p:cNvSpPr/>
          <p:nvPr>
            <p:custDataLst>
              <p:tags r:id="rId3"/>
            </p:custDataLst>
          </p:nvPr>
        </p:nvSpPr>
        <p:spPr>
          <a:xfrm>
            <a:off x="623494" y="1355471"/>
            <a:ext cx="572963" cy="62179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305" b="1" i="1" dirty="0">
                <a:solidFill>
                  <a:srgbClr val="328CB2"/>
                </a:solidFill>
                <a:latin typeface="PingFang SC" pitchFamily="34" charset="0"/>
                <a:ea typeface="PingFang SC" pitchFamily="34" charset="-122"/>
                <a:cs typeface="PingFang SC" pitchFamily="34" charset="-120"/>
              </a:rPr>
              <a:t>01</a:t>
            </a:r>
            <a:endParaRPr lang="en-US" sz="1440" dirty="0"/>
          </a:p>
        </p:txBody>
      </p:sp>
      <p:sp>
        <p:nvSpPr>
          <p:cNvPr id="6" name="Text 3"/>
          <p:cNvSpPr/>
          <p:nvPr>
            <p:custDataLst>
              <p:tags r:id="rId4"/>
            </p:custDataLst>
          </p:nvPr>
        </p:nvSpPr>
        <p:spPr>
          <a:xfrm>
            <a:off x="2942412" y="1355471"/>
            <a:ext cx="572963" cy="62179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305" b="1" i="1" dirty="0">
                <a:solidFill>
                  <a:srgbClr val="69BBE3"/>
                </a:solidFill>
                <a:latin typeface="PingFang SC" pitchFamily="34" charset="0"/>
                <a:ea typeface="PingFang SC" pitchFamily="34" charset="-122"/>
                <a:cs typeface="PingFang SC" pitchFamily="34" charset="-120"/>
              </a:rPr>
              <a:t>02</a:t>
            </a:r>
            <a:endParaRPr lang="en-US" sz="1440" dirty="0"/>
          </a:p>
        </p:txBody>
      </p:sp>
      <p:sp>
        <p:nvSpPr>
          <p:cNvPr id="7" name="Text 4"/>
          <p:cNvSpPr/>
          <p:nvPr>
            <p:custDataLst>
              <p:tags r:id="rId5"/>
            </p:custDataLst>
          </p:nvPr>
        </p:nvSpPr>
        <p:spPr>
          <a:xfrm>
            <a:off x="5198877" y="1355471"/>
            <a:ext cx="572963" cy="62179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305" b="1" i="1" dirty="0">
                <a:solidFill>
                  <a:srgbClr val="328CB2"/>
                </a:solidFill>
                <a:latin typeface="PingFang SC" pitchFamily="34" charset="0"/>
                <a:ea typeface="PingFang SC" pitchFamily="34" charset="-122"/>
                <a:cs typeface="PingFang SC" pitchFamily="34" charset="-120"/>
              </a:rPr>
              <a:t>03</a:t>
            </a:r>
            <a:endParaRPr lang="en-US" sz="1440" dirty="0"/>
          </a:p>
        </p:txBody>
      </p:sp>
      <p:sp>
        <p:nvSpPr>
          <p:cNvPr id="8" name="Text 5"/>
          <p:cNvSpPr/>
          <p:nvPr>
            <p:custDataLst>
              <p:tags r:id="rId6"/>
            </p:custDataLst>
          </p:nvPr>
        </p:nvSpPr>
        <p:spPr>
          <a:xfrm>
            <a:off x="367589" y="2151583"/>
            <a:ext cx="1937614" cy="420624"/>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用户界面设计</a:t>
            </a:r>
            <a:endParaRPr lang="en-US" sz="1440" dirty="0"/>
          </a:p>
        </p:txBody>
      </p:sp>
      <p:pic>
        <p:nvPicPr>
          <p:cNvPr id="9" name="Image 1" descr="https://sgw-dx.xf-yun.com/api/v1/sparkdesk/_174686692374016a6df027ff6439baae3207f41cfb47b.jpg?authorization=c2ltcGxlLWp3dCBhaz1zcGFya2Rlc2s4MDAwMDAwMDAwMDE7ZXhwPTMzMjM2NjY5MjM7YWxnbz1obWFjLXNoYTI1NjtzaWc9QUMwMm1mU3YybVVvczJ1WGNkYk9VamgvVWwwYUNoM0w2YkFzZlpqZzFETT0=&amp;x_location=7YfmxI7B7uKO7jlRxIftd6UpfPD="/>
          <p:cNvPicPr>
            <a:picLocks noChangeAspect="1"/>
          </p:cNvPicPr>
          <p:nvPr/>
        </p:nvPicPr>
        <p:blipFill>
          <a:blip r:embed="rId7"/>
          <a:srcRect l="19886" r="23295"/>
          <a:stretch>
            <a:fillRect/>
          </a:stretch>
        </p:blipFill>
        <p:spPr>
          <a:xfrm>
            <a:off x="7156987" y="1262645"/>
            <a:ext cx="1499196" cy="2644722"/>
          </a:xfrm>
          <a:prstGeom prst="rect">
            <a:avLst/>
          </a:prstGeom>
        </p:spPr>
      </p:pic>
      <p:sp>
        <p:nvSpPr>
          <p:cNvPr id="10" name="Text 6"/>
          <p:cNvSpPr/>
          <p:nvPr>
            <p:custDataLst>
              <p:tags r:id="rId8"/>
            </p:custDataLst>
          </p:nvPr>
        </p:nvSpPr>
        <p:spPr>
          <a:xfrm>
            <a:off x="367589" y="2746080"/>
            <a:ext cx="1937614" cy="1280160"/>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333333"/>
                </a:solidFill>
                <a:latin typeface="PingFang SC" pitchFamily="34" charset="0"/>
                <a:ea typeface="PingFang SC" pitchFamily="34" charset="-122"/>
                <a:cs typeface="PingFang SC" pitchFamily="34" charset="-120"/>
              </a:rPr>
              <a:t>用户界面设计注重简洁直观，确保用户能够轻松上手，通过优化布局和交互流程，提升用户体验，使操作更加高效便捷。</a:t>
            </a:r>
            <a:endParaRPr lang="en-US" sz="1440" dirty="0"/>
          </a:p>
        </p:txBody>
      </p:sp>
      <p:sp>
        <p:nvSpPr>
          <p:cNvPr id="11" name="Text 7"/>
          <p:cNvSpPr/>
          <p:nvPr>
            <p:custDataLst>
              <p:tags r:id="rId9"/>
            </p:custDataLst>
          </p:nvPr>
        </p:nvSpPr>
        <p:spPr>
          <a:xfrm>
            <a:off x="2686507" y="2151583"/>
            <a:ext cx="1937614" cy="420624"/>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医生功能模块</a:t>
            </a:r>
            <a:endParaRPr lang="en-US" sz="1440" dirty="0"/>
          </a:p>
        </p:txBody>
      </p:sp>
      <p:sp>
        <p:nvSpPr>
          <p:cNvPr id="12" name="Text 8"/>
          <p:cNvSpPr/>
          <p:nvPr>
            <p:custDataLst>
              <p:tags r:id="rId10"/>
            </p:custDataLst>
          </p:nvPr>
        </p:nvSpPr>
        <p:spPr>
          <a:xfrm>
            <a:off x="2686507" y="2746080"/>
            <a:ext cx="1937614" cy="128016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医生功能模块专为医疗专业人士设计，集成了患者管理、诊断辅助等功能，旨在提高医生工作效率，保障患者数据的安全与隐私。</a:t>
            </a:r>
            <a:endParaRPr lang="en-US" sz="1440" dirty="0"/>
          </a:p>
        </p:txBody>
      </p:sp>
      <p:sp>
        <p:nvSpPr>
          <p:cNvPr id="13" name="Text 9"/>
          <p:cNvSpPr/>
          <p:nvPr>
            <p:custDataLst>
              <p:tags r:id="rId11"/>
            </p:custDataLst>
          </p:nvPr>
        </p:nvSpPr>
        <p:spPr>
          <a:xfrm>
            <a:off x="4942972" y="2151583"/>
            <a:ext cx="1937478" cy="420624"/>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管理员后台管理</a:t>
            </a:r>
            <a:endParaRPr lang="en-US" sz="1440" dirty="0"/>
          </a:p>
        </p:txBody>
      </p:sp>
      <p:sp>
        <p:nvSpPr>
          <p:cNvPr id="14" name="Text 10"/>
          <p:cNvSpPr/>
          <p:nvPr>
            <p:custDataLst>
              <p:tags r:id="rId12"/>
            </p:custDataLst>
          </p:nvPr>
        </p:nvSpPr>
        <p:spPr>
          <a:xfrm>
            <a:off x="4942972" y="2746080"/>
            <a:ext cx="1937478" cy="128016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管理员后台管理模块提供全面的数据监控和系统配置功能，确保系统运行的稳定性和数据的安全性，为系统的长期发展提供支持。</a:t>
            </a:r>
            <a:endParaRPr lang="en-US" sz="14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数据库设计</a:t>
            </a:r>
            <a:endParaRPr lang="en-US" sz="1440" dirty="0"/>
          </a:p>
        </p:txBody>
      </p:sp>
      <p:sp>
        <p:nvSpPr>
          <p:cNvPr id="3" name="Shape 1"/>
          <p:cNvSpPr/>
          <p:nvPr/>
        </p:nvSpPr>
        <p:spPr>
          <a:xfrm>
            <a:off x="275547" y="2510489"/>
            <a:ext cx="1950182" cy="2207440"/>
          </a:xfrm>
          <a:custGeom>
            <a:avLst/>
            <a:gdLst/>
            <a:ahLst/>
            <a:cxnLst/>
            <a:rect l="l" t="t" r="r" b="b"/>
            <a:pathLst>
              <a:path w="1950182" h="2207440">
                <a:moveTo>
                  <a:pt x="0" y="0"/>
                </a:moveTo>
                <a:moveTo>
                  <a:pt x="0" y="0"/>
                </a:moveTo>
                <a:lnTo>
                  <a:pt x="1950182" y="0"/>
                </a:lnTo>
                <a:lnTo>
                  <a:pt x="1950182" y="2207440"/>
                </a:lnTo>
                <a:lnTo>
                  <a:pt x="0" y="2207440"/>
                </a:lnTo>
                <a:close/>
              </a:path>
            </a:pathLst>
          </a:custGeom>
          <a:solidFill>
            <a:srgbClr val="328CB2"/>
          </a:solidFill>
        </p:spPr>
      </p:sp>
      <p:sp>
        <p:nvSpPr>
          <p:cNvPr id="4" name="Shape 2"/>
          <p:cNvSpPr/>
          <p:nvPr/>
        </p:nvSpPr>
        <p:spPr>
          <a:xfrm>
            <a:off x="2310798" y="2030496"/>
            <a:ext cx="1950182" cy="2687432"/>
          </a:xfrm>
          <a:custGeom>
            <a:avLst/>
            <a:gdLst/>
            <a:ahLst/>
            <a:cxnLst/>
            <a:rect l="l" t="t" r="r" b="b"/>
            <a:pathLst>
              <a:path w="1950182" h="2687432">
                <a:moveTo>
                  <a:pt x="0" y="0"/>
                </a:moveTo>
                <a:moveTo>
                  <a:pt x="0" y="0"/>
                </a:moveTo>
                <a:lnTo>
                  <a:pt x="1950182" y="0"/>
                </a:lnTo>
                <a:lnTo>
                  <a:pt x="1950182" y="2687432"/>
                </a:lnTo>
                <a:lnTo>
                  <a:pt x="0" y="2687432"/>
                </a:lnTo>
                <a:close/>
              </a:path>
            </a:pathLst>
          </a:custGeom>
          <a:solidFill>
            <a:srgbClr val="328CB2"/>
          </a:solidFill>
        </p:spPr>
      </p:sp>
      <p:sp>
        <p:nvSpPr>
          <p:cNvPr id="5" name="Shape 3"/>
          <p:cNvSpPr/>
          <p:nvPr/>
        </p:nvSpPr>
        <p:spPr>
          <a:xfrm>
            <a:off x="4346048" y="1483296"/>
            <a:ext cx="1950308" cy="3234633"/>
          </a:xfrm>
          <a:custGeom>
            <a:avLst/>
            <a:gdLst/>
            <a:ahLst/>
            <a:cxnLst/>
            <a:rect l="l" t="t" r="r" b="b"/>
            <a:pathLst>
              <a:path w="1950308" h="3234633">
                <a:moveTo>
                  <a:pt x="0" y="0"/>
                </a:moveTo>
                <a:moveTo>
                  <a:pt x="0" y="0"/>
                </a:moveTo>
                <a:lnTo>
                  <a:pt x="1950308" y="0"/>
                </a:lnTo>
                <a:lnTo>
                  <a:pt x="1950308" y="3234633"/>
                </a:lnTo>
                <a:lnTo>
                  <a:pt x="0" y="3234633"/>
                </a:lnTo>
                <a:close/>
              </a:path>
            </a:pathLst>
          </a:custGeom>
          <a:solidFill>
            <a:srgbClr val="328CB2"/>
          </a:solidFill>
        </p:spPr>
      </p:sp>
      <p:sp>
        <p:nvSpPr>
          <p:cNvPr id="6" name="Text 4"/>
          <p:cNvSpPr/>
          <p:nvPr/>
        </p:nvSpPr>
        <p:spPr>
          <a:xfrm>
            <a:off x="275547" y="2510489"/>
            <a:ext cx="1950182" cy="797696"/>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数据库概念结构设计</a:t>
            </a:r>
            <a:endParaRPr lang="en-US" sz="1440" dirty="0"/>
          </a:p>
        </p:txBody>
      </p:sp>
      <p:pic>
        <p:nvPicPr>
          <p:cNvPr id="7" name="Image 0" descr="https://sgw-dx.xf-yun.com/api/v1/sparkdesk/_17468669382694aab91ea5f7e4ac48cabeb726c24cac5.jpg?authorization=c2ltcGxlLWp3dCBhaz1zcGFya2Rlc2s4MDAwMDAwMDAwMDE7ZXhwPTMzMjM2NjY5Mzg7YWxnbz1obWFjLXNoYTI1NjtzaWc9SVRZcmo2T05WRWlIVE8yRk5aUGQwR2ZVV2pOaDZBREJmd251SFZSMXVWWT0=&amp;x_location=7YfmxI7B7uKO7jlRxIftd6UpfPD="/>
          <p:cNvPicPr>
            <a:picLocks noChangeAspect="1"/>
          </p:cNvPicPr>
          <p:nvPr/>
        </p:nvPicPr>
        <p:blipFill>
          <a:blip r:embed="rId2"/>
          <a:srcRect l="16667" r="16667"/>
          <a:stretch>
            <a:fillRect/>
          </a:stretch>
        </p:blipFill>
        <p:spPr>
          <a:xfrm>
            <a:off x="6381425" y="987386"/>
            <a:ext cx="2487028" cy="3730543"/>
          </a:xfrm>
          <a:prstGeom prst="rect">
            <a:avLst/>
          </a:prstGeom>
        </p:spPr>
      </p:pic>
      <p:sp>
        <p:nvSpPr>
          <p:cNvPr id="8" name="Text 5"/>
          <p:cNvSpPr/>
          <p:nvPr/>
        </p:nvSpPr>
        <p:spPr>
          <a:xfrm>
            <a:off x="275547" y="3220684"/>
            <a:ext cx="1950182"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PingFang SC" pitchFamily="34" charset="0"/>
                <a:ea typeface="PingFang SC" pitchFamily="34" charset="-122"/>
                <a:cs typeface="PingFang SC" pitchFamily="34" charset="-120"/>
              </a:rPr>
              <a:t>通过精心设计实体-关系(E-R)图，将管理员、用户、医生等关键实体相互连接，确保数据的完整性和一致性，提高数据检索和更新的效率。</a:t>
            </a:r>
            <a:endParaRPr lang="en-US" sz="1440" dirty="0"/>
          </a:p>
        </p:txBody>
      </p:sp>
      <p:sp>
        <p:nvSpPr>
          <p:cNvPr id="9" name="Text 6"/>
          <p:cNvSpPr/>
          <p:nvPr/>
        </p:nvSpPr>
        <p:spPr>
          <a:xfrm>
            <a:off x="2310798" y="2134379"/>
            <a:ext cx="1950182" cy="752219"/>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系统功能结构设计</a:t>
            </a:r>
            <a:endParaRPr lang="en-US" sz="1440" dirty="0"/>
          </a:p>
        </p:txBody>
      </p:sp>
      <p:sp>
        <p:nvSpPr>
          <p:cNvPr id="10" name="Text 7"/>
          <p:cNvSpPr/>
          <p:nvPr/>
        </p:nvSpPr>
        <p:spPr>
          <a:xfrm>
            <a:off x="2310798" y="2996607"/>
            <a:ext cx="1950182"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PingFang SC" pitchFamily="34" charset="0"/>
                <a:ea typeface="PingFang SC" pitchFamily="34" charset="-122"/>
                <a:cs typeface="PingFang SC" pitchFamily="34" charset="-120"/>
              </a:rPr>
              <a:t>以用户需求为出发点，将系统功能划分为用户、医生和管理员三大模块，保证操作简易性与数据处理准确性，提升整体系统性能和用户满意度。</a:t>
            </a:r>
            <a:endParaRPr lang="en-US" sz="1440" dirty="0"/>
          </a:p>
        </p:txBody>
      </p:sp>
      <p:sp>
        <p:nvSpPr>
          <p:cNvPr id="11" name="Text 8"/>
          <p:cNvSpPr/>
          <p:nvPr/>
        </p:nvSpPr>
        <p:spPr>
          <a:xfrm>
            <a:off x="4346111" y="1694495"/>
            <a:ext cx="1950182" cy="841565"/>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数据库表结构设计</a:t>
            </a:r>
            <a:endParaRPr lang="en-US" sz="1440" dirty="0"/>
          </a:p>
        </p:txBody>
      </p:sp>
      <p:sp>
        <p:nvSpPr>
          <p:cNvPr id="12" name="Text 9"/>
          <p:cNvSpPr/>
          <p:nvPr/>
        </p:nvSpPr>
        <p:spPr>
          <a:xfrm>
            <a:off x="4346048" y="2607712"/>
            <a:ext cx="1950182"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PingFang SC" pitchFamily="34" charset="0"/>
                <a:ea typeface="PingFang SC" pitchFamily="34" charset="-122"/>
                <a:cs typeface="PingFang SC" pitchFamily="34" charset="-120"/>
              </a:rPr>
              <a:t>详细描述系统中各个表的设计，包括字段名、数据类型、主键/外键等信息，如“管理员”表包含id（主键）、username、password等字段。</a:t>
            </a:r>
            <a:endParaRPr lang="en-US" sz="14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数据表结构定义</a:t>
            </a:r>
            <a:endParaRPr lang="en-US" sz="1440" dirty="0"/>
          </a:p>
        </p:txBody>
      </p:sp>
      <p:sp>
        <p:nvSpPr>
          <p:cNvPr id="3" name="Shape 1"/>
          <p:cNvSpPr/>
          <p:nvPr/>
        </p:nvSpPr>
        <p:spPr>
          <a:xfrm rot="-2700000">
            <a:off x="7333482" y="4195378"/>
            <a:ext cx="350690" cy="346969"/>
          </a:xfrm>
          <a:custGeom>
            <a:avLst/>
            <a:gdLst/>
            <a:ahLst/>
            <a:cxnLst/>
            <a:rect l="l" t="t" r="r" b="b"/>
            <a:pathLst>
              <a:path w="350690" h="346969">
                <a:moveTo>
                  <a:pt x="0" y="0"/>
                </a:moveTo>
                <a:moveTo>
                  <a:pt x="0" y="0"/>
                </a:moveTo>
                <a:lnTo>
                  <a:pt x="0" y="346969"/>
                </a:lnTo>
                <a:lnTo>
                  <a:pt x="350690" y="346969"/>
                </a:lnTo>
                <a:close/>
              </a:path>
            </a:pathLst>
          </a:custGeom>
          <a:solidFill>
            <a:srgbClr val="328CB2"/>
          </a:solidFill>
        </p:spPr>
      </p:sp>
      <p:sp>
        <p:nvSpPr>
          <p:cNvPr id="4" name="Shape 2"/>
          <p:cNvSpPr/>
          <p:nvPr/>
        </p:nvSpPr>
        <p:spPr>
          <a:xfrm>
            <a:off x="6171872" y="1555689"/>
            <a:ext cx="2673911" cy="2923311"/>
          </a:xfrm>
          <a:custGeom>
            <a:avLst/>
            <a:gdLst/>
            <a:ahLst/>
            <a:cxnLst/>
            <a:rect l="l" t="t" r="r" b="b"/>
            <a:pathLst>
              <a:path w="2673911" h="2923311">
                <a:moveTo>
                  <a:pt x="334239" y="0"/>
                </a:moveTo>
                <a:moveTo>
                  <a:pt x="334239" y="0"/>
                </a:moveTo>
                <a:lnTo>
                  <a:pt x="2339672" y="0"/>
                </a:lnTo>
                <a:quadBezTo>
                  <a:pt x="2673911" y="0"/>
                  <a:pt x="2673911" y="311807"/>
                </a:quadBezTo>
                <a:lnTo>
                  <a:pt x="2673911" y="2611504"/>
                </a:lnTo>
                <a:quadBezTo>
                  <a:pt x="2673911" y="2923311"/>
                  <a:pt x="2339672" y="2923311"/>
                </a:quadBezTo>
                <a:lnTo>
                  <a:pt x="334239" y="2923311"/>
                </a:lnTo>
                <a:quadBezTo>
                  <a:pt x="0" y="2923311"/>
                  <a:pt x="0" y="2611504"/>
                </a:quadBezTo>
                <a:lnTo>
                  <a:pt x="0" y="311807"/>
                </a:lnTo>
                <a:quadBezTo>
                  <a:pt x="0" y="0"/>
                  <a:pt x="334239" y="0"/>
                </a:quadBezTo>
                <a:close/>
              </a:path>
            </a:pathLst>
          </a:custGeom>
          <a:solidFill>
            <a:srgbClr val="328CB2"/>
          </a:solidFill>
        </p:spPr>
      </p:sp>
      <p:sp>
        <p:nvSpPr>
          <p:cNvPr id="5" name="Shape 3"/>
          <p:cNvSpPr/>
          <p:nvPr/>
        </p:nvSpPr>
        <p:spPr>
          <a:xfrm>
            <a:off x="3235044" y="1543220"/>
            <a:ext cx="2673911" cy="2923311"/>
          </a:xfrm>
          <a:custGeom>
            <a:avLst/>
            <a:gdLst/>
            <a:ahLst/>
            <a:cxnLst/>
            <a:rect l="l" t="t" r="r" b="b"/>
            <a:pathLst>
              <a:path w="2673911" h="2923311">
                <a:moveTo>
                  <a:pt x="334239" y="0"/>
                </a:moveTo>
                <a:moveTo>
                  <a:pt x="334239" y="0"/>
                </a:moveTo>
                <a:lnTo>
                  <a:pt x="2339672" y="0"/>
                </a:lnTo>
                <a:quadBezTo>
                  <a:pt x="2673911" y="0"/>
                  <a:pt x="2673911" y="311807"/>
                </a:quadBezTo>
                <a:lnTo>
                  <a:pt x="2673911" y="2611504"/>
                </a:lnTo>
                <a:quadBezTo>
                  <a:pt x="2673911" y="2923311"/>
                  <a:pt x="2339672" y="2923311"/>
                </a:quadBezTo>
                <a:lnTo>
                  <a:pt x="334239" y="2923311"/>
                </a:lnTo>
                <a:quadBezTo>
                  <a:pt x="0" y="2923311"/>
                  <a:pt x="0" y="2611504"/>
                </a:quadBezTo>
                <a:lnTo>
                  <a:pt x="0" y="311807"/>
                </a:lnTo>
                <a:quadBezTo>
                  <a:pt x="0" y="0"/>
                  <a:pt x="334239" y="0"/>
                </a:quadBezTo>
                <a:close/>
              </a:path>
            </a:pathLst>
          </a:custGeom>
          <a:solidFill>
            <a:srgbClr val="69BBE3"/>
          </a:solidFill>
        </p:spPr>
      </p:sp>
      <p:sp>
        <p:nvSpPr>
          <p:cNvPr id="6" name="Shape 4"/>
          <p:cNvSpPr/>
          <p:nvPr/>
        </p:nvSpPr>
        <p:spPr>
          <a:xfrm rot="-2700000">
            <a:off x="4396655" y="4195378"/>
            <a:ext cx="350690" cy="346969"/>
          </a:xfrm>
          <a:custGeom>
            <a:avLst/>
            <a:gdLst/>
            <a:ahLst/>
            <a:cxnLst/>
            <a:rect l="l" t="t" r="r" b="b"/>
            <a:pathLst>
              <a:path w="350690" h="346969">
                <a:moveTo>
                  <a:pt x="0" y="0"/>
                </a:moveTo>
                <a:moveTo>
                  <a:pt x="0" y="0"/>
                </a:moveTo>
                <a:lnTo>
                  <a:pt x="0" y="346969"/>
                </a:lnTo>
                <a:lnTo>
                  <a:pt x="350690" y="346969"/>
                </a:lnTo>
                <a:close/>
              </a:path>
            </a:pathLst>
          </a:custGeom>
          <a:solidFill>
            <a:srgbClr val="69BBE3"/>
          </a:solidFill>
        </p:spPr>
      </p:sp>
      <p:sp>
        <p:nvSpPr>
          <p:cNvPr id="7" name="Shape 5"/>
          <p:cNvSpPr/>
          <p:nvPr/>
        </p:nvSpPr>
        <p:spPr>
          <a:xfrm>
            <a:off x="298217" y="1555689"/>
            <a:ext cx="2673911" cy="2923311"/>
          </a:xfrm>
          <a:custGeom>
            <a:avLst/>
            <a:gdLst/>
            <a:ahLst/>
            <a:cxnLst/>
            <a:rect l="l" t="t" r="r" b="b"/>
            <a:pathLst>
              <a:path w="2673911" h="2923311">
                <a:moveTo>
                  <a:pt x="334239" y="0"/>
                </a:moveTo>
                <a:moveTo>
                  <a:pt x="334239" y="0"/>
                </a:moveTo>
                <a:lnTo>
                  <a:pt x="2339672" y="0"/>
                </a:lnTo>
                <a:quadBezTo>
                  <a:pt x="2673911" y="0"/>
                  <a:pt x="2673911" y="311807"/>
                </a:quadBezTo>
                <a:lnTo>
                  <a:pt x="2673911" y="2611504"/>
                </a:lnTo>
                <a:quadBezTo>
                  <a:pt x="2673911" y="2923311"/>
                  <a:pt x="2339672" y="2923311"/>
                </a:quadBezTo>
                <a:lnTo>
                  <a:pt x="334239" y="2923311"/>
                </a:lnTo>
                <a:quadBezTo>
                  <a:pt x="0" y="2923311"/>
                  <a:pt x="0" y="2611504"/>
                </a:quadBezTo>
                <a:lnTo>
                  <a:pt x="0" y="311807"/>
                </a:lnTo>
                <a:quadBezTo>
                  <a:pt x="0" y="0"/>
                  <a:pt x="334239" y="0"/>
                </a:quadBezTo>
                <a:close/>
              </a:path>
            </a:pathLst>
          </a:custGeom>
          <a:solidFill>
            <a:srgbClr val="328CB2"/>
          </a:solidFill>
        </p:spPr>
      </p:sp>
      <p:sp>
        <p:nvSpPr>
          <p:cNvPr id="8" name="Shape 6"/>
          <p:cNvSpPr/>
          <p:nvPr/>
        </p:nvSpPr>
        <p:spPr>
          <a:xfrm rot="-2700000">
            <a:off x="1459828" y="4195378"/>
            <a:ext cx="350690" cy="346969"/>
          </a:xfrm>
          <a:custGeom>
            <a:avLst/>
            <a:gdLst/>
            <a:ahLst/>
            <a:cxnLst/>
            <a:rect l="l" t="t" r="r" b="b"/>
            <a:pathLst>
              <a:path w="350690" h="346969">
                <a:moveTo>
                  <a:pt x="0" y="0"/>
                </a:moveTo>
                <a:moveTo>
                  <a:pt x="0" y="0"/>
                </a:moveTo>
                <a:lnTo>
                  <a:pt x="0" y="346969"/>
                </a:lnTo>
                <a:lnTo>
                  <a:pt x="350690" y="346969"/>
                </a:lnTo>
                <a:close/>
              </a:path>
            </a:pathLst>
          </a:custGeom>
          <a:solidFill>
            <a:srgbClr val="328CB2"/>
          </a:solidFill>
        </p:spPr>
      </p:sp>
      <p:sp>
        <p:nvSpPr>
          <p:cNvPr id="9" name="Text 7"/>
          <p:cNvSpPr/>
          <p:nvPr/>
        </p:nvSpPr>
        <p:spPr>
          <a:xfrm>
            <a:off x="387944" y="2258344"/>
            <a:ext cx="2494458" cy="525370"/>
          </a:xfrm>
          <a:prstGeom prst="rect">
            <a:avLst/>
          </a:prstGeom>
          <a:noFill/>
        </p:spPr>
        <p:txBody>
          <a:bodyPr wrap="square" lIns="95250" tIns="95250" rIns="95250" bIns="95250" rtlCol="0" anchor="t"/>
          <a:lstStyle/>
          <a:p>
            <a:pPr marL="0" indent="0" algn="ctr">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用户信息表设计</a:t>
            </a:r>
            <a:endParaRPr lang="en-US" sz="1440" dirty="0"/>
          </a:p>
        </p:txBody>
      </p:sp>
      <p:pic>
        <p:nvPicPr>
          <p:cNvPr id="10" name="Image 0" descr="https://sgw-dx.xf-yun.com/api/v1/sparkdesk/_17468669855881703dcbdacb843f6a0fd76296e3c0f99.jpg?authorization=c2ltcGxlLWp3dCBhaz1zcGFya2Rlc2s4MDAwMDAwMDAwMDE7ZXhwPTMzMjM2NjY5ODU7YWxnbz1obWFjLXNoYTI1NjtzaWc9dWd4N3RYeXk4WDBKNjdhYzB2Q0Q3RDYvWWhYNld6Z2lIbFdxbHhwaTdtYz0=&amp;x_location=7YfmxI7B7uKO7jlRxIftd6UpfPD="/>
          <p:cNvPicPr>
            <a:picLocks noChangeAspect="1"/>
          </p:cNvPicPr>
          <p:nvPr/>
        </p:nvPicPr>
        <p:blipFill>
          <a:blip r:embed="rId2"/>
          <a:srcRect/>
          <a:stretch>
            <a:fillRect/>
          </a:stretch>
        </p:blipFill>
        <p:spPr>
          <a:xfrm>
            <a:off x="1037155" y="932342"/>
            <a:ext cx="1196035" cy="1196035"/>
          </a:xfrm>
          <a:prstGeom prst="ellipse">
            <a:avLst/>
          </a:prstGeom>
        </p:spPr>
      </p:pic>
      <p:sp>
        <p:nvSpPr>
          <p:cNvPr id="11" name="Text 8"/>
          <p:cNvSpPr/>
          <p:nvPr/>
        </p:nvSpPr>
        <p:spPr>
          <a:xfrm>
            <a:off x="387944" y="2796881"/>
            <a:ext cx="2494458"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PingFang SC" pitchFamily="34" charset="0"/>
                <a:ea typeface="PingFang SC" pitchFamily="34" charset="-122"/>
                <a:cs typeface="PingFang SC" pitchFamily="34" charset="-120"/>
              </a:rPr>
              <a:t>用户信息表用于存储系统用户的基本信息，包括用户ID、姓名、联系方式等，确保用户数据的准确性和完整性，为预约挂号提供基础数据支持。</a:t>
            </a:r>
            <a:endParaRPr lang="en-US" sz="1440" dirty="0"/>
          </a:p>
        </p:txBody>
      </p:sp>
      <p:sp>
        <p:nvSpPr>
          <p:cNvPr id="12" name="Text 9"/>
          <p:cNvSpPr/>
          <p:nvPr/>
        </p:nvSpPr>
        <p:spPr>
          <a:xfrm>
            <a:off x="3324771" y="2258344"/>
            <a:ext cx="2494458" cy="525370"/>
          </a:xfrm>
          <a:prstGeom prst="rect">
            <a:avLst/>
          </a:prstGeom>
          <a:noFill/>
        </p:spPr>
        <p:txBody>
          <a:bodyPr wrap="square" lIns="95250" tIns="95250" rIns="95250" bIns="95250" rtlCol="0" anchor="t"/>
          <a:lstStyle/>
          <a:p>
            <a:pPr marL="0" indent="0" algn="ctr">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预约记录表结构</a:t>
            </a:r>
            <a:endParaRPr lang="en-US" sz="1440" dirty="0"/>
          </a:p>
        </p:txBody>
      </p:sp>
      <p:pic>
        <p:nvPicPr>
          <p:cNvPr id="13" name="Image 1" descr="https://sgw-dx.xf-yun.com/api/v1/sparkdesk/_1746866988288061c4abbbaae4b1a8de2d9a769eee732.jpg?authorization=c2ltcGxlLWp3dCBhaz1zcGFya2Rlc2s4MDAwMDAwMDAwMDE7ZXhwPTMzMjM2NjY5ODg7YWxnbz1obWFjLXNoYTI1NjtzaWc9WS9xVnVYSUxZUUFCU1V3NmRKSFcyK2hmbVozUkY4S0wxU1MzN3RkQWgrRT0=&amp;x_location=7YfmxI7B7uKO7jlRxIftd6UpfPD="/>
          <p:cNvPicPr>
            <a:picLocks noChangeAspect="1"/>
          </p:cNvPicPr>
          <p:nvPr/>
        </p:nvPicPr>
        <p:blipFill>
          <a:blip r:embed="rId3"/>
          <a:srcRect/>
          <a:stretch>
            <a:fillRect/>
          </a:stretch>
        </p:blipFill>
        <p:spPr>
          <a:xfrm>
            <a:off x="3973982" y="932342"/>
            <a:ext cx="1196035" cy="1196035"/>
          </a:xfrm>
          <a:prstGeom prst="ellipse">
            <a:avLst/>
          </a:prstGeom>
        </p:spPr>
      </p:pic>
      <p:sp>
        <p:nvSpPr>
          <p:cNvPr id="14" name="Text 10"/>
          <p:cNvSpPr/>
          <p:nvPr/>
        </p:nvSpPr>
        <p:spPr>
          <a:xfrm>
            <a:off x="3324771" y="2796881"/>
            <a:ext cx="2494458"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PingFang SC" pitchFamily="34" charset="0"/>
                <a:ea typeface="PingFang SC" pitchFamily="34" charset="-122"/>
                <a:cs typeface="PingFang SC" pitchFamily="34" charset="-120"/>
              </a:rPr>
              <a:t>预约记录表详细记录了用户的预约信息，如预约时间、科室、医生等，通过合理的表结构设计，实现对预约数据的高效管理和查询。</a:t>
            </a:r>
            <a:endParaRPr lang="en-US" sz="1440" dirty="0"/>
          </a:p>
        </p:txBody>
      </p:sp>
      <p:sp>
        <p:nvSpPr>
          <p:cNvPr id="15" name="Text 11"/>
          <p:cNvSpPr/>
          <p:nvPr/>
        </p:nvSpPr>
        <p:spPr>
          <a:xfrm>
            <a:off x="6261598" y="2258344"/>
            <a:ext cx="2494458" cy="525370"/>
          </a:xfrm>
          <a:prstGeom prst="rect">
            <a:avLst/>
          </a:prstGeom>
          <a:noFill/>
        </p:spPr>
        <p:txBody>
          <a:bodyPr wrap="square" lIns="95250" tIns="95250" rIns="95250" bIns="95250" rtlCol="0" anchor="t"/>
          <a:lstStyle/>
          <a:p>
            <a:pPr marL="0" indent="0" algn="ctr">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医生排班表定义</a:t>
            </a:r>
            <a:endParaRPr lang="en-US" sz="1440" dirty="0"/>
          </a:p>
        </p:txBody>
      </p:sp>
      <p:pic>
        <p:nvPicPr>
          <p:cNvPr id="16" name="Image 2" descr="https://sgw-dx.xf-yun.com/api/v1/sparkdesk/_1746866991091da86b0a6d95e44dfb3652c6c2fb460f8.jpg?authorization=c2ltcGxlLWp3dCBhaz1zcGFya2Rlc2s4MDAwMDAwMDAwMDE7ZXhwPTMzMjM2NjY5OTE7YWxnbz1obWFjLXNoYTI1NjtzaWc9UVR0Wlh2dUlMcUxVTFNmeXNlWFdMdDdhTnNzejgyZEg4cmFpTU5idzN2Yz0=&amp;x_location=7YfmxI7B7uKO7jlRxIftd6UpfPD="/>
          <p:cNvPicPr>
            <a:picLocks noChangeAspect="1"/>
          </p:cNvPicPr>
          <p:nvPr/>
        </p:nvPicPr>
        <p:blipFill>
          <a:blip r:embed="rId4"/>
          <a:srcRect/>
          <a:stretch>
            <a:fillRect/>
          </a:stretch>
        </p:blipFill>
        <p:spPr>
          <a:xfrm>
            <a:off x="6910810" y="932342"/>
            <a:ext cx="1196035" cy="1196035"/>
          </a:xfrm>
          <a:prstGeom prst="ellipse">
            <a:avLst/>
          </a:prstGeom>
        </p:spPr>
      </p:pic>
      <p:sp>
        <p:nvSpPr>
          <p:cNvPr id="17" name="Text 12"/>
          <p:cNvSpPr/>
          <p:nvPr/>
        </p:nvSpPr>
        <p:spPr>
          <a:xfrm>
            <a:off x="6261598" y="2796881"/>
            <a:ext cx="2494458"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FFFFFF"/>
                </a:solidFill>
                <a:latin typeface="PingFang SC" pitchFamily="34" charset="0"/>
                <a:ea typeface="PingFang SC" pitchFamily="34" charset="-122"/>
                <a:cs typeface="PingFang SC" pitchFamily="34" charset="-120"/>
              </a:rPr>
              <a:t>医生排班表反映了医生的工作时间和可预约时段，通过此表可以有效管理医生资源，优化患者就诊流程，提升医疗服务效率。</a:t>
            </a:r>
            <a:endParaRPr lang="en-US" sz="14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023" y="1222687"/>
            <a:ext cx="1882760" cy="179222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8350" b="1" dirty="0">
                <a:solidFill>
                  <a:srgbClr val="FFFFFF">
                    <a:alpha val="40000"/>
                  </a:srgbClr>
                </a:solidFill>
                <a:latin typeface="Arial" panose="020B0604020202020204" pitchFamily="34" charset="0"/>
                <a:ea typeface="Arial" panose="020B0604020202020204" pitchFamily="34" charset="-122"/>
                <a:cs typeface="Arial" panose="020B0604020202020204" pitchFamily="34" charset="-120"/>
              </a:rPr>
              <a:t>05</a:t>
            </a:r>
            <a:endParaRPr lang="en-US" sz="1440" dirty="0"/>
          </a:p>
        </p:txBody>
      </p:sp>
      <p:sp>
        <p:nvSpPr>
          <p:cNvPr id="3" name="Text 1"/>
          <p:cNvSpPr/>
          <p:nvPr/>
        </p:nvSpPr>
        <p:spPr>
          <a:xfrm>
            <a:off x="403023" y="2507428"/>
            <a:ext cx="3807290" cy="74980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系统实现</a:t>
            </a:r>
            <a:endParaRPr lang="en-US" sz="14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用户端功能</a:t>
            </a:r>
            <a:endParaRPr lang="en-US" sz="1440" dirty="0"/>
          </a:p>
        </p:txBody>
      </p:sp>
      <p:sp>
        <p:nvSpPr>
          <p:cNvPr id="3" name="Shape 1"/>
          <p:cNvSpPr/>
          <p:nvPr/>
        </p:nvSpPr>
        <p:spPr>
          <a:xfrm rot="2700000">
            <a:off x="434967" y="3156580"/>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69BBE3">
              <a:alpha val="50000"/>
            </a:srgbClr>
          </a:solidFill>
        </p:spPr>
      </p:sp>
      <p:sp>
        <p:nvSpPr>
          <p:cNvPr id="4" name="Shape 2"/>
          <p:cNvSpPr/>
          <p:nvPr/>
        </p:nvSpPr>
        <p:spPr>
          <a:xfrm rot="2700000">
            <a:off x="434967" y="1930446"/>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69BBE3">
              <a:alpha val="50000"/>
            </a:srgbClr>
          </a:solidFill>
        </p:spPr>
      </p:sp>
      <p:sp>
        <p:nvSpPr>
          <p:cNvPr id="5" name="Shape 3"/>
          <p:cNvSpPr/>
          <p:nvPr/>
        </p:nvSpPr>
        <p:spPr>
          <a:xfrm rot="2700000">
            <a:off x="434967" y="2543513"/>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328CB2"/>
          </a:solidFill>
        </p:spPr>
      </p:sp>
      <p:sp>
        <p:nvSpPr>
          <p:cNvPr id="6" name="Shape 4"/>
          <p:cNvSpPr/>
          <p:nvPr/>
        </p:nvSpPr>
        <p:spPr>
          <a:xfrm rot="2700000">
            <a:off x="434967" y="3769647"/>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328CB2"/>
          </a:solidFill>
        </p:spPr>
      </p:sp>
      <p:sp>
        <p:nvSpPr>
          <p:cNvPr id="7" name="Shape 5"/>
          <p:cNvSpPr/>
          <p:nvPr/>
        </p:nvSpPr>
        <p:spPr>
          <a:xfrm rot="2700000">
            <a:off x="434967" y="1317379"/>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328CB2"/>
          </a:solidFill>
        </p:spPr>
      </p:sp>
      <p:sp>
        <p:nvSpPr>
          <p:cNvPr id="8" name="Text 6"/>
          <p:cNvSpPr/>
          <p:nvPr/>
        </p:nvSpPr>
        <p:spPr>
          <a:xfrm>
            <a:off x="376676" y="2536963"/>
            <a:ext cx="683510"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015" b="1" dirty="0">
                <a:solidFill>
                  <a:srgbClr val="FFFFFF"/>
                </a:solidFill>
                <a:latin typeface="PingFang SC" pitchFamily="34" charset="0"/>
                <a:ea typeface="PingFang SC" pitchFamily="34" charset="-122"/>
                <a:cs typeface="PingFang SC" pitchFamily="34" charset="-120"/>
              </a:rPr>
              <a:t>02</a:t>
            </a:r>
            <a:endParaRPr lang="en-US" sz="1440" dirty="0"/>
          </a:p>
        </p:txBody>
      </p:sp>
      <p:sp>
        <p:nvSpPr>
          <p:cNvPr id="9" name="Text 7"/>
          <p:cNvSpPr/>
          <p:nvPr/>
        </p:nvSpPr>
        <p:spPr>
          <a:xfrm>
            <a:off x="376676" y="3769647"/>
            <a:ext cx="683510"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015" b="1" dirty="0">
                <a:solidFill>
                  <a:srgbClr val="FFFFFF"/>
                </a:solidFill>
                <a:latin typeface="PingFang SC" pitchFamily="34" charset="0"/>
                <a:ea typeface="PingFang SC" pitchFamily="34" charset="-122"/>
                <a:cs typeface="PingFang SC" pitchFamily="34" charset="-120"/>
              </a:rPr>
              <a:t>03</a:t>
            </a:r>
            <a:endParaRPr lang="en-US" sz="1440" dirty="0"/>
          </a:p>
        </p:txBody>
      </p:sp>
      <p:sp>
        <p:nvSpPr>
          <p:cNvPr id="10" name="Text 8"/>
          <p:cNvSpPr/>
          <p:nvPr/>
        </p:nvSpPr>
        <p:spPr>
          <a:xfrm>
            <a:off x="376676" y="1317379"/>
            <a:ext cx="683510"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015" b="1" dirty="0">
                <a:solidFill>
                  <a:srgbClr val="FFFFFF"/>
                </a:solidFill>
                <a:latin typeface="PingFang SC" pitchFamily="34" charset="0"/>
                <a:ea typeface="PingFang SC" pitchFamily="34" charset="-122"/>
                <a:cs typeface="PingFang SC" pitchFamily="34" charset="-120"/>
              </a:rPr>
              <a:t>01</a:t>
            </a:r>
            <a:endParaRPr lang="en-US" sz="1440" dirty="0"/>
          </a:p>
        </p:txBody>
      </p:sp>
      <p:sp>
        <p:nvSpPr>
          <p:cNvPr id="11" name="Shape 9"/>
          <p:cNvSpPr/>
          <p:nvPr/>
        </p:nvSpPr>
        <p:spPr>
          <a:xfrm>
            <a:off x="968258" y="1128980"/>
            <a:ext cx="7858190" cy="943726"/>
          </a:xfrm>
          <a:custGeom>
            <a:avLst/>
            <a:gdLst/>
            <a:ahLst/>
            <a:cxnLst/>
            <a:rect l="l" t="t" r="r" b="b"/>
            <a:pathLst>
              <a:path w="7858190" h="943726">
                <a:moveTo>
                  <a:pt x="109245" y="0"/>
                </a:moveTo>
                <a:moveTo>
                  <a:pt x="109245" y="0"/>
                </a:moveTo>
                <a:lnTo>
                  <a:pt x="7748946" y="0"/>
                </a:lnTo>
                <a:quadBezTo>
                  <a:pt x="7858190" y="0"/>
                  <a:pt x="7858190" y="117966"/>
                </a:quadBezTo>
                <a:lnTo>
                  <a:pt x="7858190" y="825761"/>
                </a:lnTo>
                <a:quadBezTo>
                  <a:pt x="7858190" y="943726"/>
                  <a:pt x="7748946" y="943726"/>
                </a:quadBezTo>
                <a:lnTo>
                  <a:pt x="109245" y="943726"/>
                </a:lnTo>
                <a:quadBezTo>
                  <a:pt x="0" y="943726"/>
                  <a:pt x="0" y="825761"/>
                </a:quadBezTo>
                <a:lnTo>
                  <a:pt x="0" y="117966"/>
                </a:lnTo>
                <a:quadBezTo>
                  <a:pt x="0" y="0"/>
                  <a:pt x="109245" y="0"/>
                </a:quadBezTo>
                <a:close/>
              </a:path>
            </a:pathLst>
          </a:custGeom>
          <a:solidFill>
            <a:srgbClr val="0084FF">
              <a:alpha val="0"/>
            </a:srgbClr>
          </a:solidFill>
          <a:ln w="19050">
            <a:solidFill>
              <a:srgbClr val="328CB2"/>
            </a:solidFill>
            <a:prstDash val="solid"/>
          </a:ln>
        </p:spPr>
      </p:sp>
      <p:sp>
        <p:nvSpPr>
          <p:cNvPr id="12" name="Shape 10"/>
          <p:cNvSpPr/>
          <p:nvPr/>
        </p:nvSpPr>
        <p:spPr>
          <a:xfrm>
            <a:off x="968258" y="2354848"/>
            <a:ext cx="7858190" cy="943726"/>
          </a:xfrm>
          <a:custGeom>
            <a:avLst/>
            <a:gdLst/>
            <a:ahLst/>
            <a:cxnLst/>
            <a:rect l="l" t="t" r="r" b="b"/>
            <a:pathLst>
              <a:path w="7858190" h="943726">
                <a:moveTo>
                  <a:pt x="109245" y="0"/>
                </a:moveTo>
                <a:moveTo>
                  <a:pt x="109245" y="0"/>
                </a:moveTo>
                <a:lnTo>
                  <a:pt x="7748946" y="0"/>
                </a:lnTo>
                <a:quadBezTo>
                  <a:pt x="7858190" y="0"/>
                  <a:pt x="7858190" y="117966"/>
                </a:quadBezTo>
                <a:lnTo>
                  <a:pt x="7858190" y="825761"/>
                </a:lnTo>
                <a:quadBezTo>
                  <a:pt x="7858190" y="943726"/>
                  <a:pt x="7748946" y="943726"/>
                </a:quadBezTo>
                <a:lnTo>
                  <a:pt x="109245" y="943726"/>
                </a:lnTo>
                <a:quadBezTo>
                  <a:pt x="0" y="943726"/>
                  <a:pt x="0" y="825761"/>
                </a:quadBezTo>
                <a:lnTo>
                  <a:pt x="0" y="117966"/>
                </a:lnTo>
                <a:quadBezTo>
                  <a:pt x="0" y="0"/>
                  <a:pt x="109245" y="0"/>
                </a:quadBezTo>
                <a:close/>
              </a:path>
            </a:pathLst>
          </a:custGeom>
          <a:solidFill>
            <a:srgbClr val="FFFFFF">
              <a:alpha val="0"/>
            </a:srgbClr>
          </a:solidFill>
          <a:ln w="19050">
            <a:solidFill>
              <a:srgbClr val="328CB2"/>
            </a:solidFill>
            <a:prstDash val="solid"/>
          </a:ln>
        </p:spPr>
      </p:sp>
      <p:sp>
        <p:nvSpPr>
          <p:cNvPr id="13" name="Shape 11"/>
          <p:cNvSpPr/>
          <p:nvPr/>
        </p:nvSpPr>
        <p:spPr>
          <a:xfrm>
            <a:off x="968258" y="3581248"/>
            <a:ext cx="7858190" cy="943726"/>
          </a:xfrm>
          <a:custGeom>
            <a:avLst/>
            <a:gdLst/>
            <a:ahLst/>
            <a:cxnLst/>
            <a:rect l="l" t="t" r="r" b="b"/>
            <a:pathLst>
              <a:path w="7858190" h="943726">
                <a:moveTo>
                  <a:pt x="109245" y="0"/>
                </a:moveTo>
                <a:moveTo>
                  <a:pt x="109245" y="0"/>
                </a:moveTo>
                <a:lnTo>
                  <a:pt x="7748946" y="0"/>
                </a:lnTo>
                <a:quadBezTo>
                  <a:pt x="7858190" y="0"/>
                  <a:pt x="7858190" y="117966"/>
                </a:quadBezTo>
                <a:lnTo>
                  <a:pt x="7858190" y="825761"/>
                </a:lnTo>
                <a:quadBezTo>
                  <a:pt x="7858190" y="943726"/>
                  <a:pt x="7748946" y="943726"/>
                </a:quadBezTo>
                <a:lnTo>
                  <a:pt x="109245" y="943726"/>
                </a:lnTo>
                <a:quadBezTo>
                  <a:pt x="0" y="943726"/>
                  <a:pt x="0" y="825761"/>
                </a:quadBezTo>
                <a:lnTo>
                  <a:pt x="0" y="117966"/>
                </a:lnTo>
                <a:quadBezTo>
                  <a:pt x="0" y="0"/>
                  <a:pt x="109245" y="0"/>
                </a:quadBezTo>
                <a:close/>
              </a:path>
            </a:pathLst>
          </a:custGeom>
          <a:solidFill>
            <a:srgbClr val="FFFFFF">
              <a:alpha val="0"/>
            </a:srgbClr>
          </a:solidFill>
          <a:ln w="19050">
            <a:solidFill>
              <a:srgbClr val="328CB2"/>
            </a:solidFill>
            <a:prstDash val="solid"/>
          </a:ln>
        </p:spPr>
      </p:sp>
      <p:sp>
        <p:nvSpPr>
          <p:cNvPr id="14" name="Text 12"/>
          <p:cNvSpPr/>
          <p:nvPr/>
        </p:nvSpPr>
        <p:spPr>
          <a:xfrm>
            <a:off x="1119309" y="1413391"/>
            <a:ext cx="2858315"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患者信息管理</a:t>
            </a:r>
            <a:endParaRPr lang="en-US" sz="1440" dirty="0"/>
          </a:p>
        </p:txBody>
      </p:sp>
      <p:sp>
        <p:nvSpPr>
          <p:cNvPr id="15" name="Text 13"/>
          <p:cNvSpPr/>
          <p:nvPr/>
        </p:nvSpPr>
        <p:spPr>
          <a:xfrm>
            <a:off x="4127857" y="1289947"/>
            <a:ext cx="4501915" cy="621792"/>
          </a:xfrm>
          <a:prstGeom prst="rect">
            <a:avLst/>
          </a:prstGeom>
          <a:noFill/>
        </p:spPr>
        <p:txBody>
          <a:bodyPr wrap="square" lIns="95250" tIns="95250" rIns="95250" bIns="95250" rtlCol="0" anchor="ctr"/>
          <a:lstStyle/>
          <a:p>
            <a:pPr marL="0" indent="0">
              <a:lnSpc>
                <a:spcPct val="100000"/>
              </a:lnSpc>
              <a:buNone/>
            </a:pPr>
            <a:r>
              <a:rPr lang="en-US" sz="1150" dirty="0">
                <a:solidFill>
                  <a:srgbClr val="333333"/>
                </a:solidFill>
                <a:latin typeface="PingFang SC" pitchFamily="34" charset="0"/>
                <a:ea typeface="PingFang SC" pitchFamily="34" charset="-122"/>
                <a:cs typeface="PingFang SC" pitchFamily="34" charset="-120"/>
              </a:rPr>
              <a:t>用户通过注册登录系统，可管理个人信息和病历记录，确保信息准确及时。同时，用户还能预约医生看诊时间，提高就医效率。</a:t>
            </a:r>
            <a:endParaRPr lang="en-US" sz="1440" dirty="0"/>
          </a:p>
        </p:txBody>
      </p:sp>
      <p:sp>
        <p:nvSpPr>
          <p:cNvPr id="16" name="Text 14"/>
          <p:cNvSpPr/>
          <p:nvPr/>
        </p:nvSpPr>
        <p:spPr>
          <a:xfrm>
            <a:off x="1119309" y="2625544"/>
            <a:ext cx="2858315" cy="402336"/>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预约挂号与就诊提醒</a:t>
            </a:r>
            <a:endParaRPr lang="en-US" sz="1440" dirty="0"/>
          </a:p>
        </p:txBody>
      </p:sp>
      <p:sp>
        <p:nvSpPr>
          <p:cNvPr id="17" name="Text 15"/>
          <p:cNvSpPr/>
          <p:nvPr/>
        </p:nvSpPr>
        <p:spPr>
          <a:xfrm>
            <a:off x="4127857" y="2515816"/>
            <a:ext cx="4501915" cy="621792"/>
          </a:xfrm>
          <a:prstGeom prst="rect">
            <a:avLst/>
          </a:prstGeom>
          <a:noFill/>
        </p:spPr>
        <p:txBody>
          <a:bodyPr wrap="square" lIns="95250" tIns="95250" rIns="95250" bIns="95250" rtlCol="0" anchor="ct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用户可通过网络或移动设备预约挂号，选择科室、医生及就诊时间。系统会实时更新号源信息，并在就诊前通过短信或系统消息提醒用户。</a:t>
            </a:r>
            <a:endParaRPr lang="en-US" sz="1440" dirty="0"/>
          </a:p>
        </p:txBody>
      </p:sp>
      <p:sp>
        <p:nvSpPr>
          <p:cNvPr id="18" name="Text 16"/>
          <p:cNvSpPr/>
          <p:nvPr/>
        </p:nvSpPr>
        <p:spPr>
          <a:xfrm>
            <a:off x="1119515" y="3865659"/>
            <a:ext cx="2858315"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取消挂号与退费申请</a:t>
            </a:r>
            <a:endParaRPr lang="en-US" sz="1440" dirty="0"/>
          </a:p>
        </p:txBody>
      </p:sp>
      <p:sp>
        <p:nvSpPr>
          <p:cNvPr id="19" name="Text 17"/>
          <p:cNvSpPr/>
          <p:nvPr/>
        </p:nvSpPr>
        <p:spPr>
          <a:xfrm>
            <a:off x="4129686" y="3733071"/>
            <a:ext cx="4500086" cy="621792"/>
          </a:xfrm>
          <a:prstGeom prst="rect">
            <a:avLst/>
          </a:prstGeom>
          <a:noFill/>
        </p:spPr>
        <p:txBody>
          <a:bodyPr wrap="square" lIns="95250" tIns="95250" rIns="95250" bIns="95250" rtlCol="0" anchor="ct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在突发情况下，用户可通过系统取消挂号并申请退费。系统根据医院政策处理退费申请，确保资金安全，用户可随时查看退费进度。</a:t>
            </a:r>
            <a:endParaRPr lang="en-US" sz="14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管理员端功能</a:t>
            </a:r>
            <a:endParaRPr lang="en-US" sz="1440" dirty="0"/>
          </a:p>
        </p:txBody>
      </p:sp>
      <p:sp>
        <p:nvSpPr>
          <p:cNvPr id="3" name="Shape 1"/>
          <p:cNvSpPr/>
          <p:nvPr/>
        </p:nvSpPr>
        <p:spPr>
          <a:xfrm>
            <a:off x="1141714" y="1725432"/>
            <a:ext cx="841689" cy="841689"/>
          </a:xfrm>
          <a:custGeom>
            <a:avLst/>
            <a:gdLst/>
            <a:ahLst/>
            <a:cxnLst/>
            <a:rect l="l" t="t" r="r" b="b"/>
            <a:pathLst>
              <a:path w="841689" h="841689">
                <a:moveTo>
                  <a:pt x="420845" y="0"/>
                </a:moveTo>
                <a:moveTo>
                  <a:pt x="420845" y="0"/>
                </a:moveTo>
                <a:cubicBezTo>
                  <a:pt x="653115" y="0"/>
                  <a:pt x="841689" y="188574"/>
                  <a:pt x="841689" y="420845"/>
                </a:cubicBezTo>
                <a:cubicBezTo>
                  <a:pt x="841689" y="653115"/>
                  <a:pt x="653115" y="841689"/>
                  <a:pt x="420845" y="841689"/>
                </a:cubicBezTo>
                <a:cubicBezTo>
                  <a:pt x="188574" y="841689"/>
                  <a:pt x="0" y="653115"/>
                  <a:pt x="0" y="420845"/>
                </a:cubicBezTo>
                <a:cubicBezTo>
                  <a:pt x="0" y="188574"/>
                  <a:pt x="188574" y="0"/>
                  <a:pt x="420845" y="0"/>
                </a:cubicBezTo>
                <a:close/>
              </a:path>
            </a:pathLst>
          </a:custGeom>
          <a:solidFill>
            <a:srgbClr val="328CB2">
              <a:alpha val="60000"/>
            </a:srgbClr>
          </a:solidFill>
        </p:spPr>
      </p:sp>
      <p:sp>
        <p:nvSpPr>
          <p:cNvPr id="4" name="Shape 2"/>
          <p:cNvSpPr/>
          <p:nvPr/>
        </p:nvSpPr>
        <p:spPr>
          <a:xfrm>
            <a:off x="423112" y="2363867"/>
            <a:ext cx="2278893" cy="2220339"/>
          </a:xfrm>
          <a:custGeom>
            <a:avLst/>
            <a:gdLst/>
            <a:ahLst/>
            <a:cxnLst/>
            <a:rect l="l" t="t" r="r" b="b"/>
            <a:pathLst>
              <a:path w="2278893" h="2220339">
                <a:moveTo>
                  <a:pt x="569723" y="0"/>
                </a:moveTo>
                <a:moveTo>
                  <a:pt x="569723" y="0"/>
                </a:moveTo>
                <a:cubicBezTo>
                  <a:pt x="255284" y="0"/>
                  <a:pt x="0" y="497450"/>
                  <a:pt x="0" y="1110170"/>
                </a:cubicBezTo>
                <a:cubicBezTo>
                  <a:pt x="0" y="1722889"/>
                  <a:pt x="255284" y="2220339"/>
                  <a:pt x="569723" y="2220339"/>
                </a:cubicBezTo>
                <a:lnTo>
                  <a:pt x="1709170" y="2220339"/>
                </a:lnTo>
                <a:cubicBezTo>
                  <a:pt x="2023609" y="2220339"/>
                  <a:pt x="2278893" y="1722889"/>
                  <a:pt x="2278893" y="1110170"/>
                </a:cubicBezTo>
                <a:cubicBezTo>
                  <a:pt x="2278893" y="497450"/>
                  <a:pt x="2023609" y="0"/>
                  <a:pt x="1709170" y="0"/>
                </a:cubicBezTo>
                <a:lnTo>
                  <a:pt x="569723" y="0"/>
                </a:lnTo>
                <a:close/>
              </a:path>
            </a:pathLst>
          </a:custGeom>
          <a:solidFill>
            <a:srgbClr val="328CB2">
              <a:alpha val="10196"/>
            </a:srgbClr>
          </a:solidFill>
          <a:ln w="9525">
            <a:solidFill>
              <a:srgbClr val="328CB2">
                <a:alpha val="70196"/>
              </a:srgbClr>
            </a:solidFill>
            <a:prstDash val="solid"/>
          </a:ln>
        </p:spPr>
      </p:sp>
      <p:sp>
        <p:nvSpPr>
          <p:cNvPr id="5" name="Shape 3"/>
          <p:cNvSpPr/>
          <p:nvPr/>
        </p:nvSpPr>
        <p:spPr>
          <a:xfrm>
            <a:off x="571703" y="2363867"/>
            <a:ext cx="1981712" cy="583130"/>
          </a:xfrm>
          <a:custGeom>
            <a:avLst/>
            <a:gdLst/>
            <a:ahLst/>
            <a:cxnLst/>
            <a:rect l="l" t="t" r="r" b="b"/>
            <a:pathLst>
              <a:path w="1981712" h="583130">
                <a:moveTo>
                  <a:pt x="291565" y="0"/>
                </a:moveTo>
                <a:moveTo>
                  <a:pt x="291565" y="0"/>
                </a:moveTo>
                <a:lnTo>
                  <a:pt x="1690147" y="0"/>
                </a:lnTo>
                <a:quadBezTo>
                  <a:pt x="1981712" y="0"/>
                  <a:pt x="1981712" y="291565"/>
                </a:quadBezTo>
                <a:lnTo>
                  <a:pt x="1981712" y="291565"/>
                </a:lnTo>
                <a:quadBezTo>
                  <a:pt x="1981712" y="583130"/>
                  <a:pt x="1690147" y="583130"/>
                </a:quadBezTo>
                <a:lnTo>
                  <a:pt x="291565" y="583130"/>
                </a:lnTo>
                <a:quadBezTo>
                  <a:pt x="0" y="583130"/>
                  <a:pt x="0" y="291565"/>
                </a:quadBezTo>
                <a:lnTo>
                  <a:pt x="0" y="291565"/>
                </a:lnTo>
                <a:quadBezTo>
                  <a:pt x="0" y="0"/>
                  <a:pt x="291565" y="0"/>
                </a:quadBezTo>
                <a:close/>
              </a:path>
            </a:pathLst>
          </a:custGeom>
          <a:solidFill>
            <a:srgbClr val="328CB2"/>
          </a:solidFill>
        </p:spPr>
      </p:sp>
      <p:sp>
        <p:nvSpPr>
          <p:cNvPr id="6" name="Text 4"/>
          <p:cNvSpPr/>
          <p:nvPr/>
        </p:nvSpPr>
        <p:spPr>
          <a:xfrm>
            <a:off x="1141714" y="1725432"/>
            <a:ext cx="841689" cy="78638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3170" b="1" dirty="0">
                <a:solidFill>
                  <a:srgbClr val="FFFFFF"/>
                </a:solidFill>
                <a:latin typeface="PingFang SC" pitchFamily="34" charset="0"/>
                <a:ea typeface="PingFang SC" pitchFamily="34" charset="-122"/>
                <a:cs typeface="PingFang SC" pitchFamily="34" charset="-120"/>
              </a:rPr>
              <a:t>01</a:t>
            </a:r>
            <a:endParaRPr lang="en-US" sz="1440" dirty="0"/>
          </a:p>
        </p:txBody>
      </p:sp>
      <p:pic>
        <p:nvPicPr>
          <p:cNvPr id="7" name="Image 0" descr="preencoded.png"/>
          <p:cNvPicPr>
            <a:picLocks noChangeAspect="1"/>
          </p:cNvPicPr>
          <p:nvPr/>
        </p:nvPicPr>
        <p:blipFill>
          <a:blip r:embed="rId2"/>
          <a:stretch>
            <a:fillRect/>
          </a:stretch>
        </p:blipFill>
        <p:spPr>
          <a:xfrm>
            <a:off x="715720" y="3042969"/>
            <a:ext cx="8171972" cy="1608544"/>
          </a:xfrm>
          <a:prstGeom prst="rect">
            <a:avLst/>
          </a:prstGeom>
        </p:spPr>
      </p:pic>
      <p:sp>
        <p:nvSpPr>
          <p:cNvPr id="8" name="Shape 5"/>
          <p:cNvSpPr/>
          <p:nvPr/>
        </p:nvSpPr>
        <p:spPr>
          <a:xfrm>
            <a:off x="3968275" y="1355325"/>
            <a:ext cx="841689" cy="841689"/>
          </a:xfrm>
          <a:custGeom>
            <a:avLst/>
            <a:gdLst/>
            <a:ahLst/>
            <a:cxnLst/>
            <a:rect l="l" t="t" r="r" b="b"/>
            <a:pathLst>
              <a:path w="841689" h="841689">
                <a:moveTo>
                  <a:pt x="420845" y="0"/>
                </a:moveTo>
                <a:moveTo>
                  <a:pt x="420845" y="0"/>
                </a:moveTo>
                <a:cubicBezTo>
                  <a:pt x="653115" y="0"/>
                  <a:pt x="841689" y="188574"/>
                  <a:pt x="841689" y="420845"/>
                </a:cubicBezTo>
                <a:cubicBezTo>
                  <a:pt x="841689" y="653115"/>
                  <a:pt x="653115" y="841689"/>
                  <a:pt x="420845" y="841689"/>
                </a:cubicBezTo>
                <a:cubicBezTo>
                  <a:pt x="188574" y="841689"/>
                  <a:pt x="0" y="653115"/>
                  <a:pt x="0" y="420845"/>
                </a:cubicBezTo>
                <a:cubicBezTo>
                  <a:pt x="0" y="188574"/>
                  <a:pt x="188574" y="0"/>
                  <a:pt x="420845" y="0"/>
                </a:cubicBezTo>
                <a:close/>
              </a:path>
            </a:pathLst>
          </a:custGeom>
          <a:solidFill>
            <a:srgbClr val="328CB2">
              <a:alpha val="60000"/>
            </a:srgbClr>
          </a:solidFill>
        </p:spPr>
      </p:sp>
      <p:sp>
        <p:nvSpPr>
          <p:cNvPr id="9" name="Shape 6"/>
          <p:cNvSpPr/>
          <p:nvPr/>
        </p:nvSpPr>
        <p:spPr>
          <a:xfrm>
            <a:off x="3249674" y="1993760"/>
            <a:ext cx="2278893" cy="2220339"/>
          </a:xfrm>
          <a:custGeom>
            <a:avLst/>
            <a:gdLst/>
            <a:ahLst/>
            <a:cxnLst/>
            <a:rect l="l" t="t" r="r" b="b"/>
            <a:pathLst>
              <a:path w="2278893" h="2220339">
                <a:moveTo>
                  <a:pt x="569723" y="0"/>
                </a:moveTo>
                <a:moveTo>
                  <a:pt x="569723" y="0"/>
                </a:moveTo>
                <a:cubicBezTo>
                  <a:pt x="255284" y="0"/>
                  <a:pt x="0" y="497450"/>
                  <a:pt x="0" y="1110170"/>
                </a:cubicBezTo>
                <a:cubicBezTo>
                  <a:pt x="0" y="1722889"/>
                  <a:pt x="255284" y="2220339"/>
                  <a:pt x="569723" y="2220339"/>
                </a:cubicBezTo>
                <a:lnTo>
                  <a:pt x="1709170" y="2220339"/>
                </a:lnTo>
                <a:cubicBezTo>
                  <a:pt x="2023609" y="2220339"/>
                  <a:pt x="2278893" y="1722889"/>
                  <a:pt x="2278893" y="1110170"/>
                </a:cubicBezTo>
                <a:cubicBezTo>
                  <a:pt x="2278893" y="497450"/>
                  <a:pt x="2023609" y="0"/>
                  <a:pt x="1709170" y="0"/>
                </a:cubicBezTo>
                <a:lnTo>
                  <a:pt x="569723" y="0"/>
                </a:lnTo>
                <a:close/>
              </a:path>
            </a:pathLst>
          </a:custGeom>
          <a:solidFill>
            <a:srgbClr val="328CB2">
              <a:alpha val="10196"/>
            </a:srgbClr>
          </a:solidFill>
          <a:ln w="9525">
            <a:solidFill>
              <a:srgbClr val="328CB2">
                <a:alpha val="70196"/>
              </a:srgbClr>
            </a:solidFill>
            <a:prstDash val="solid"/>
          </a:ln>
        </p:spPr>
      </p:sp>
      <p:sp>
        <p:nvSpPr>
          <p:cNvPr id="10" name="Shape 7"/>
          <p:cNvSpPr/>
          <p:nvPr/>
        </p:nvSpPr>
        <p:spPr>
          <a:xfrm>
            <a:off x="3398264" y="1993760"/>
            <a:ext cx="1981712" cy="583130"/>
          </a:xfrm>
          <a:custGeom>
            <a:avLst/>
            <a:gdLst/>
            <a:ahLst/>
            <a:cxnLst/>
            <a:rect l="l" t="t" r="r" b="b"/>
            <a:pathLst>
              <a:path w="1981712" h="583130">
                <a:moveTo>
                  <a:pt x="291565" y="0"/>
                </a:moveTo>
                <a:moveTo>
                  <a:pt x="291565" y="0"/>
                </a:moveTo>
                <a:lnTo>
                  <a:pt x="1690147" y="0"/>
                </a:lnTo>
                <a:quadBezTo>
                  <a:pt x="1981712" y="0"/>
                  <a:pt x="1981712" y="291565"/>
                </a:quadBezTo>
                <a:lnTo>
                  <a:pt x="1981712" y="291565"/>
                </a:lnTo>
                <a:quadBezTo>
                  <a:pt x="1981712" y="583130"/>
                  <a:pt x="1690147" y="583130"/>
                </a:quadBezTo>
                <a:lnTo>
                  <a:pt x="291565" y="583130"/>
                </a:lnTo>
                <a:quadBezTo>
                  <a:pt x="0" y="583130"/>
                  <a:pt x="0" y="291565"/>
                </a:quadBezTo>
                <a:lnTo>
                  <a:pt x="0" y="291565"/>
                </a:lnTo>
                <a:quadBezTo>
                  <a:pt x="0" y="0"/>
                  <a:pt x="291565" y="0"/>
                </a:quadBezTo>
                <a:close/>
              </a:path>
            </a:pathLst>
          </a:custGeom>
          <a:solidFill>
            <a:srgbClr val="328CB2"/>
          </a:solidFill>
        </p:spPr>
      </p:sp>
      <p:sp>
        <p:nvSpPr>
          <p:cNvPr id="11" name="Text 8"/>
          <p:cNvSpPr/>
          <p:nvPr/>
        </p:nvSpPr>
        <p:spPr>
          <a:xfrm>
            <a:off x="3968275" y="1355325"/>
            <a:ext cx="841689" cy="78638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3170" b="1" dirty="0">
                <a:solidFill>
                  <a:srgbClr val="FFFFFF"/>
                </a:solidFill>
                <a:latin typeface="PingFang SC" pitchFamily="34" charset="0"/>
                <a:ea typeface="PingFang SC" pitchFamily="34" charset="-122"/>
                <a:cs typeface="PingFang SC" pitchFamily="34" charset="-120"/>
              </a:rPr>
              <a:t>02</a:t>
            </a:r>
            <a:endParaRPr lang="en-US" sz="1440" dirty="0"/>
          </a:p>
        </p:txBody>
      </p:sp>
      <p:sp>
        <p:nvSpPr>
          <p:cNvPr id="12" name="Shape 9"/>
          <p:cNvSpPr/>
          <p:nvPr/>
        </p:nvSpPr>
        <p:spPr>
          <a:xfrm>
            <a:off x="6689860" y="934480"/>
            <a:ext cx="841689" cy="841689"/>
          </a:xfrm>
          <a:custGeom>
            <a:avLst/>
            <a:gdLst/>
            <a:ahLst/>
            <a:cxnLst/>
            <a:rect l="l" t="t" r="r" b="b"/>
            <a:pathLst>
              <a:path w="841689" h="841689">
                <a:moveTo>
                  <a:pt x="420845" y="0"/>
                </a:moveTo>
                <a:moveTo>
                  <a:pt x="420845" y="0"/>
                </a:moveTo>
                <a:cubicBezTo>
                  <a:pt x="653115" y="0"/>
                  <a:pt x="841689" y="188574"/>
                  <a:pt x="841689" y="420845"/>
                </a:cubicBezTo>
                <a:cubicBezTo>
                  <a:pt x="841689" y="653115"/>
                  <a:pt x="653115" y="841689"/>
                  <a:pt x="420845" y="841689"/>
                </a:cubicBezTo>
                <a:cubicBezTo>
                  <a:pt x="188574" y="841689"/>
                  <a:pt x="0" y="653115"/>
                  <a:pt x="0" y="420845"/>
                </a:cubicBezTo>
                <a:cubicBezTo>
                  <a:pt x="0" y="188574"/>
                  <a:pt x="188574" y="0"/>
                  <a:pt x="420845" y="0"/>
                </a:cubicBezTo>
                <a:close/>
              </a:path>
            </a:pathLst>
          </a:custGeom>
          <a:solidFill>
            <a:srgbClr val="328CB2">
              <a:alpha val="60000"/>
            </a:srgbClr>
          </a:solidFill>
        </p:spPr>
      </p:sp>
      <p:sp>
        <p:nvSpPr>
          <p:cNvPr id="13" name="Shape 10"/>
          <p:cNvSpPr/>
          <p:nvPr/>
        </p:nvSpPr>
        <p:spPr>
          <a:xfrm>
            <a:off x="5971258" y="1572915"/>
            <a:ext cx="2278893" cy="2220339"/>
          </a:xfrm>
          <a:custGeom>
            <a:avLst/>
            <a:gdLst/>
            <a:ahLst/>
            <a:cxnLst/>
            <a:rect l="l" t="t" r="r" b="b"/>
            <a:pathLst>
              <a:path w="2278893" h="2220339">
                <a:moveTo>
                  <a:pt x="569723" y="0"/>
                </a:moveTo>
                <a:moveTo>
                  <a:pt x="569723" y="0"/>
                </a:moveTo>
                <a:cubicBezTo>
                  <a:pt x="255284" y="0"/>
                  <a:pt x="0" y="497450"/>
                  <a:pt x="0" y="1110170"/>
                </a:cubicBezTo>
                <a:cubicBezTo>
                  <a:pt x="0" y="1722889"/>
                  <a:pt x="255284" y="2220339"/>
                  <a:pt x="569723" y="2220339"/>
                </a:cubicBezTo>
                <a:lnTo>
                  <a:pt x="1709170" y="2220339"/>
                </a:lnTo>
                <a:cubicBezTo>
                  <a:pt x="2023609" y="2220339"/>
                  <a:pt x="2278893" y="1722889"/>
                  <a:pt x="2278893" y="1110170"/>
                </a:cubicBezTo>
                <a:cubicBezTo>
                  <a:pt x="2278893" y="497450"/>
                  <a:pt x="2023609" y="0"/>
                  <a:pt x="1709170" y="0"/>
                </a:cubicBezTo>
                <a:lnTo>
                  <a:pt x="569723" y="0"/>
                </a:lnTo>
                <a:close/>
              </a:path>
            </a:pathLst>
          </a:custGeom>
          <a:solidFill>
            <a:srgbClr val="328CB2">
              <a:alpha val="10196"/>
            </a:srgbClr>
          </a:solidFill>
          <a:ln w="9525">
            <a:solidFill>
              <a:srgbClr val="328CB2">
                <a:alpha val="70196"/>
              </a:srgbClr>
            </a:solidFill>
            <a:prstDash val="solid"/>
          </a:ln>
        </p:spPr>
      </p:sp>
      <p:sp>
        <p:nvSpPr>
          <p:cNvPr id="14" name="Shape 11"/>
          <p:cNvSpPr/>
          <p:nvPr/>
        </p:nvSpPr>
        <p:spPr>
          <a:xfrm>
            <a:off x="6119849" y="1572915"/>
            <a:ext cx="1981712" cy="583130"/>
          </a:xfrm>
          <a:custGeom>
            <a:avLst/>
            <a:gdLst/>
            <a:ahLst/>
            <a:cxnLst/>
            <a:rect l="l" t="t" r="r" b="b"/>
            <a:pathLst>
              <a:path w="1981712" h="583130">
                <a:moveTo>
                  <a:pt x="291565" y="0"/>
                </a:moveTo>
                <a:moveTo>
                  <a:pt x="291565" y="0"/>
                </a:moveTo>
                <a:lnTo>
                  <a:pt x="1690147" y="0"/>
                </a:lnTo>
                <a:quadBezTo>
                  <a:pt x="1981712" y="0"/>
                  <a:pt x="1981712" y="291565"/>
                </a:quadBezTo>
                <a:lnTo>
                  <a:pt x="1981712" y="291565"/>
                </a:lnTo>
                <a:quadBezTo>
                  <a:pt x="1981712" y="583130"/>
                  <a:pt x="1690147" y="583130"/>
                </a:quadBezTo>
                <a:lnTo>
                  <a:pt x="291565" y="583130"/>
                </a:lnTo>
                <a:quadBezTo>
                  <a:pt x="0" y="583130"/>
                  <a:pt x="0" y="291565"/>
                </a:quadBezTo>
                <a:lnTo>
                  <a:pt x="0" y="291565"/>
                </a:lnTo>
                <a:quadBezTo>
                  <a:pt x="0" y="0"/>
                  <a:pt x="291565" y="0"/>
                </a:quadBezTo>
                <a:close/>
              </a:path>
            </a:pathLst>
          </a:custGeom>
          <a:solidFill>
            <a:srgbClr val="328CB2"/>
          </a:solidFill>
        </p:spPr>
      </p:sp>
      <p:sp>
        <p:nvSpPr>
          <p:cNvPr id="15" name="Text 12"/>
          <p:cNvSpPr/>
          <p:nvPr/>
        </p:nvSpPr>
        <p:spPr>
          <a:xfrm>
            <a:off x="6689860" y="934480"/>
            <a:ext cx="841689" cy="78638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3170" b="1" dirty="0">
                <a:solidFill>
                  <a:srgbClr val="FFFFFF"/>
                </a:solidFill>
                <a:latin typeface="PingFang SC" pitchFamily="34" charset="0"/>
                <a:ea typeface="PingFang SC" pitchFamily="34" charset="-122"/>
                <a:cs typeface="PingFang SC" pitchFamily="34" charset="-120"/>
              </a:rPr>
              <a:t>03</a:t>
            </a:r>
            <a:endParaRPr lang="en-US" sz="1440" dirty="0"/>
          </a:p>
        </p:txBody>
      </p:sp>
      <p:sp>
        <p:nvSpPr>
          <p:cNvPr id="16" name="Text 13"/>
          <p:cNvSpPr/>
          <p:nvPr/>
        </p:nvSpPr>
        <p:spPr>
          <a:xfrm>
            <a:off x="571703" y="2472552"/>
            <a:ext cx="1981712"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295" b="1" dirty="0">
                <a:solidFill>
                  <a:srgbClr val="FFFFFF"/>
                </a:solidFill>
                <a:latin typeface="PingFang SC" pitchFamily="34" charset="0"/>
                <a:ea typeface="PingFang SC" pitchFamily="34" charset="-122"/>
                <a:cs typeface="PingFang SC" pitchFamily="34" charset="-120"/>
              </a:rPr>
              <a:t>系统管理</a:t>
            </a:r>
            <a:endParaRPr lang="en-US" sz="1440" dirty="0"/>
          </a:p>
        </p:txBody>
      </p:sp>
      <p:sp>
        <p:nvSpPr>
          <p:cNvPr id="17" name="Text 14"/>
          <p:cNvSpPr/>
          <p:nvPr/>
        </p:nvSpPr>
        <p:spPr>
          <a:xfrm>
            <a:off x="475794" y="2975804"/>
            <a:ext cx="2173529"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333333"/>
                </a:solidFill>
                <a:latin typeface="PingFang SC" pitchFamily="34" charset="0"/>
                <a:ea typeface="PingFang SC" pitchFamily="34" charset="-122"/>
                <a:cs typeface="PingFang SC" pitchFamily="34" charset="-120"/>
              </a:rPr>
              <a:t>系统管理功能使管理员能够全面掌控用户和医生的账户信息，包括添加、编辑和删除操作，确保所有数据的准确性和及时更新。</a:t>
            </a:r>
            <a:endParaRPr lang="en-US" sz="1440" dirty="0"/>
          </a:p>
        </p:txBody>
      </p:sp>
      <p:sp>
        <p:nvSpPr>
          <p:cNvPr id="18" name="Text 15"/>
          <p:cNvSpPr/>
          <p:nvPr/>
        </p:nvSpPr>
        <p:spPr>
          <a:xfrm>
            <a:off x="3398264" y="2102445"/>
            <a:ext cx="1981712"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295" b="1" dirty="0">
                <a:solidFill>
                  <a:srgbClr val="FFFFFF"/>
                </a:solidFill>
                <a:latin typeface="PingFang SC" pitchFamily="34" charset="0"/>
                <a:ea typeface="PingFang SC" pitchFamily="34" charset="-122"/>
                <a:cs typeface="PingFang SC" pitchFamily="34" charset="-120"/>
              </a:rPr>
              <a:t>用户管理</a:t>
            </a:r>
            <a:endParaRPr lang="en-US" sz="1440" dirty="0"/>
          </a:p>
        </p:txBody>
      </p:sp>
      <p:sp>
        <p:nvSpPr>
          <p:cNvPr id="19" name="Text 16"/>
          <p:cNvSpPr/>
          <p:nvPr/>
        </p:nvSpPr>
        <p:spPr>
          <a:xfrm>
            <a:off x="3302356" y="2605697"/>
            <a:ext cx="2173529"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333333"/>
                </a:solidFill>
                <a:latin typeface="PingFang SC" pitchFamily="34" charset="0"/>
                <a:ea typeface="PingFang SC" pitchFamily="34" charset="-122"/>
                <a:cs typeface="PingFang SC" pitchFamily="34" charset="-120"/>
              </a:rPr>
              <a:t>通过用户管理，管理员可以查看用户的详细信息，设置不同权限，并监控用户行为，从而保障系统的安全性和数据的保密性。</a:t>
            </a:r>
            <a:endParaRPr lang="en-US" sz="1440" dirty="0"/>
          </a:p>
        </p:txBody>
      </p:sp>
      <p:sp>
        <p:nvSpPr>
          <p:cNvPr id="20" name="Text 17"/>
          <p:cNvSpPr/>
          <p:nvPr/>
        </p:nvSpPr>
        <p:spPr>
          <a:xfrm>
            <a:off x="6119849" y="1681600"/>
            <a:ext cx="1981712"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295" b="1" dirty="0">
                <a:solidFill>
                  <a:srgbClr val="FFFFFF"/>
                </a:solidFill>
                <a:latin typeface="PingFang SC" pitchFamily="34" charset="0"/>
                <a:ea typeface="PingFang SC" pitchFamily="34" charset="-122"/>
                <a:cs typeface="PingFang SC" pitchFamily="34" charset="-120"/>
              </a:rPr>
              <a:t>公告信息管理</a:t>
            </a:r>
            <a:endParaRPr lang="en-US" sz="1440" dirty="0"/>
          </a:p>
        </p:txBody>
      </p:sp>
      <p:sp>
        <p:nvSpPr>
          <p:cNvPr id="21" name="Text 18"/>
          <p:cNvSpPr/>
          <p:nvPr/>
        </p:nvSpPr>
        <p:spPr>
          <a:xfrm>
            <a:off x="6023940" y="2184852"/>
            <a:ext cx="2173529"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333333"/>
                </a:solidFill>
                <a:latin typeface="PingFang SC" pitchFamily="34" charset="0"/>
                <a:ea typeface="PingFang SC" pitchFamily="34" charset="-122"/>
                <a:cs typeface="PingFang SC" pitchFamily="34" charset="-120"/>
              </a:rPr>
              <a:t>公告信息管理允许管理员发布、审核和存档医院通知及重要信息，确保患者能及时获取最新的健康提示和紧急事件预警。</a:t>
            </a:r>
            <a:endParaRPr lang="en-US" sz="14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医生端功能</a:t>
            </a:r>
            <a:endParaRPr lang="en-US" sz="1440" dirty="0"/>
          </a:p>
        </p:txBody>
      </p:sp>
      <p:pic>
        <p:nvPicPr>
          <p:cNvPr id="3" name="Image 0" descr="preencoded.png"/>
          <p:cNvPicPr>
            <a:picLocks noChangeAspect="1"/>
          </p:cNvPicPr>
          <p:nvPr/>
        </p:nvPicPr>
        <p:blipFill>
          <a:blip r:embed="rId2"/>
          <a:stretch>
            <a:fillRect/>
          </a:stretch>
        </p:blipFill>
        <p:spPr>
          <a:xfrm>
            <a:off x="333756" y="977021"/>
            <a:ext cx="4050670" cy="1246675"/>
          </a:xfrm>
          <a:prstGeom prst="rect">
            <a:avLst/>
          </a:prstGeom>
        </p:spPr>
      </p:pic>
      <p:sp>
        <p:nvSpPr>
          <p:cNvPr id="4" name="Shape 1"/>
          <p:cNvSpPr/>
          <p:nvPr/>
        </p:nvSpPr>
        <p:spPr>
          <a:xfrm>
            <a:off x="2504481" y="2521565"/>
            <a:ext cx="626301" cy="626301"/>
          </a:xfrm>
          <a:custGeom>
            <a:avLst/>
            <a:gdLst/>
            <a:ahLst/>
            <a:cxnLst/>
            <a:rect l="l" t="t" r="r" b="b"/>
            <a:pathLst>
              <a:path w="626301" h="626301">
                <a:moveTo>
                  <a:pt x="313151" y="0"/>
                </a:moveTo>
                <a:moveTo>
                  <a:pt x="313151" y="0"/>
                </a:moveTo>
                <a:cubicBezTo>
                  <a:pt x="485983" y="0"/>
                  <a:pt x="626301" y="140318"/>
                  <a:pt x="626301" y="313151"/>
                </a:cubicBezTo>
                <a:cubicBezTo>
                  <a:pt x="626301" y="485983"/>
                  <a:pt x="485983" y="626301"/>
                  <a:pt x="313151" y="626301"/>
                </a:cubicBezTo>
                <a:cubicBezTo>
                  <a:pt x="140318" y="626301"/>
                  <a:pt x="0" y="485983"/>
                  <a:pt x="0" y="313151"/>
                </a:cubicBezTo>
                <a:cubicBezTo>
                  <a:pt x="0" y="140318"/>
                  <a:pt x="140318" y="0"/>
                  <a:pt x="313151" y="0"/>
                </a:cubicBezTo>
                <a:close/>
              </a:path>
            </a:pathLst>
          </a:custGeom>
          <a:solidFill>
            <a:srgbClr val="328CB2"/>
          </a:solidFill>
          <a:ln w="238125">
            <a:solidFill>
              <a:srgbClr val="328CB2">
                <a:alpha val="25882"/>
              </a:srgbClr>
            </a:solidFill>
            <a:prstDash val="solid"/>
          </a:ln>
        </p:spPr>
      </p:sp>
      <p:pic>
        <p:nvPicPr>
          <p:cNvPr id="5" name="Image 1" descr="preencoded.png"/>
          <p:cNvPicPr>
            <a:picLocks noChangeAspect="1"/>
          </p:cNvPicPr>
          <p:nvPr/>
        </p:nvPicPr>
        <p:blipFill>
          <a:blip r:embed="rId3"/>
          <a:stretch>
            <a:fillRect/>
          </a:stretch>
        </p:blipFill>
        <p:spPr>
          <a:xfrm>
            <a:off x="1288390" y="3461827"/>
            <a:ext cx="6567063" cy="1246675"/>
          </a:xfrm>
          <a:prstGeom prst="rect">
            <a:avLst/>
          </a:prstGeom>
        </p:spPr>
      </p:pic>
      <p:sp>
        <p:nvSpPr>
          <p:cNvPr id="6" name="Shape 2"/>
          <p:cNvSpPr/>
          <p:nvPr/>
        </p:nvSpPr>
        <p:spPr>
          <a:xfrm>
            <a:off x="4253463" y="2521565"/>
            <a:ext cx="626301" cy="626301"/>
          </a:xfrm>
          <a:custGeom>
            <a:avLst/>
            <a:gdLst/>
            <a:ahLst/>
            <a:cxnLst/>
            <a:rect l="l" t="t" r="r" b="b"/>
            <a:pathLst>
              <a:path w="626301" h="626301">
                <a:moveTo>
                  <a:pt x="313151" y="0"/>
                </a:moveTo>
                <a:moveTo>
                  <a:pt x="313151" y="0"/>
                </a:moveTo>
                <a:cubicBezTo>
                  <a:pt x="485983" y="0"/>
                  <a:pt x="626301" y="140318"/>
                  <a:pt x="626301" y="313151"/>
                </a:cubicBezTo>
                <a:cubicBezTo>
                  <a:pt x="626301" y="485983"/>
                  <a:pt x="485983" y="626301"/>
                  <a:pt x="313151" y="626301"/>
                </a:cubicBezTo>
                <a:cubicBezTo>
                  <a:pt x="140318" y="626301"/>
                  <a:pt x="0" y="485983"/>
                  <a:pt x="0" y="313151"/>
                </a:cubicBezTo>
                <a:cubicBezTo>
                  <a:pt x="0" y="140318"/>
                  <a:pt x="140318" y="0"/>
                  <a:pt x="313151" y="0"/>
                </a:cubicBezTo>
                <a:close/>
              </a:path>
            </a:pathLst>
          </a:custGeom>
          <a:solidFill>
            <a:srgbClr val="328CB2"/>
          </a:solidFill>
          <a:ln w="238125">
            <a:solidFill>
              <a:srgbClr val="328CB2">
                <a:alpha val="25882"/>
              </a:srgbClr>
            </a:solidFill>
            <a:prstDash val="solid"/>
          </a:ln>
        </p:spPr>
      </p:sp>
      <p:sp>
        <p:nvSpPr>
          <p:cNvPr id="7" name="Shape 3"/>
          <p:cNvSpPr/>
          <p:nvPr/>
        </p:nvSpPr>
        <p:spPr>
          <a:xfrm>
            <a:off x="6013218" y="2530709"/>
            <a:ext cx="626301" cy="626301"/>
          </a:xfrm>
          <a:custGeom>
            <a:avLst/>
            <a:gdLst/>
            <a:ahLst/>
            <a:cxnLst/>
            <a:rect l="l" t="t" r="r" b="b"/>
            <a:pathLst>
              <a:path w="626301" h="626301">
                <a:moveTo>
                  <a:pt x="313151" y="0"/>
                </a:moveTo>
                <a:moveTo>
                  <a:pt x="313151" y="0"/>
                </a:moveTo>
                <a:cubicBezTo>
                  <a:pt x="485983" y="0"/>
                  <a:pt x="626301" y="140318"/>
                  <a:pt x="626301" y="313151"/>
                </a:cubicBezTo>
                <a:cubicBezTo>
                  <a:pt x="626301" y="485983"/>
                  <a:pt x="485983" y="626301"/>
                  <a:pt x="313151" y="626301"/>
                </a:cubicBezTo>
                <a:cubicBezTo>
                  <a:pt x="140318" y="626301"/>
                  <a:pt x="0" y="485983"/>
                  <a:pt x="0" y="313151"/>
                </a:cubicBezTo>
                <a:cubicBezTo>
                  <a:pt x="0" y="140318"/>
                  <a:pt x="140318" y="0"/>
                  <a:pt x="313151" y="0"/>
                </a:cubicBezTo>
                <a:close/>
              </a:path>
            </a:pathLst>
          </a:custGeom>
          <a:solidFill>
            <a:srgbClr val="328CB2"/>
          </a:solidFill>
          <a:ln w="238125">
            <a:solidFill>
              <a:srgbClr val="328CB2">
                <a:alpha val="25882"/>
              </a:srgbClr>
            </a:solidFill>
            <a:prstDash val="solid"/>
          </a:ln>
        </p:spPr>
      </p:sp>
      <p:sp>
        <p:nvSpPr>
          <p:cNvPr id="8" name="Shape 4"/>
          <p:cNvSpPr/>
          <p:nvPr/>
        </p:nvSpPr>
        <p:spPr>
          <a:xfrm>
            <a:off x="3239119" y="2834716"/>
            <a:ext cx="870534" cy="0"/>
          </a:xfrm>
          <a:custGeom>
            <a:avLst/>
            <a:gdLst/>
            <a:ahLst/>
            <a:cxnLst/>
            <a:rect l="l" t="t" r="r" b="b"/>
            <a:pathLst>
              <a:path w="870534">
                <a:moveTo>
                  <a:pt x="0" y="0"/>
                </a:moveTo>
                <a:moveTo>
                  <a:pt x="0" y="0"/>
                </a:moveTo>
                <a:lnTo>
                  <a:pt x="870534" y="0"/>
                </a:lnTo>
              </a:path>
            </a:pathLst>
          </a:custGeom>
          <a:noFill/>
          <a:ln w="9525">
            <a:solidFill>
              <a:srgbClr val="328CB2"/>
            </a:solidFill>
            <a:prstDash val="solid"/>
            <a:headEnd type="none"/>
            <a:tailEnd type="arrow"/>
          </a:ln>
        </p:spPr>
      </p:sp>
      <p:pic>
        <p:nvPicPr>
          <p:cNvPr id="9" name="Image 2" descr="preencoded.png"/>
          <p:cNvPicPr>
            <a:picLocks noChangeAspect="1"/>
          </p:cNvPicPr>
          <p:nvPr/>
        </p:nvPicPr>
        <p:blipFill>
          <a:blip r:embed="rId4"/>
          <a:stretch>
            <a:fillRect/>
          </a:stretch>
        </p:blipFill>
        <p:spPr>
          <a:xfrm>
            <a:off x="4759574" y="977021"/>
            <a:ext cx="4050136" cy="1246675"/>
          </a:xfrm>
          <a:prstGeom prst="rect">
            <a:avLst/>
          </a:prstGeom>
        </p:spPr>
      </p:pic>
      <p:sp>
        <p:nvSpPr>
          <p:cNvPr id="10" name="Shape 5"/>
          <p:cNvSpPr/>
          <p:nvPr/>
        </p:nvSpPr>
        <p:spPr>
          <a:xfrm>
            <a:off x="4566614" y="3260516"/>
            <a:ext cx="0" cy="201311"/>
          </a:xfrm>
          <a:custGeom>
            <a:avLst/>
            <a:gdLst/>
            <a:ahLst/>
            <a:cxnLst/>
            <a:rect l="l" t="t" r="r" b="b"/>
            <a:pathLst>
              <a:path h="201311">
                <a:moveTo>
                  <a:pt x="0" y="201311"/>
                </a:moveTo>
                <a:moveTo>
                  <a:pt x="0" y="201311"/>
                </a:moveTo>
                <a:lnTo>
                  <a:pt x="0" y="0"/>
                </a:lnTo>
              </a:path>
            </a:pathLst>
          </a:custGeom>
          <a:noFill/>
          <a:ln w="9525">
            <a:solidFill>
              <a:srgbClr val="328CB2"/>
            </a:solidFill>
            <a:prstDash val="solid"/>
            <a:headEnd type="none"/>
            <a:tailEnd type="none"/>
          </a:ln>
        </p:spPr>
      </p:sp>
      <p:sp>
        <p:nvSpPr>
          <p:cNvPr id="11" name="Shape 6"/>
          <p:cNvSpPr/>
          <p:nvPr/>
        </p:nvSpPr>
        <p:spPr>
          <a:xfrm>
            <a:off x="6326369" y="2224681"/>
            <a:ext cx="0" cy="196229"/>
          </a:xfrm>
          <a:custGeom>
            <a:avLst/>
            <a:gdLst/>
            <a:ahLst/>
            <a:cxnLst/>
            <a:rect l="l" t="t" r="r" b="b"/>
            <a:pathLst>
              <a:path h="196229">
                <a:moveTo>
                  <a:pt x="0" y="196229"/>
                </a:moveTo>
                <a:moveTo>
                  <a:pt x="0" y="196229"/>
                </a:moveTo>
                <a:lnTo>
                  <a:pt x="0" y="0"/>
                </a:lnTo>
              </a:path>
            </a:pathLst>
          </a:custGeom>
          <a:noFill/>
          <a:ln w="9525">
            <a:solidFill>
              <a:srgbClr val="328CB2"/>
            </a:solidFill>
            <a:prstDash val="solid"/>
            <a:headEnd type="none"/>
            <a:tailEnd type="none"/>
          </a:ln>
        </p:spPr>
      </p:sp>
      <p:sp>
        <p:nvSpPr>
          <p:cNvPr id="12" name="Shape 7"/>
          <p:cNvSpPr/>
          <p:nvPr/>
        </p:nvSpPr>
        <p:spPr>
          <a:xfrm>
            <a:off x="2817631" y="2217022"/>
            <a:ext cx="0" cy="196229"/>
          </a:xfrm>
          <a:custGeom>
            <a:avLst/>
            <a:gdLst/>
            <a:ahLst/>
            <a:cxnLst/>
            <a:rect l="l" t="t" r="r" b="b"/>
            <a:pathLst>
              <a:path h="196229">
                <a:moveTo>
                  <a:pt x="0" y="196229"/>
                </a:moveTo>
                <a:moveTo>
                  <a:pt x="0" y="196229"/>
                </a:moveTo>
                <a:lnTo>
                  <a:pt x="0" y="0"/>
                </a:lnTo>
              </a:path>
            </a:pathLst>
          </a:custGeom>
          <a:noFill/>
          <a:ln w="9525">
            <a:solidFill>
              <a:srgbClr val="328CB2"/>
            </a:solidFill>
            <a:prstDash val="solid"/>
            <a:headEnd type="none"/>
            <a:tailEnd type="none"/>
          </a:ln>
        </p:spPr>
      </p:sp>
      <p:sp>
        <p:nvSpPr>
          <p:cNvPr id="13" name="Text 8"/>
          <p:cNvSpPr/>
          <p:nvPr/>
        </p:nvSpPr>
        <p:spPr>
          <a:xfrm>
            <a:off x="2442461" y="2564968"/>
            <a:ext cx="750342" cy="539496"/>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1870" b="1" dirty="0">
                <a:solidFill>
                  <a:srgbClr val="FFFFFF"/>
                </a:solidFill>
                <a:latin typeface="PingFang SC" pitchFamily="34" charset="0"/>
                <a:ea typeface="PingFang SC" pitchFamily="34" charset="-122"/>
                <a:cs typeface="PingFang SC" pitchFamily="34" charset="-120"/>
              </a:rPr>
              <a:t>01</a:t>
            </a:r>
            <a:endParaRPr lang="en-US" sz="1440" dirty="0"/>
          </a:p>
        </p:txBody>
      </p:sp>
      <p:sp>
        <p:nvSpPr>
          <p:cNvPr id="14" name="Text 9"/>
          <p:cNvSpPr/>
          <p:nvPr/>
        </p:nvSpPr>
        <p:spPr>
          <a:xfrm>
            <a:off x="4191443" y="2571795"/>
            <a:ext cx="750342" cy="539496"/>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1870" b="1" dirty="0">
                <a:solidFill>
                  <a:srgbClr val="FFFFFF"/>
                </a:solidFill>
                <a:latin typeface="PingFang SC" pitchFamily="34" charset="0"/>
                <a:ea typeface="PingFang SC" pitchFamily="34" charset="-122"/>
                <a:cs typeface="PingFang SC" pitchFamily="34" charset="-120"/>
              </a:rPr>
              <a:t>02</a:t>
            </a:r>
            <a:endParaRPr lang="en-US" sz="1440" dirty="0"/>
          </a:p>
        </p:txBody>
      </p:sp>
      <p:sp>
        <p:nvSpPr>
          <p:cNvPr id="15" name="Text 10"/>
          <p:cNvSpPr/>
          <p:nvPr/>
        </p:nvSpPr>
        <p:spPr>
          <a:xfrm>
            <a:off x="5951198" y="2562651"/>
            <a:ext cx="750342" cy="539496"/>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1870" b="1" dirty="0">
                <a:solidFill>
                  <a:srgbClr val="FFFFFF"/>
                </a:solidFill>
                <a:latin typeface="PingFang SC" pitchFamily="34" charset="0"/>
                <a:ea typeface="PingFang SC" pitchFamily="34" charset="-122"/>
                <a:cs typeface="PingFang SC" pitchFamily="34" charset="-120"/>
              </a:rPr>
              <a:t>03</a:t>
            </a:r>
            <a:endParaRPr lang="en-US" sz="1440" dirty="0"/>
          </a:p>
        </p:txBody>
      </p:sp>
      <p:sp>
        <p:nvSpPr>
          <p:cNvPr id="16" name="Shape 11"/>
          <p:cNvSpPr/>
          <p:nvPr/>
        </p:nvSpPr>
        <p:spPr>
          <a:xfrm>
            <a:off x="4999207" y="2834716"/>
            <a:ext cx="870534" cy="0"/>
          </a:xfrm>
          <a:custGeom>
            <a:avLst/>
            <a:gdLst/>
            <a:ahLst/>
            <a:cxnLst/>
            <a:rect l="l" t="t" r="r" b="b"/>
            <a:pathLst>
              <a:path w="870534">
                <a:moveTo>
                  <a:pt x="0" y="0"/>
                </a:moveTo>
                <a:moveTo>
                  <a:pt x="0" y="0"/>
                </a:moveTo>
                <a:lnTo>
                  <a:pt x="870534" y="0"/>
                </a:lnTo>
              </a:path>
            </a:pathLst>
          </a:custGeom>
          <a:noFill/>
          <a:ln w="9525">
            <a:solidFill>
              <a:srgbClr val="328CB2"/>
            </a:solidFill>
            <a:prstDash val="solid"/>
            <a:headEnd type="none"/>
            <a:tailEnd type="arrow"/>
          </a:ln>
        </p:spPr>
      </p:sp>
      <p:sp>
        <p:nvSpPr>
          <p:cNvPr id="17" name="Text 12"/>
          <p:cNvSpPr/>
          <p:nvPr/>
        </p:nvSpPr>
        <p:spPr>
          <a:xfrm>
            <a:off x="463409" y="1062686"/>
            <a:ext cx="3802544" cy="374904"/>
          </a:xfrm>
          <a:prstGeom prst="rect">
            <a:avLst/>
          </a:prstGeom>
          <a:noFill/>
        </p:spPr>
        <p:txBody>
          <a:bodyPr wrap="square" lIns="95250" tIns="95250" rIns="95250" bIns="95250" rtlCol="0" anchor="ctr"/>
          <a:lstStyle/>
          <a:p>
            <a:pPr marL="0" indent="0">
              <a:lnSpc>
                <a:spcPct val="100000"/>
              </a:lnSpc>
              <a:spcBef>
                <a:spcPts val="375"/>
              </a:spcBef>
              <a:buNone/>
            </a:pPr>
            <a:r>
              <a:rPr lang="en-US" sz="1440" b="1" dirty="0">
                <a:solidFill>
                  <a:srgbClr val="333333"/>
                </a:solidFill>
                <a:latin typeface="PingFang SC" pitchFamily="34" charset="0"/>
                <a:ea typeface="PingFang SC" pitchFamily="34" charset="-122"/>
                <a:cs typeface="PingFang SC" pitchFamily="34" charset="-120"/>
              </a:rPr>
              <a:t>病历访问权限</a:t>
            </a:r>
            <a:endParaRPr lang="en-US" sz="1440" dirty="0"/>
          </a:p>
        </p:txBody>
      </p:sp>
      <p:sp>
        <p:nvSpPr>
          <p:cNvPr id="18" name="Text 13"/>
          <p:cNvSpPr/>
          <p:nvPr/>
        </p:nvSpPr>
        <p:spPr>
          <a:xfrm>
            <a:off x="463409" y="1324216"/>
            <a:ext cx="3802544"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333333"/>
                </a:solidFill>
                <a:latin typeface="PingFang SC" pitchFamily="34" charset="0"/>
                <a:ea typeface="PingFang SC" pitchFamily="34" charset="-122"/>
                <a:cs typeface="PingFang SC" pitchFamily="34" charset="-120"/>
              </a:rPr>
              <a:t>医生端功能赋予医生查看患者病历的权限，使医生能够全面了解患者的医疗历史和当前健康状况，为诊断和治疗提供重要依据。</a:t>
            </a:r>
            <a:endParaRPr lang="en-US" sz="1440" dirty="0"/>
          </a:p>
        </p:txBody>
      </p:sp>
      <p:sp>
        <p:nvSpPr>
          <p:cNvPr id="19" name="Text 14"/>
          <p:cNvSpPr/>
          <p:nvPr/>
        </p:nvSpPr>
        <p:spPr>
          <a:xfrm>
            <a:off x="1406959" y="3643725"/>
            <a:ext cx="6284997" cy="39319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440" b="1" dirty="0">
                <a:solidFill>
                  <a:srgbClr val="333333"/>
                </a:solidFill>
                <a:latin typeface="PingFang SC" pitchFamily="34" charset="0"/>
                <a:ea typeface="PingFang SC" pitchFamily="34" charset="-122"/>
                <a:cs typeface="PingFang SC" pitchFamily="34" charset="-120"/>
              </a:rPr>
              <a:t>患者信息管理</a:t>
            </a:r>
            <a:endParaRPr lang="en-US" sz="1440" dirty="0"/>
          </a:p>
        </p:txBody>
      </p:sp>
      <p:sp>
        <p:nvSpPr>
          <p:cNvPr id="20" name="Text 15"/>
          <p:cNvSpPr/>
          <p:nvPr/>
        </p:nvSpPr>
        <p:spPr>
          <a:xfrm>
            <a:off x="1407147" y="3904813"/>
            <a:ext cx="6284809"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333333"/>
                </a:solidFill>
                <a:latin typeface="PingFang SC" pitchFamily="34" charset="0"/>
                <a:ea typeface="PingFang SC" pitchFamily="34" charset="-122"/>
                <a:cs typeface="PingFang SC" pitchFamily="34" charset="-120"/>
              </a:rPr>
              <a:t>通过医生端功能，医生可以方便地管理和更新患者的个人信息、病史记录及治疗进展，确保患者信息的实时性和准确性。</a:t>
            </a:r>
            <a:endParaRPr lang="en-US" sz="1440" dirty="0"/>
          </a:p>
        </p:txBody>
      </p:sp>
      <p:sp>
        <p:nvSpPr>
          <p:cNvPr id="21" name="Text 16"/>
          <p:cNvSpPr/>
          <p:nvPr/>
        </p:nvSpPr>
        <p:spPr>
          <a:xfrm>
            <a:off x="4878324" y="1055218"/>
            <a:ext cx="3802990" cy="374904"/>
          </a:xfrm>
          <a:prstGeom prst="rect">
            <a:avLst/>
          </a:prstGeom>
          <a:noFill/>
        </p:spPr>
        <p:txBody>
          <a:bodyPr wrap="square" lIns="95250" tIns="95250" rIns="95250" bIns="95250" rtlCol="0" anchor="ctr"/>
          <a:lstStyle/>
          <a:p>
            <a:pPr marL="0" indent="0">
              <a:lnSpc>
                <a:spcPct val="100000"/>
              </a:lnSpc>
              <a:spcBef>
                <a:spcPts val="375"/>
              </a:spcBef>
              <a:buNone/>
            </a:pPr>
            <a:r>
              <a:rPr lang="en-US" sz="1440" b="1" dirty="0">
                <a:solidFill>
                  <a:srgbClr val="333333"/>
                </a:solidFill>
                <a:latin typeface="PingFang SC" pitchFamily="34" charset="0"/>
                <a:ea typeface="PingFang SC" pitchFamily="34" charset="-122"/>
                <a:cs typeface="PingFang SC" pitchFamily="34" charset="-120"/>
              </a:rPr>
              <a:t>提升诊疗效率</a:t>
            </a:r>
            <a:endParaRPr lang="en-US" sz="1440" dirty="0"/>
          </a:p>
        </p:txBody>
      </p:sp>
      <p:sp>
        <p:nvSpPr>
          <p:cNvPr id="22" name="Text 17"/>
          <p:cNvSpPr/>
          <p:nvPr/>
        </p:nvSpPr>
        <p:spPr>
          <a:xfrm>
            <a:off x="4878047" y="1316736"/>
            <a:ext cx="3802990"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333333"/>
                </a:solidFill>
                <a:latin typeface="PingFang SC" pitchFamily="34" charset="0"/>
                <a:ea typeface="PingFang SC" pitchFamily="34" charset="-122"/>
                <a:cs typeface="PingFang SC" pitchFamily="34" charset="-120"/>
              </a:rPr>
              <a:t>医生端功能通过集中展示患者资料，帮助医生快速获取关键信息，减少查找和整理资料的时间，从而提升诊疗效率和质量。</a:t>
            </a:r>
            <a:endParaRPr lang="en-US" sz="144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023" y="1222687"/>
            <a:ext cx="1882760" cy="179222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8350" b="1" dirty="0">
                <a:solidFill>
                  <a:srgbClr val="FFFFFF">
                    <a:alpha val="40000"/>
                  </a:srgbClr>
                </a:solidFill>
                <a:latin typeface="Arial" panose="020B0604020202020204" pitchFamily="34" charset="0"/>
                <a:ea typeface="Arial" panose="020B0604020202020204" pitchFamily="34" charset="-122"/>
                <a:cs typeface="Arial" panose="020B0604020202020204" pitchFamily="34" charset="-120"/>
              </a:rPr>
              <a:t>06</a:t>
            </a:r>
            <a:endParaRPr lang="en-US" sz="1440" dirty="0"/>
          </a:p>
        </p:txBody>
      </p:sp>
      <p:sp>
        <p:nvSpPr>
          <p:cNvPr id="3" name="Text 1"/>
          <p:cNvSpPr/>
          <p:nvPr/>
        </p:nvSpPr>
        <p:spPr>
          <a:xfrm>
            <a:off x="403023" y="2507428"/>
            <a:ext cx="3807290" cy="74980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系统测试</a:t>
            </a:r>
            <a:endParaRPr lang="en-US" sz="144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黑盒测试方法</a:t>
            </a:r>
            <a:endParaRPr lang="en-US" sz="1440" dirty="0"/>
          </a:p>
        </p:txBody>
      </p:sp>
      <p:sp>
        <p:nvSpPr>
          <p:cNvPr id="3" name="Shape 1"/>
          <p:cNvSpPr/>
          <p:nvPr/>
        </p:nvSpPr>
        <p:spPr>
          <a:xfrm>
            <a:off x="372998" y="1262645"/>
            <a:ext cx="6793133" cy="0"/>
          </a:xfrm>
          <a:custGeom>
            <a:avLst/>
            <a:gdLst/>
            <a:ahLst/>
            <a:cxnLst/>
            <a:rect l="l" t="t" r="r" b="b"/>
            <a:pathLst>
              <a:path w="6793133">
                <a:moveTo>
                  <a:pt x="6793133" y="0"/>
                </a:moveTo>
                <a:moveTo>
                  <a:pt x="6793133" y="0"/>
                </a:moveTo>
                <a:lnTo>
                  <a:pt x="0" y="0"/>
                </a:lnTo>
              </a:path>
            </a:pathLst>
          </a:custGeom>
          <a:noFill/>
          <a:ln w="9525">
            <a:solidFill>
              <a:srgbClr val="E1E1E1"/>
            </a:solidFill>
            <a:prstDash val="solid"/>
            <a:headEnd type="none"/>
            <a:tailEnd type="none"/>
          </a:ln>
        </p:spPr>
      </p:sp>
      <p:pic>
        <p:nvPicPr>
          <p:cNvPr id="4" name="Image 0" descr="https://oceandoc-ai.obs.ap-southeast-3.myhuaweicloud.com/ppt_list_page/_19052329831_pZN4da1732156004906-023884567989475713.png?authorization=c2ltcGxlLWp3dCBhaz1zcGFya2Rlc2s4MDAwMDAwMDAwMDE7ZXhwPTMzMDg5NTYwMDY7YWxnbz1obWFjLXNoYTI1NjtzaWc9ZHp5V29yc3hUUWQ1RGZHYUpqTWxuS28xL29WZUtjTytzbGo0QXNrVTVOcz0=&amp;x_location=7YfmxI7B7uKO7jlRxIftd60pfXD="/>
          <p:cNvPicPr>
            <a:picLocks noChangeAspect="1"/>
          </p:cNvPicPr>
          <p:nvPr/>
        </p:nvPicPr>
        <p:blipFill>
          <a:blip r:embed="rId2"/>
          <a:stretch>
            <a:fillRect/>
          </a:stretch>
        </p:blipFill>
        <p:spPr>
          <a:xfrm>
            <a:off x="6988961" y="901354"/>
            <a:ext cx="1832206" cy="3494071"/>
          </a:xfrm>
          <a:prstGeom prst="rect">
            <a:avLst/>
          </a:prstGeom>
        </p:spPr>
      </p:pic>
      <p:sp>
        <p:nvSpPr>
          <p:cNvPr id="5" name="Text 2"/>
          <p:cNvSpPr/>
          <p:nvPr>
            <p:custDataLst>
              <p:tags r:id="rId3"/>
            </p:custDataLst>
          </p:nvPr>
        </p:nvSpPr>
        <p:spPr>
          <a:xfrm>
            <a:off x="727634" y="1355471"/>
            <a:ext cx="572963" cy="62179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305" b="1" i="1" dirty="0">
                <a:solidFill>
                  <a:srgbClr val="328CB2"/>
                </a:solidFill>
                <a:latin typeface="PingFang SC" pitchFamily="34" charset="0"/>
                <a:ea typeface="PingFang SC" pitchFamily="34" charset="-122"/>
                <a:cs typeface="PingFang SC" pitchFamily="34" charset="-120"/>
              </a:rPr>
              <a:t>01</a:t>
            </a:r>
            <a:endParaRPr lang="en-US" sz="1440" dirty="0"/>
          </a:p>
        </p:txBody>
      </p:sp>
      <p:sp>
        <p:nvSpPr>
          <p:cNvPr id="6" name="Text 3"/>
          <p:cNvSpPr/>
          <p:nvPr>
            <p:custDataLst>
              <p:tags r:id="rId4"/>
            </p:custDataLst>
          </p:nvPr>
        </p:nvSpPr>
        <p:spPr>
          <a:xfrm>
            <a:off x="3046552" y="1355471"/>
            <a:ext cx="572963" cy="62179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305" b="1" i="1" dirty="0">
                <a:solidFill>
                  <a:srgbClr val="69BBE3"/>
                </a:solidFill>
                <a:latin typeface="PingFang SC" pitchFamily="34" charset="0"/>
                <a:ea typeface="PingFang SC" pitchFamily="34" charset="-122"/>
                <a:cs typeface="PingFang SC" pitchFamily="34" charset="-120"/>
              </a:rPr>
              <a:t>02</a:t>
            </a:r>
            <a:endParaRPr lang="en-US" sz="1440" dirty="0"/>
          </a:p>
        </p:txBody>
      </p:sp>
      <p:sp>
        <p:nvSpPr>
          <p:cNvPr id="7" name="Text 4"/>
          <p:cNvSpPr/>
          <p:nvPr>
            <p:custDataLst>
              <p:tags r:id="rId5"/>
            </p:custDataLst>
          </p:nvPr>
        </p:nvSpPr>
        <p:spPr>
          <a:xfrm>
            <a:off x="5303017" y="1355471"/>
            <a:ext cx="572963" cy="62179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305" b="1" i="1" dirty="0">
                <a:solidFill>
                  <a:srgbClr val="328CB2"/>
                </a:solidFill>
                <a:latin typeface="PingFang SC" pitchFamily="34" charset="0"/>
                <a:ea typeface="PingFang SC" pitchFamily="34" charset="-122"/>
                <a:cs typeface="PingFang SC" pitchFamily="34" charset="-120"/>
              </a:rPr>
              <a:t>03</a:t>
            </a:r>
            <a:endParaRPr lang="en-US" sz="1440" dirty="0"/>
          </a:p>
        </p:txBody>
      </p:sp>
      <p:sp>
        <p:nvSpPr>
          <p:cNvPr id="8" name="Text 5"/>
          <p:cNvSpPr/>
          <p:nvPr>
            <p:custDataLst>
              <p:tags r:id="rId6"/>
            </p:custDataLst>
          </p:nvPr>
        </p:nvSpPr>
        <p:spPr>
          <a:xfrm>
            <a:off x="367589" y="2151583"/>
            <a:ext cx="1937614" cy="420624"/>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黑盒测试定义</a:t>
            </a:r>
            <a:endParaRPr lang="en-US" sz="1440" dirty="0"/>
          </a:p>
        </p:txBody>
      </p:sp>
      <p:pic>
        <p:nvPicPr>
          <p:cNvPr id="9" name="Image 1" descr="https://sgw-dx.xf-yun.com/api/v1/sparkdesk/_17468669905547f3da8f492a44b079d7537c01839693d.jpg?authorization=c2ltcGxlLWp3dCBhaz1zcGFya2Rlc2s4MDAwMDAwMDAwMDE7ZXhwPTMzMjM2NjY5OTA7YWxnbz1obWFjLXNoYTI1NjtzaWc9RTFnK1pLbFZJYUc0bEQycGtFaGpVZ2J0dFMyRTZQSG52aUlhQzhQTGtFaz0=&amp;x_location=7YfmxI7B7uKO7jlRxIftd6UpfPD="/>
          <p:cNvPicPr>
            <a:picLocks noChangeAspect="1"/>
          </p:cNvPicPr>
          <p:nvPr/>
        </p:nvPicPr>
        <p:blipFill>
          <a:blip r:embed="rId7"/>
          <a:srcRect l="19886" r="23295"/>
          <a:stretch>
            <a:fillRect/>
          </a:stretch>
        </p:blipFill>
        <p:spPr>
          <a:xfrm>
            <a:off x="7156987" y="1262645"/>
            <a:ext cx="1499196" cy="2644722"/>
          </a:xfrm>
          <a:prstGeom prst="rect">
            <a:avLst/>
          </a:prstGeom>
        </p:spPr>
      </p:pic>
      <p:sp>
        <p:nvSpPr>
          <p:cNvPr id="10" name="Text 6"/>
          <p:cNvSpPr/>
          <p:nvPr>
            <p:custDataLst>
              <p:tags r:id="rId8"/>
            </p:custDataLst>
          </p:nvPr>
        </p:nvSpPr>
        <p:spPr>
          <a:xfrm>
            <a:off x="367589" y="2746080"/>
            <a:ext cx="1937614" cy="1280160"/>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333333"/>
                </a:solidFill>
                <a:latin typeface="PingFang SC" pitchFamily="34" charset="0"/>
                <a:ea typeface="PingFang SC" pitchFamily="34" charset="-122"/>
                <a:cs typeface="PingFang SC" pitchFamily="34" charset="-120"/>
              </a:rPr>
              <a:t>黑盒测试是一种软件测试方法，它不关注程序内部结构和实现细节，而是从用户的角度出发，通过输入数据和预期输出来验证软件功能的正确性。</a:t>
            </a:r>
            <a:endParaRPr lang="en-US" sz="1440" dirty="0"/>
          </a:p>
        </p:txBody>
      </p:sp>
      <p:sp>
        <p:nvSpPr>
          <p:cNvPr id="11" name="Text 7"/>
          <p:cNvSpPr/>
          <p:nvPr>
            <p:custDataLst>
              <p:tags r:id="rId9"/>
            </p:custDataLst>
          </p:nvPr>
        </p:nvSpPr>
        <p:spPr>
          <a:xfrm>
            <a:off x="2686507" y="2151583"/>
            <a:ext cx="1937614" cy="420624"/>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黑盒测试类型</a:t>
            </a:r>
            <a:endParaRPr lang="en-US" sz="1440" dirty="0"/>
          </a:p>
        </p:txBody>
      </p:sp>
      <p:sp>
        <p:nvSpPr>
          <p:cNvPr id="12" name="Text 8"/>
          <p:cNvSpPr/>
          <p:nvPr>
            <p:custDataLst>
              <p:tags r:id="rId10"/>
            </p:custDataLst>
          </p:nvPr>
        </p:nvSpPr>
        <p:spPr>
          <a:xfrm>
            <a:off x="2686507" y="2746080"/>
            <a:ext cx="1937614" cy="128016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黑盒测试主要包括功能测试、性能测试、兼容性测试等类型，每种类型都有其特定的测试目标和方法，以确保软件在各种环境下都能正常运行。</a:t>
            </a:r>
            <a:endParaRPr lang="en-US" sz="1440" dirty="0"/>
          </a:p>
        </p:txBody>
      </p:sp>
      <p:sp>
        <p:nvSpPr>
          <p:cNvPr id="13" name="Text 9"/>
          <p:cNvSpPr/>
          <p:nvPr>
            <p:custDataLst>
              <p:tags r:id="rId11"/>
            </p:custDataLst>
          </p:nvPr>
        </p:nvSpPr>
        <p:spPr>
          <a:xfrm>
            <a:off x="4942972" y="2151583"/>
            <a:ext cx="1937478" cy="420624"/>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黑盒测试优势</a:t>
            </a:r>
            <a:endParaRPr lang="en-US" sz="1440" dirty="0"/>
          </a:p>
        </p:txBody>
      </p:sp>
      <p:sp>
        <p:nvSpPr>
          <p:cNvPr id="14" name="Text 10"/>
          <p:cNvSpPr/>
          <p:nvPr>
            <p:custDataLst>
              <p:tags r:id="rId12"/>
            </p:custDataLst>
          </p:nvPr>
        </p:nvSpPr>
        <p:spPr>
          <a:xfrm>
            <a:off x="4942972" y="2746080"/>
            <a:ext cx="1937478" cy="128016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黑盒测试的优势在于它能够模拟真实用户的使用场景，发现软件在实际运行中的问题，提高软件的质量和用户体验，同时降低开发成本和维护成本。</a:t>
            </a:r>
            <a:endParaRPr lang="en-US" sz="14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白盒测试方法</a:t>
            </a:r>
            <a:endParaRPr lang="en-US" sz="1440" dirty="0"/>
          </a:p>
        </p:txBody>
      </p:sp>
      <p:pic>
        <p:nvPicPr>
          <p:cNvPr id="3" name="Image 0" descr="preencoded.png"/>
          <p:cNvPicPr>
            <a:picLocks noChangeAspect="1"/>
          </p:cNvPicPr>
          <p:nvPr/>
        </p:nvPicPr>
        <p:blipFill>
          <a:blip r:embed="rId2"/>
          <a:stretch>
            <a:fillRect/>
          </a:stretch>
        </p:blipFill>
        <p:spPr>
          <a:xfrm>
            <a:off x="3492742" y="3533242"/>
            <a:ext cx="5076120" cy="914400"/>
          </a:xfrm>
          <a:prstGeom prst="rect">
            <a:avLst/>
          </a:prstGeom>
        </p:spPr>
      </p:pic>
      <p:pic>
        <p:nvPicPr>
          <p:cNvPr id="4" name="Image 1" descr="preencoded.png"/>
          <p:cNvPicPr>
            <a:picLocks noChangeAspect="1"/>
          </p:cNvPicPr>
          <p:nvPr/>
        </p:nvPicPr>
        <p:blipFill>
          <a:blip r:embed="rId3"/>
          <a:stretch>
            <a:fillRect/>
          </a:stretch>
        </p:blipFill>
        <p:spPr>
          <a:xfrm>
            <a:off x="3825664" y="2361116"/>
            <a:ext cx="5052184" cy="914400"/>
          </a:xfrm>
          <a:prstGeom prst="rect">
            <a:avLst/>
          </a:prstGeom>
        </p:spPr>
      </p:pic>
      <p:pic>
        <p:nvPicPr>
          <p:cNvPr id="5" name="Image 2" descr="preencoded.png"/>
          <p:cNvPicPr>
            <a:picLocks noChangeAspect="1"/>
          </p:cNvPicPr>
          <p:nvPr/>
        </p:nvPicPr>
        <p:blipFill>
          <a:blip r:embed="rId4"/>
          <a:stretch>
            <a:fillRect/>
          </a:stretch>
        </p:blipFill>
        <p:spPr>
          <a:xfrm>
            <a:off x="3492297" y="1189396"/>
            <a:ext cx="5076566" cy="914400"/>
          </a:xfrm>
          <a:prstGeom prst="rect">
            <a:avLst/>
          </a:prstGeom>
        </p:spPr>
      </p:pic>
      <p:pic>
        <p:nvPicPr>
          <p:cNvPr id="6" name="Image 3" descr="preencoded.png"/>
          <p:cNvPicPr>
            <a:picLocks noChangeAspect="1"/>
          </p:cNvPicPr>
          <p:nvPr/>
        </p:nvPicPr>
        <p:blipFill>
          <a:blip r:embed="rId5">
            <a:alphaModFix amt="10000"/>
          </a:blip>
          <a:stretch>
            <a:fillRect/>
          </a:stretch>
        </p:blipFill>
        <p:spPr>
          <a:xfrm>
            <a:off x="266152" y="958648"/>
            <a:ext cx="3099446" cy="3719335"/>
          </a:xfrm>
          <a:prstGeom prst="rect">
            <a:avLst/>
          </a:prstGeom>
        </p:spPr>
      </p:pic>
      <p:pic>
        <p:nvPicPr>
          <p:cNvPr id="7" name="Image 4" descr="preencoded.png"/>
          <p:cNvPicPr>
            <a:picLocks noChangeAspect="1"/>
          </p:cNvPicPr>
          <p:nvPr/>
        </p:nvPicPr>
        <p:blipFill>
          <a:blip r:embed="rId6"/>
          <a:stretch>
            <a:fillRect/>
          </a:stretch>
        </p:blipFill>
        <p:spPr>
          <a:xfrm>
            <a:off x="950126" y="2119543"/>
            <a:ext cx="1035220" cy="1397547"/>
          </a:xfrm>
          <a:prstGeom prst="rect">
            <a:avLst/>
          </a:prstGeom>
        </p:spPr>
      </p:pic>
      <p:pic>
        <p:nvPicPr>
          <p:cNvPr id="8" name="Image 5" descr="preencoded.png"/>
          <p:cNvPicPr>
            <a:picLocks noChangeAspect="1"/>
          </p:cNvPicPr>
          <p:nvPr/>
        </p:nvPicPr>
        <p:blipFill>
          <a:blip r:embed="rId7"/>
          <a:stretch>
            <a:fillRect/>
          </a:stretch>
        </p:blipFill>
        <p:spPr>
          <a:xfrm>
            <a:off x="2917570" y="2361116"/>
            <a:ext cx="4830775" cy="914400"/>
          </a:xfrm>
          <a:prstGeom prst="rect">
            <a:avLst/>
          </a:prstGeom>
        </p:spPr>
      </p:pic>
      <p:sp>
        <p:nvSpPr>
          <p:cNvPr id="9" name="Shape 1"/>
          <p:cNvSpPr/>
          <p:nvPr/>
        </p:nvSpPr>
        <p:spPr>
          <a:xfrm>
            <a:off x="3031322" y="2484040"/>
            <a:ext cx="668552" cy="668552"/>
          </a:xfrm>
          <a:custGeom>
            <a:avLst/>
            <a:gdLst/>
            <a:ahLst/>
            <a:cxnLst/>
            <a:rect l="l" t="t" r="r" b="b"/>
            <a:pathLst>
              <a:path w="668552" h="668552">
                <a:moveTo>
                  <a:pt x="334276" y="0"/>
                </a:moveTo>
                <a:moveTo>
                  <a:pt x="334276" y="0"/>
                </a:moveTo>
                <a:cubicBezTo>
                  <a:pt x="518768" y="0"/>
                  <a:pt x="668552" y="149784"/>
                  <a:pt x="668552" y="334276"/>
                </a:cubicBezTo>
                <a:cubicBezTo>
                  <a:pt x="668552" y="518768"/>
                  <a:pt x="518768" y="668552"/>
                  <a:pt x="334276" y="668552"/>
                </a:cubicBezTo>
                <a:cubicBezTo>
                  <a:pt x="149784" y="668552"/>
                  <a:pt x="0" y="518768"/>
                  <a:pt x="0" y="334276"/>
                </a:cubicBezTo>
                <a:cubicBezTo>
                  <a:pt x="0" y="149784"/>
                  <a:pt x="149784" y="0"/>
                  <a:pt x="334276" y="0"/>
                </a:cubicBezTo>
                <a:close/>
              </a:path>
            </a:pathLst>
          </a:custGeom>
          <a:solidFill>
            <a:srgbClr val="FFFFFF"/>
          </a:solidFill>
        </p:spPr>
      </p:sp>
      <p:sp>
        <p:nvSpPr>
          <p:cNvPr id="10" name="Text 2"/>
          <p:cNvSpPr/>
          <p:nvPr/>
        </p:nvSpPr>
        <p:spPr>
          <a:xfrm>
            <a:off x="2935858" y="2493704"/>
            <a:ext cx="859481" cy="649224"/>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2450" b="1" dirty="0">
                <a:solidFill>
                  <a:srgbClr val="69BBE3"/>
                </a:solidFill>
                <a:latin typeface="PingFang SC" pitchFamily="34" charset="0"/>
                <a:ea typeface="PingFang SC" pitchFamily="34" charset="-122"/>
                <a:cs typeface="PingFang SC" pitchFamily="34" charset="-120"/>
              </a:rPr>
              <a:t>02</a:t>
            </a:r>
            <a:endParaRPr lang="en-US" sz="1440" dirty="0"/>
          </a:p>
        </p:txBody>
      </p:sp>
      <p:pic>
        <p:nvPicPr>
          <p:cNvPr id="11" name="Image 6" descr="preencoded.png"/>
          <p:cNvPicPr>
            <a:picLocks noChangeAspect="1"/>
          </p:cNvPicPr>
          <p:nvPr/>
        </p:nvPicPr>
        <p:blipFill>
          <a:blip r:embed="rId8"/>
          <a:stretch>
            <a:fillRect/>
          </a:stretch>
        </p:blipFill>
        <p:spPr>
          <a:xfrm>
            <a:off x="2536436" y="3533242"/>
            <a:ext cx="4830775" cy="914400"/>
          </a:xfrm>
          <a:prstGeom prst="rect">
            <a:avLst/>
          </a:prstGeom>
        </p:spPr>
      </p:pic>
      <p:sp>
        <p:nvSpPr>
          <p:cNvPr id="12" name="Shape 3"/>
          <p:cNvSpPr/>
          <p:nvPr/>
        </p:nvSpPr>
        <p:spPr>
          <a:xfrm>
            <a:off x="2649993" y="3655760"/>
            <a:ext cx="668552" cy="668552"/>
          </a:xfrm>
          <a:custGeom>
            <a:avLst/>
            <a:gdLst/>
            <a:ahLst/>
            <a:cxnLst/>
            <a:rect l="l" t="t" r="r" b="b"/>
            <a:pathLst>
              <a:path w="668552" h="668552">
                <a:moveTo>
                  <a:pt x="334276" y="0"/>
                </a:moveTo>
                <a:moveTo>
                  <a:pt x="334276" y="0"/>
                </a:moveTo>
                <a:cubicBezTo>
                  <a:pt x="518768" y="0"/>
                  <a:pt x="668552" y="149784"/>
                  <a:pt x="668552" y="334276"/>
                </a:cubicBezTo>
                <a:cubicBezTo>
                  <a:pt x="668552" y="518768"/>
                  <a:pt x="518768" y="668552"/>
                  <a:pt x="334276" y="668552"/>
                </a:cubicBezTo>
                <a:cubicBezTo>
                  <a:pt x="149784" y="668552"/>
                  <a:pt x="0" y="518768"/>
                  <a:pt x="0" y="334276"/>
                </a:cubicBezTo>
                <a:cubicBezTo>
                  <a:pt x="0" y="149784"/>
                  <a:pt x="149784" y="0"/>
                  <a:pt x="334276" y="0"/>
                </a:cubicBezTo>
                <a:close/>
              </a:path>
            </a:pathLst>
          </a:custGeom>
          <a:solidFill>
            <a:srgbClr val="FFFFFF"/>
          </a:solidFill>
        </p:spPr>
      </p:sp>
      <p:sp>
        <p:nvSpPr>
          <p:cNvPr id="13" name="Text 4"/>
          <p:cNvSpPr/>
          <p:nvPr/>
        </p:nvSpPr>
        <p:spPr>
          <a:xfrm>
            <a:off x="2554528" y="3665424"/>
            <a:ext cx="859481" cy="649224"/>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2450" b="1" dirty="0">
                <a:solidFill>
                  <a:srgbClr val="328CB2"/>
                </a:solidFill>
                <a:latin typeface="PingFang SC" pitchFamily="34" charset="0"/>
                <a:ea typeface="PingFang SC" pitchFamily="34" charset="-122"/>
                <a:cs typeface="PingFang SC" pitchFamily="34" charset="-120"/>
              </a:rPr>
              <a:t>03</a:t>
            </a:r>
            <a:endParaRPr lang="en-US" sz="1440" dirty="0"/>
          </a:p>
        </p:txBody>
      </p:sp>
      <p:pic>
        <p:nvPicPr>
          <p:cNvPr id="14" name="Image 7" descr="preencoded.png"/>
          <p:cNvPicPr>
            <a:picLocks noChangeAspect="1"/>
          </p:cNvPicPr>
          <p:nvPr/>
        </p:nvPicPr>
        <p:blipFill>
          <a:blip r:embed="rId9"/>
          <a:stretch>
            <a:fillRect/>
          </a:stretch>
        </p:blipFill>
        <p:spPr>
          <a:xfrm>
            <a:off x="2536240" y="1189396"/>
            <a:ext cx="4831199" cy="914400"/>
          </a:xfrm>
          <a:prstGeom prst="rect">
            <a:avLst/>
          </a:prstGeom>
        </p:spPr>
      </p:pic>
      <p:sp>
        <p:nvSpPr>
          <p:cNvPr id="15" name="Shape 5"/>
          <p:cNvSpPr/>
          <p:nvPr/>
        </p:nvSpPr>
        <p:spPr>
          <a:xfrm>
            <a:off x="2649993" y="1312319"/>
            <a:ext cx="668552" cy="668552"/>
          </a:xfrm>
          <a:custGeom>
            <a:avLst/>
            <a:gdLst/>
            <a:ahLst/>
            <a:cxnLst/>
            <a:rect l="l" t="t" r="r" b="b"/>
            <a:pathLst>
              <a:path w="668552" h="668552">
                <a:moveTo>
                  <a:pt x="334276" y="0"/>
                </a:moveTo>
                <a:moveTo>
                  <a:pt x="334276" y="0"/>
                </a:moveTo>
                <a:cubicBezTo>
                  <a:pt x="518768" y="0"/>
                  <a:pt x="668552" y="149784"/>
                  <a:pt x="668552" y="334276"/>
                </a:cubicBezTo>
                <a:cubicBezTo>
                  <a:pt x="668552" y="518768"/>
                  <a:pt x="518768" y="668552"/>
                  <a:pt x="334276" y="668552"/>
                </a:cubicBezTo>
                <a:cubicBezTo>
                  <a:pt x="149784" y="668552"/>
                  <a:pt x="0" y="518768"/>
                  <a:pt x="0" y="334276"/>
                </a:cubicBezTo>
                <a:cubicBezTo>
                  <a:pt x="0" y="149784"/>
                  <a:pt x="149784" y="0"/>
                  <a:pt x="334276" y="0"/>
                </a:cubicBezTo>
                <a:close/>
              </a:path>
            </a:pathLst>
          </a:custGeom>
          <a:solidFill>
            <a:srgbClr val="FFFFFF"/>
          </a:solidFill>
        </p:spPr>
      </p:sp>
      <p:sp>
        <p:nvSpPr>
          <p:cNvPr id="16" name="Text 6"/>
          <p:cNvSpPr/>
          <p:nvPr/>
        </p:nvSpPr>
        <p:spPr>
          <a:xfrm>
            <a:off x="2554528" y="1321984"/>
            <a:ext cx="859481" cy="649224"/>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2450" b="1" dirty="0">
                <a:solidFill>
                  <a:srgbClr val="328CB2"/>
                </a:solidFill>
                <a:latin typeface="PingFang SC" pitchFamily="34" charset="0"/>
                <a:ea typeface="PingFang SC" pitchFamily="34" charset="-122"/>
                <a:cs typeface="PingFang SC" pitchFamily="34" charset="-120"/>
              </a:rPr>
              <a:t>01</a:t>
            </a:r>
            <a:endParaRPr lang="en-US" sz="1440" dirty="0"/>
          </a:p>
        </p:txBody>
      </p:sp>
      <p:sp>
        <p:nvSpPr>
          <p:cNvPr id="17" name="Text 7"/>
          <p:cNvSpPr/>
          <p:nvPr/>
        </p:nvSpPr>
        <p:spPr>
          <a:xfrm>
            <a:off x="3353948" y="1245607"/>
            <a:ext cx="4969548" cy="38404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白盒测试定义</a:t>
            </a:r>
            <a:endParaRPr lang="en-US" sz="1440" dirty="0"/>
          </a:p>
        </p:txBody>
      </p:sp>
      <p:sp>
        <p:nvSpPr>
          <p:cNvPr id="18" name="Text 8"/>
          <p:cNvSpPr/>
          <p:nvPr/>
        </p:nvSpPr>
        <p:spPr>
          <a:xfrm>
            <a:off x="3353910" y="1491386"/>
            <a:ext cx="5029448" cy="54864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FFFFFF"/>
                </a:solidFill>
                <a:latin typeface="PingFang SC" pitchFamily="34" charset="0"/>
                <a:ea typeface="PingFang SC" pitchFamily="34" charset="-122"/>
                <a:cs typeface="PingFang SC" pitchFamily="34" charset="-120"/>
              </a:rPr>
              <a:t>白盒测试是一种软件测试方法，它通过检查内部结构或工作方式来确保代码的所有部分都按预期运行，从而提高软件质量和性能。</a:t>
            </a:r>
            <a:endParaRPr lang="en-US" sz="1440" dirty="0"/>
          </a:p>
        </p:txBody>
      </p:sp>
      <p:sp>
        <p:nvSpPr>
          <p:cNvPr id="19" name="Text 9"/>
          <p:cNvSpPr/>
          <p:nvPr/>
        </p:nvSpPr>
        <p:spPr>
          <a:xfrm>
            <a:off x="3735278" y="2417327"/>
            <a:ext cx="4921161" cy="38404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白盒测试技术</a:t>
            </a:r>
            <a:endParaRPr lang="en-US" sz="1440" dirty="0"/>
          </a:p>
        </p:txBody>
      </p:sp>
      <p:sp>
        <p:nvSpPr>
          <p:cNvPr id="20" name="Text 10"/>
          <p:cNvSpPr/>
          <p:nvPr/>
        </p:nvSpPr>
        <p:spPr>
          <a:xfrm>
            <a:off x="3735215" y="2662733"/>
            <a:ext cx="4996857" cy="54864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FFFFFF"/>
                </a:solidFill>
                <a:latin typeface="PingFang SC" pitchFamily="34" charset="0"/>
                <a:ea typeface="PingFang SC" pitchFamily="34" charset="-122"/>
                <a:cs typeface="PingFang SC" pitchFamily="34" charset="-120"/>
              </a:rPr>
              <a:t>白盒测试包括语句覆盖、分支覆盖、路径覆盖等技术，这些技术帮助测试人员深入了解代码逻辑，发现隐藏的缺陷和问题。</a:t>
            </a:r>
            <a:endParaRPr lang="en-US" sz="1440" dirty="0"/>
          </a:p>
        </p:txBody>
      </p:sp>
      <p:sp>
        <p:nvSpPr>
          <p:cNvPr id="21" name="Text 11"/>
          <p:cNvSpPr/>
          <p:nvPr/>
        </p:nvSpPr>
        <p:spPr>
          <a:xfrm>
            <a:off x="3353948" y="3589048"/>
            <a:ext cx="4969548" cy="38404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FFFFFF"/>
                </a:solidFill>
                <a:latin typeface="PingFang SC" pitchFamily="34" charset="0"/>
                <a:ea typeface="PingFang SC" pitchFamily="34" charset="-122"/>
                <a:cs typeface="PingFang SC" pitchFamily="34" charset="-120"/>
              </a:rPr>
              <a:t>白盒测试优势</a:t>
            </a:r>
            <a:endParaRPr lang="en-US" sz="1440" dirty="0"/>
          </a:p>
        </p:txBody>
      </p:sp>
      <p:sp>
        <p:nvSpPr>
          <p:cNvPr id="22" name="Text 12"/>
          <p:cNvSpPr/>
          <p:nvPr/>
        </p:nvSpPr>
        <p:spPr>
          <a:xfrm>
            <a:off x="3353910" y="3834994"/>
            <a:ext cx="5029448" cy="54864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FFFFFF"/>
                </a:solidFill>
                <a:latin typeface="PingFang SC" pitchFamily="34" charset="0"/>
                <a:ea typeface="PingFang SC" pitchFamily="34" charset="-122"/>
                <a:cs typeface="PingFang SC" pitchFamily="34" charset="-120"/>
              </a:rPr>
              <a:t>白盒测试能够提供详细的代码覆盖率报告，帮助开发团队识别未被测试到的代码区域，从而提升软件的稳定性和可靠性。</a:t>
            </a:r>
            <a:endParaRPr lang="en-US" sz="14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登录与注册测试用例</a:t>
            </a:r>
            <a:endParaRPr lang="en-US" sz="1440" dirty="0"/>
          </a:p>
        </p:txBody>
      </p:sp>
      <p:pic>
        <p:nvPicPr>
          <p:cNvPr id="3" name="Image 0" descr="preencoded.png"/>
          <p:cNvPicPr>
            <a:picLocks noChangeAspect="1"/>
          </p:cNvPicPr>
          <p:nvPr/>
        </p:nvPicPr>
        <p:blipFill>
          <a:blip r:embed="rId2"/>
          <a:stretch>
            <a:fillRect/>
          </a:stretch>
        </p:blipFill>
        <p:spPr>
          <a:xfrm>
            <a:off x="76401" y="1066046"/>
            <a:ext cx="4436520" cy="3771042"/>
          </a:xfrm>
          <a:prstGeom prst="rect">
            <a:avLst/>
          </a:prstGeom>
        </p:spPr>
      </p:pic>
      <p:pic>
        <p:nvPicPr>
          <p:cNvPr id="4" name="Image 1" descr="preencoded.png"/>
          <p:cNvPicPr>
            <a:picLocks noChangeAspect="1"/>
          </p:cNvPicPr>
          <p:nvPr/>
        </p:nvPicPr>
        <p:blipFill>
          <a:blip r:embed="rId3"/>
          <a:stretch>
            <a:fillRect/>
          </a:stretch>
        </p:blipFill>
        <p:spPr>
          <a:xfrm>
            <a:off x="41314" y="982706"/>
            <a:ext cx="4423962" cy="3760368"/>
          </a:xfrm>
          <a:prstGeom prst="rect">
            <a:avLst/>
          </a:prstGeom>
        </p:spPr>
      </p:pic>
      <p:pic>
        <p:nvPicPr>
          <p:cNvPr id="5" name="Image 2" descr="preencoded.png"/>
          <p:cNvPicPr>
            <a:picLocks noChangeAspect="1"/>
          </p:cNvPicPr>
          <p:nvPr/>
        </p:nvPicPr>
        <p:blipFill>
          <a:blip r:embed="rId4"/>
          <a:stretch>
            <a:fillRect/>
          </a:stretch>
        </p:blipFill>
        <p:spPr>
          <a:xfrm>
            <a:off x="2029443" y="1449195"/>
            <a:ext cx="484281" cy="484281"/>
          </a:xfrm>
          <a:prstGeom prst="rect">
            <a:avLst/>
          </a:prstGeom>
        </p:spPr>
      </p:pic>
      <p:pic>
        <p:nvPicPr>
          <p:cNvPr id="6" name="Image 3" descr="preencoded.png"/>
          <p:cNvPicPr>
            <a:picLocks noChangeAspect="1"/>
          </p:cNvPicPr>
          <p:nvPr/>
        </p:nvPicPr>
        <p:blipFill>
          <a:blip r:embed="rId5"/>
          <a:stretch>
            <a:fillRect/>
          </a:stretch>
        </p:blipFill>
        <p:spPr>
          <a:xfrm>
            <a:off x="2094231" y="3672546"/>
            <a:ext cx="363931" cy="363931"/>
          </a:xfrm>
          <a:prstGeom prst="rect">
            <a:avLst/>
          </a:prstGeom>
        </p:spPr>
      </p:pic>
      <p:sp>
        <p:nvSpPr>
          <p:cNvPr id="7" name="Shape 1"/>
          <p:cNvSpPr/>
          <p:nvPr/>
        </p:nvSpPr>
        <p:spPr>
          <a:xfrm>
            <a:off x="2222311" y="1135963"/>
            <a:ext cx="6665542" cy="991529"/>
          </a:xfrm>
          <a:custGeom>
            <a:avLst/>
            <a:gdLst/>
            <a:ahLst/>
            <a:cxnLst/>
            <a:rect l="l" t="t" r="r" b="b"/>
            <a:pathLst>
              <a:path w="6665542" h="991529">
                <a:moveTo>
                  <a:pt x="0" y="0"/>
                </a:moveTo>
                <a:moveTo>
                  <a:pt x="0" y="0"/>
                </a:moveTo>
                <a:lnTo>
                  <a:pt x="6665542" y="0"/>
                </a:lnTo>
                <a:lnTo>
                  <a:pt x="6665542" y="991529"/>
                </a:lnTo>
                <a:lnTo>
                  <a:pt x="0" y="991529"/>
                </a:lnTo>
                <a:close/>
              </a:path>
            </a:pathLst>
          </a:custGeom>
          <a:solidFill>
            <a:srgbClr val="328CB2">
              <a:alpha val="5882"/>
            </a:srgbClr>
          </a:solidFill>
        </p:spPr>
      </p:sp>
      <p:sp>
        <p:nvSpPr>
          <p:cNvPr id="8" name="Shape 2"/>
          <p:cNvSpPr/>
          <p:nvPr/>
        </p:nvSpPr>
        <p:spPr>
          <a:xfrm>
            <a:off x="2495848" y="2241059"/>
            <a:ext cx="6392005" cy="1036265"/>
          </a:xfrm>
          <a:custGeom>
            <a:avLst/>
            <a:gdLst/>
            <a:ahLst/>
            <a:cxnLst/>
            <a:rect l="l" t="t" r="r" b="b"/>
            <a:pathLst>
              <a:path w="6392005" h="1036265">
                <a:moveTo>
                  <a:pt x="0" y="0"/>
                </a:moveTo>
                <a:moveTo>
                  <a:pt x="0" y="0"/>
                </a:moveTo>
                <a:lnTo>
                  <a:pt x="6392005" y="0"/>
                </a:lnTo>
                <a:lnTo>
                  <a:pt x="6392005" y="1036265"/>
                </a:lnTo>
                <a:lnTo>
                  <a:pt x="0" y="1036265"/>
                </a:lnTo>
                <a:close/>
              </a:path>
            </a:pathLst>
          </a:custGeom>
          <a:solidFill>
            <a:srgbClr val="328CB2">
              <a:alpha val="5882"/>
            </a:srgbClr>
          </a:solidFill>
        </p:spPr>
      </p:sp>
      <p:sp>
        <p:nvSpPr>
          <p:cNvPr id="9" name="Shape 3"/>
          <p:cNvSpPr/>
          <p:nvPr/>
        </p:nvSpPr>
        <p:spPr>
          <a:xfrm>
            <a:off x="2495848" y="3450894"/>
            <a:ext cx="6392005" cy="997700"/>
          </a:xfrm>
          <a:custGeom>
            <a:avLst/>
            <a:gdLst/>
            <a:ahLst/>
            <a:cxnLst/>
            <a:rect l="l" t="t" r="r" b="b"/>
            <a:pathLst>
              <a:path w="6392005" h="997700">
                <a:moveTo>
                  <a:pt x="0" y="0"/>
                </a:moveTo>
                <a:moveTo>
                  <a:pt x="0" y="0"/>
                </a:moveTo>
                <a:lnTo>
                  <a:pt x="6392005" y="0"/>
                </a:lnTo>
                <a:lnTo>
                  <a:pt x="6392005" y="997700"/>
                </a:lnTo>
                <a:lnTo>
                  <a:pt x="0" y="997700"/>
                </a:lnTo>
                <a:close/>
              </a:path>
            </a:pathLst>
          </a:custGeom>
          <a:solidFill>
            <a:srgbClr val="328CB2">
              <a:alpha val="5882"/>
            </a:srgbClr>
          </a:solidFill>
        </p:spPr>
      </p:sp>
      <p:pic>
        <p:nvPicPr>
          <p:cNvPr id="10" name="Image 4" descr="preencoded.png"/>
          <p:cNvPicPr>
            <a:picLocks noChangeAspect="1"/>
          </p:cNvPicPr>
          <p:nvPr/>
        </p:nvPicPr>
        <p:blipFill>
          <a:blip r:embed="rId6"/>
          <a:stretch>
            <a:fillRect/>
          </a:stretch>
        </p:blipFill>
        <p:spPr>
          <a:xfrm>
            <a:off x="2091036" y="2544318"/>
            <a:ext cx="352384" cy="352384"/>
          </a:xfrm>
          <a:prstGeom prst="rect">
            <a:avLst/>
          </a:prstGeom>
        </p:spPr>
      </p:pic>
      <p:sp>
        <p:nvSpPr>
          <p:cNvPr id="11" name="Text 4"/>
          <p:cNvSpPr/>
          <p:nvPr/>
        </p:nvSpPr>
        <p:spPr>
          <a:xfrm>
            <a:off x="3070118" y="1457992"/>
            <a:ext cx="2458052" cy="347472"/>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登录功能测试用例设计</a:t>
            </a:r>
            <a:endParaRPr lang="en-US" sz="1440" dirty="0"/>
          </a:p>
        </p:txBody>
      </p:sp>
      <p:sp>
        <p:nvSpPr>
          <p:cNvPr id="12" name="Text 5"/>
          <p:cNvSpPr/>
          <p:nvPr/>
        </p:nvSpPr>
        <p:spPr>
          <a:xfrm>
            <a:off x="5528170" y="1199971"/>
            <a:ext cx="3293515" cy="850392"/>
          </a:xfrm>
          <a:prstGeom prst="rect">
            <a:avLst/>
          </a:prstGeom>
          <a:noFill/>
        </p:spPr>
        <p:txBody>
          <a:bodyPr wrap="square" lIns="95250" tIns="95250" rIns="95250" bIns="95250" rtlCol="0" anchor="ctr"/>
          <a:lstStyle/>
          <a:p>
            <a:pPr marL="0" indent="0">
              <a:lnSpc>
                <a:spcPct val="100000"/>
              </a:lnSpc>
              <a:buNone/>
            </a:pPr>
            <a:r>
              <a:rPr lang="en-US" sz="1010" dirty="0">
                <a:solidFill>
                  <a:srgbClr val="333333"/>
                </a:solidFill>
                <a:latin typeface="PingFang SC" pitchFamily="34" charset="0"/>
                <a:ea typeface="PingFang SC" pitchFamily="34" charset="-122"/>
                <a:cs typeface="PingFang SC" pitchFamily="34" charset="-120"/>
              </a:rPr>
              <a:t>登录功能测试用例设计关注于验证用户能否通过正确的凭据访问系统，包括对用户名和密码的校验，以及错误处理机制的有效性。</a:t>
            </a:r>
            <a:endParaRPr lang="en-US" sz="1440" dirty="0"/>
          </a:p>
        </p:txBody>
      </p:sp>
      <p:sp>
        <p:nvSpPr>
          <p:cNvPr id="13" name="Text 6"/>
          <p:cNvSpPr/>
          <p:nvPr/>
        </p:nvSpPr>
        <p:spPr>
          <a:xfrm>
            <a:off x="3548007" y="2585455"/>
            <a:ext cx="2435684" cy="347472"/>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注册流程测试要点</a:t>
            </a:r>
            <a:endParaRPr lang="en-US" sz="1440" dirty="0"/>
          </a:p>
        </p:txBody>
      </p:sp>
      <p:sp>
        <p:nvSpPr>
          <p:cNvPr id="14" name="Text 7"/>
          <p:cNvSpPr/>
          <p:nvPr/>
        </p:nvSpPr>
        <p:spPr>
          <a:xfrm>
            <a:off x="5983691" y="2311135"/>
            <a:ext cx="2837994" cy="850392"/>
          </a:xfrm>
          <a:prstGeom prst="rect">
            <a:avLst/>
          </a:prstGeom>
          <a:noFill/>
        </p:spPr>
        <p:txBody>
          <a:bodyPr wrap="square" lIns="95250" tIns="95250" rIns="95250" bIns="95250" rtlCol="0" anchor="ctr"/>
          <a:lstStyle/>
          <a:p>
            <a:pPr marL="0" indent="0">
              <a:lnSpc>
                <a:spcPct val="100000"/>
              </a:lnSpc>
              <a:buNone/>
            </a:pPr>
            <a:r>
              <a:rPr lang="en-US" sz="1010" dirty="0">
                <a:solidFill>
                  <a:srgbClr val="333333"/>
                </a:solidFill>
                <a:latin typeface="PingFang SC" pitchFamily="34" charset="0"/>
                <a:ea typeface="PingFang SC" pitchFamily="34" charset="-122"/>
                <a:cs typeface="PingFang SC" pitchFamily="34" charset="-120"/>
              </a:rPr>
              <a:t>注册流程测试要点涉及确保新用户可以顺利创建账户，包括输入验证、数据存储安全性及反馈信息的准确性，保障用户体验。</a:t>
            </a:r>
            <a:endParaRPr lang="en-US" sz="1440" dirty="0"/>
          </a:p>
        </p:txBody>
      </p:sp>
      <p:sp>
        <p:nvSpPr>
          <p:cNvPr id="15" name="Text 8"/>
          <p:cNvSpPr/>
          <p:nvPr/>
        </p:nvSpPr>
        <p:spPr>
          <a:xfrm>
            <a:off x="4056920" y="3776008"/>
            <a:ext cx="2223189" cy="347472"/>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异常情况处理策略</a:t>
            </a:r>
            <a:endParaRPr lang="en-US" sz="1440" dirty="0"/>
          </a:p>
        </p:txBody>
      </p:sp>
      <p:sp>
        <p:nvSpPr>
          <p:cNvPr id="16" name="Text 9"/>
          <p:cNvSpPr/>
          <p:nvPr/>
        </p:nvSpPr>
        <p:spPr>
          <a:xfrm>
            <a:off x="6280109" y="3437680"/>
            <a:ext cx="2541576" cy="1014984"/>
          </a:xfrm>
          <a:prstGeom prst="rect">
            <a:avLst/>
          </a:prstGeom>
          <a:noFill/>
        </p:spPr>
        <p:txBody>
          <a:bodyPr wrap="square" lIns="95250" tIns="95250" rIns="95250" bIns="95250" rtlCol="0" anchor="ctr"/>
          <a:lstStyle/>
          <a:p>
            <a:pPr marL="0" indent="0">
              <a:lnSpc>
                <a:spcPct val="100000"/>
              </a:lnSpc>
              <a:buNone/>
            </a:pPr>
            <a:r>
              <a:rPr lang="en-US" sz="1010" dirty="0">
                <a:solidFill>
                  <a:srgbClr val="333333"/>
                </a:solidFill>
                <a:latin typeface="PingFang SC" pitchFamily="34" charset="0"/>
                <a:ea typeface="PingFang SC" pitchFamily="34" charset="-122"/>
                <a:cs typeface="PingFang SC" pitchFamily="34" charset="-120"/>
              </a:rPr>
              <a:t>异常情况处理策略旨在评估系统对于非法输入、网络问题等非预期事件的响应能力，确保系统稳定运行并给出合理提示。</a:t>
            </a:r>
            <a:endParaRPr lang="en-US" sz="144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023" y="1222687"/>
            <a:ext cx="1882760" cy="179222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8350" b="1" dirty="0">
                <a:solidFill>
                  <a:srgbClr val="FFFFFF">
                    <a:alpha val="40000"/>
                  </a:srgbClr>
                </a:solidFill>
                <a:latin typeface="Arial" panose="020B0604020202020204" pitchFamily="34" charset="0"/>
                <a:ea typeface="Arial" panose="020B0604020202020204" pitchFamily="34" charset="-122"/>
                <a:cs typeface="Arial" panose="020B0604020202020204" pitchFamily="34" charset="-120"/>
              </a:rPr>
              <a:t>07</a:t>
            </a:r>
            <a:endParaRPr lang="en-US" sz="1440" dirty="0"/>
          </a:p>
        </p:txBody>
      </p:sp>
      <p:sp>
        <p:nvSpPr>
          <p:cNvPr id="3" name="Text 1"/>
          <p:cNvSpPr/>
          <p:nvPr/>
        </p:nvSpPr>
        <p:spPr>
          <a:xfrm>
            <a:off x="403023" y="2507428"/>
            <a:ext cx="3807290" cy="74980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开发过程与挑战</a:t>
            </a:r>
            <a:endParaRPr lang="en-US" sz="144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技术难题解决</a:t>
            </a:r>
            <a:endParaRPr lang="en-US" sz="1440" dirty="0"/>
          </a:p>
        </p:txBody>
      </p:sp>
      <p:sp>
        <p:nvSpPr>
          <p:cNvPr id="3" name="Text 1"/>
          <p:cNvSpPr/>
          <p:nvPr/>
        </p:nvSpPr>
        <p:spPr>
          <a:xfrm>
            <a:off x="245637" y="978502"/>
            <a:ext cx="878203" cy="813816"/>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3310" b="1" dirty="0">
                <a:solidFill>
                  <a:srgbClr val="328CB2"/>
                </a:solidFill>
                <a:latin typeface="PingFang SC" pitchFamily="34" charset="0"/>
                <a:ea typeface="PingFang SC" pitchFamily="34" charset="-122"/>
                <a:cs typeface="PingFang SC" pitchFamily="34" charset="-120"/>
              </a:rPr>
              <a:t>01</a:t>
            </a:r>
            <a:endParaRPr lang="en-US" sz="1440" dirty="0"/>
          </a:p>
        </p:txBody>
      </p:sp>
      <p:sp>
        <p:nvSpPr>
          <p:cNvPr id="4" name="Text 2"/>
          <p:cNvSpPr/>
          <p:nvPr/>
        </p:nvSpPr>
        <p:spPr>
          <a:xfrm>
            <a:off x="2457840" y="978502"/>
            <a:ext cx="878203" cy="813816"/>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3310" b="1" dirty="0">
                <a:solidFill>
                  <a:srgbClr val="69BBE3"/>
                </a:solidFill>
                <a:latin typeface="PingFang SC" pitchFamily="34" charset="0"/>
                <a:ea typeface="PingFang SC" pitchFamily="34" charset="-122"/>
                <a:cs typeface="PingFang SC" pitchFamily="34" charset="-120"/>
              </a:rPr>
              <a:t>02</a:t>
            </a:r>
            <a:endParaRPr lang="en-US" sz="1440" dirty="0"/>
          </a:p>
        </p:txBody>
      </p:sp>
      <p:sp>
        <p:nvSpPr>
          <p:cNvPr id="5" name="Text 3"/>
          <p:cNvSpPr/>
          <p:nvPr/>
        </p:nvSpPr>
        <p:spPr>
          <a:xfrm>
            <a:off x="4595299" y="978502"/>
            <a:ext cx="878203" cy="813816"/>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3310" b="1" dirty="0">
                <a:solidFill>
                  <a:srgbClr val="328CB2"/>
                </a:solidFill>
                <a:latin typeface="PingFang SC" pitchFamily="34" charset="0"/>
                <a:ea typeface="PingFang SC" pitchFamily="34" charset="-122"/>
                <a:cs typeface="PingFang SC" pitchFamily="34" charset="-120"/>
              </a:rPr>
              <a:t>03</a:t>
            </a:r>
            <a:endParaRPr lang="en-US" sz="1440" dirty="0"/>
          </a:p>
        </p:txBody>
      </p:sp>
      <p:sp>
        <p:nvSpPr>
          <p:cNvPr id="6" name="Text 4"/>
          <p:cNvSpPr/>
          <p:nvPr/>
        </p:nvSpPr>
        <p:spPr>
          <a:xfrm>
            <a:off x="319916" y="1796031"/>
            <a:ext cx="1976937" cy="383070"/>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问题识别与分析</a:t>
            </a:r>
            <a:endParaRPr lang="en-US" sz="1440" dirty="0"/>
          </a:p>
        </p:txBody>
      </p:sp>
      <p:pic>
        <p:nvPicPr>
          <p:cNvPr id="7" name="Image 0" descr="https://sgw-dx.xf-yun.com/api/v1/sparkdesk/_1746867005809749e4ed509dc4c1594817350954a6cce.jpg?authorization=c2ltcGxlLWp3dCBhaz1zcGFya2Rlc2s4MDAwMDAwMDAwMDE7ZXhwPTMzMjM2NjcwMDU7YWxnbz1obWFjLXNoYTI1NjtzaWc9UkoyUTdMYWJra1FNSHZranM5SDBqMS9GRTQ2Z1ZWS1BGaE95SGg0b0tLTT0=&amp;x_location=7YfmxI7B7uKO7jlRxIftd6UpfPD="/>
          <p:cNvPicPr>
            <a:picLocks noChangeAspect="1"/>
          </p:cNvPicPr>
          <p:nvPr/>
        </p:nvPicPr>
        <p:blipFill>
          <a:blip r:embed="rId2"/>
          <a:srcRect l="20000" r="20000"/>
          <a:stretch>
            <a:fillRect/>
          </a:stretch>
        </p:blipFill>
        <p:spPr>
          <a:xfrm>
            <a:off x="6741344" y="978502"/>
            <a:ext cx="2136517" cy="3560861"/>
          </a:xfrm>
          <a:prstGeom prst="rect">
            <a:avLst/>
          </a:prstGeom>
        </p:spPr>
      </p:pic>
      <p:sp>
        <p:nvSpPr>
          <p:cNvPr id="8" name="Text 5"/>
          <p:cNvSpPr/>
          <p:nvPr/>
        </p:nvSpPr>
        <p:spPr>
          <a:xfrm>
            <a:off x="319916" y="2351627"/>
            <a:ext cx="1977017"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在技术难题解决过程中，首要步骤是准确识别问题所在，通过深入分析确定问题根源，为后续的解决方案提供明确方向。</a:t>
            </a:r>
            <a:endParaRPr lang="en-US" sz="1440" dirty="0"/>
          </a:p>
        </p:txBody>
      </p:sp>
      <p:sp>
        <p:nvSpPr>
          <p:cNvPr id="9" name="Text 6"/>
          <p:cNvSpPr/>
          <p:nvPr/>
        </p:nvSpPr>
        <p:spPr>
          <a:xfrm>
            <a:off x="2532381" y="1796031"/>
            <a:ext cx="1977017" cy="383070"/>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创新解决方案开发</a:t>
            </a:r>
            <a:endParaRPr lang="en-US" sz="1440" dirty="0"/>
          </a:p>
        </p:txBody>
      </p:sp>
      <p:sp>
        <p:nvSpPr>
          <p:cNvPr id="10" name="Text 7"/>
          <p:cNvSpPr/>
          <p:nvPr/>
        </p:nvSpPr>
        <p:spPr>
          <a:xfrm>
            <a:off x="2532381" y="2351557"/>
            <a:ext cx="1977017"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针对已识别的技术难题，研发团队需运用创新思维，结合最新科技成果，开发出既高效又实用的解决方案。</a:t>
            </a:r>
            <a:endParaRPr lang="en-US" sz="1440" dirty="0"/>
          </a:p>
        </p:txBody>
      </p:sp>
      <p:sp>
        <p:nvSpPr>
          <p:cNvPr id="11" name="Text 8"/>
          <p:cNvSpPr/>
          <p:nvPr/>
        </p:nvSpPr>
        <p:spPr>
          <a:xfrm>
            <a:off x="4670101" y="1796428"/>
            <a:ext cx="1977017" cy="383070"/>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实施与效果评估</a:t>
            </a:r>
            <a:endParaRPr lang="en-US" sz="1440" dirty="0"/>
          </a:p>
        </p:txBody>
      </p:sp>
      <p:sp>
        <p:nvSpPr>
          <p:cNvPr id="12" name="Text 9"/>
          <p:cNvSpPr/>
          <p:nvPr/>
        </p:nvSpPr>
        <p:spPr>
          <a:xfrm>
            <a:off x="4670044" y="2351557"/>
            <a:ext cx="1977017"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解决方案确定后，接下来是实施阶段，通过严格的项目管理确保方案顺利执行，并对实施效果进行评估，以持续优化改进。</a:t>
            </a:r>
            <a:endParaRPr lang="en-US" sz="144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软件开发流程遵守</a:t>
            </a:r>
            <a:endParaRPr lang="en-US" sz="1440" dirty="0"/>
          </a:p>
        </p:txBody>
      </p:sp>
      <p:pic>
        <p:nvPicPr>
          <p:cNvPr id="3" name="Image 0" descr="preencoded.png"/>
          <p:cNvPicPr>
            <a:picLocks noChangeAspect="1"/>
          </p:cNvPicPr>
          <p:nvPr/>
        </p:nvPicPr>
        <p:blipFill>
          <a:blip r:embed="rId2"/>
          <a:stretch>
            <a:fillRect/>
          </a:stretch>
        </p:blipFill>
        <p:spPr>
          <a:xfrm>
            <a:off x="359974" y="1029120"/>
            <a:ext cx="2448981" cy="653062"/>
          </a:xfrm>
          <a:prstGeom prst="rect">
            <a:avLst/>
          </a:prstGeom>
        </p:spPr>
      </p:pic>
      <p:pic>
        <p:nvPicPr>
          <p:cNvPr id="4" name="Image 1" descr="preencoded.png"/>
          <p:cNvPicPr>
            <a:picLocks noChangeAspect="1"/>
          </p:cNvPicPr>
          <p:nvPr/>
        </p:nvPicPr>
        <p:blipFill>
          <a:blip r:embed="rId3"/>
          <a:stretch>
            <a:fillRect/>
          </a:stretch>
        </p:blipFill>
        <p:spPr>
          <a:xfrm>
            <a:off x="258385" y="1366822"/>
            <a:ext cx="2630933" cy="3079832"/>
          </a:xfrm>
          <a:prstGeom prst="rect">
            <a:avLst/>
          </a:prstGeom>
        </p:spPr>
      </p:pic>
      <p:sp>
        <p:nvSpPr>
          <p:cNvPr id="5" name="Text 1"/>
          <p:cNvSpPr/>
          <p:nvPr/>
        </p:nvSpPr>
        <p:spPr>
          <a:xfrm>
            <a:off x="1196703" y="3337102"/>
            <a:ext cx="754299" cy="100584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4320" b="1" i="1" dirty="0">
                <a:solidFill>
                  <a:srgbClr val="328CB2">
                    <a:alpha val="20000"/>
                  </a:srgbClr>
                </a:solidFill>
                <a:latin typeface="PingFang SC" pitchFamily="34" charset="0"/>
                <a:ea typeface="PingFang SC" pitchFamily="34" charset="-122"/>
                <a:cs typeface="PingFang SC" pitchFamily="34" charset="-120"/>
              </a:rPr>
              <a:t>1</a:t>
            </a:r>
            <a:endParaRPr lang="en-US" sz="1440" dirty="0"/>
          </a:p>
        </p:txBody>
      </p:sp>
      <p:sp>
        <p:nvSpPr>
          <p:cNvPr id="6" name="Shape 2"/>
          <p:cNvSpPr/>
          <p:nvPr/>
        </p:nvSpPr>
        <p:spPr>
          <a:xfrm>
            <a:off x="760497" y="4436996"/>
            <a:ext cx="1580293" cy="0"/>
          </a:xfrm>
          <a:custGeom>
            <a:avLst/>
            <a:gdLst/>
            <a:ahLst/>
            <a:cxnLst/>
            <a:rect l="l" t="t" r="r" b="b"/>
            <a:pathLst>
              <a:path w="1580293">
                <a:moveTo>
                  <a:pt x="0" y="0"/>
                </a:moveTo>
                <a:moveTo>
                  <a:pt x="0" y="0"/>
                </a:moveTo>
                <a:lnTo>
                  <a:pt x="1580293" y="0"/>
                </a:lnTo>
              </a:path>
            </a:pathLst>
          </a:custGeom>
          <a:noFill/>
          <a:ln w="40245">
            <a:solidFill>
              <a:srgbClr val="328CB2"/>
            </a:solidFill>
            <a:prstDash val="solid"/>
            <a:headEnd type="none"/>
            <a:tailEnd type="none"/>
          </a:ln>
        </p:spPr>
      </p:sp>
      <p:sp>
        <p:nvSpPr>
          <p:cNvPr id="7" name="Shape 3"/>
          <p:cNvSpPr/>
          <p:nvPr/>
        </p:nvSpPr>
        <p:spPr>
          <a:xfrm>
            <a:off x="2583982" y="3376834"/>
            <a:ext cx="505627" cy="505627"/>
          </a:xfrm>
          <a:custGeom>
            <a:avLst/>
            <a:gdLst/>
            <a:ahLst/>
            <a:cxnLst/>
            <a:rect l="l" t="t" r="r" b="b"/>
            <a:pathLst>
              <a:path w="505627" h="505627">
                <a:moveTo>
                  <a:pt x="252813" y="0"/>
                </a:moveTo>
                <a:moveTo>
                  <a:pt x="252813" y="0"/>
                </a:moveTo>
                <a:cubicBezTo>
                  <a:pt x="392345" y="0"/>
                  <a:pt x="505627" y="113282"/>
                  <a:pt x="505627" y="252813"/>
                </a:cubicBezTo>
                <a:cubicBezTo>
                  <a:pt x="505627" y="392345"/>
                  <a:pt x="392345" y="505627"/>
                  <a:pt x="252813" y="505627"/>
                </a:cubicBezTo>
                <a:cubicBezTo>
                  <a:pt x="113282" y="505627"/>
                  <a:pt x="0" y="392345"/>
                  <a:pt x="0" y="252813"/>
                </a:cubicBezTo>
                <a:cubicBezTo>
                  <a:pt x="0" y="113282"/>
                  <a:pt x="113282" y="0"/>
                  <a:pt x="252813" y="0"/>
                </a:cubicBezTo>
                <a:close/>
              </a:path>
            </a:pathLst>
          </a:custGeom>
          <a:solidFill>
            <a:srgbClr val="328CB2"/>
          </a:solidFill>
          <a:ln w="104775">
            <a:solidFill>
              <a:srgbClr val="328CB2">
                <a:alpha val="14118"/>
              </a:srgbClr>
            </a:solidFill>
            <a:prstDash val="solid"/>
          </a:ln>
        </p:spPr>
      </p:sp>
      <p:pic>
        <p:nvPicPr>
          <p:cNvPr id="8" name="Image 2" descr="preencoded.png"/>
          <p:cNvPicPr>
            <a:picLocks noChangeAspect="1"/>
          </p:cNvPicPr>
          <p:nvPr/>
        </p:nvPicPr>
        <p:blipFill>
          <a:blip r:embed="rId4"/>
          <a:stretch>
            <a:fillRect/>
          </a:stretch>
        </p:blipFill>
        <p:spPr>
          <a:xfrm>
            <a:off x="2694086" y="3486938"/>
            <a:ext cx="285419" cy="285419"/>
          </a:xfrm>
          <a:prstGeom prst="rect">
            <a:avLst/>
          </a:prstGeom>
        </p:spPr>
      </p:pic>
      <p:pic>
        <p:nvPicPr>
          <p:cNvPr id="9" name="Image 3" descr="preencoded.png"/>
          <p:cNvPicPr>
            <a:picLocks noChangeAspect="1"/>
          </p:cNvPicPr>
          <p:nvPr/>
        </p:nvPicPr>
        <p:blipFill>
          <a:blip r:embed="rId2"/>
          <a:stretch>
            <a:fillRect/>
          </a:stretch>
        </p:blipFill>
        <p:spPr>
          <a:xfrm>
            <a:off x="3360315" y="1029120"/>
            <a:ext cx="2448981" cy="653062"/>
          </a:xfrm>
          <a:prstGeom prst="rect">
            <a:avLst/>
          </a:prstGeom>
        </p:spPr>
      </p:pic>
      <p:pic>
        <p:nvPicPr>
          <p:cNvPr id="10" name="Image 4" descr="preencoded.png"/>
          <p:cNvPicPr>
            <a:picLocks noChangeAspect="1"/>
          </p:cNvPicPr>
          <p:nvPr/>
        </p:nvPicPr>
        <p:blipFill>
          <a:blip r:embed="rId3"/>
          <a:stretch>
            <a:fillRect/>
          </a:stretch>
        </p:blipFill>
        <p:spPr>
          <a:xfrm>
            <a:off x="3258726" y="1366822"/>
            <a:ext cx="2630933" cy="3079832"/>
          </a:xfrm>
          <a:prstGeom prst="rect">
            <a:avLst/>
          </a:prstGeom>
        </p:spPr>
      </p:pic>
      <p:sp>
        <p:nvSpPr>
          <p:cNvPr id="11" name="Text 4"/>
          <p:cNvSpPr/>
          <p:nvPr/>
        </p:nvSpPr>
        <p:spPr>
          <a:xfrm>
            <a:off x="4197043" y="3337102"/>
            <a:ext cx="754299" cy="100584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4320" b="1" i="1" dirty="0">
                <a:solidFill>
                  <a:srgbClr val="328CB2">
                    <a:alpha val="20000"/>
                  </a:srgbClr>
                </a:solidFill>
                <a:latin typeface="PingFang SC" pitchFamily="34" charset="0"/>
                <a:ea typeface="PingFang SC" pitchFamily="34" charset="-122"/>
                <a:cs typeface="PingFang SC" pitchFamily="34" charset="-120"/>
              </a:rPr>
              <a:t>2</a:t>
            </a:r>
            <a:endParaRPr lang="en-US" sz="1440" dirty="0"/>
          </a:p>
        </p:txBody>
      </p:sp>
      <p:sp>
        <p:nvSpPr>
          <p:cNvPr id="12" name="Shape 5"/>
          <p:cNvSpPr/>
          <p:nvPr/>
        </p:nvSpPr>
        <p:spPr>
          <a:xfrm>
            <a:off x="3760838" y="4436996"/>
            <a:ext cx="1580293" cy="0"/>
          </a:xfrm>
          <a:custGeom>
            <a:avLst/>
            <a:gdLst/>
            <a:ahLst/>
            <a:cxnLst/>
            <a:rect l="l" t="t" r="r" b="b"/>
            <a:pathLst>
              <a:path w="1580293">
                <a:moveTo>
                  <a:pt x="0" y="0"/>
                </a:moveTo>
                <a:moveTo>
                  <a:pt x="0" y="0"/>
                </a:moveTo>
                <a:lnTo>
                  <a:pt x="1580293" y="0"/>
                </a:lnTo>
              </a:path>
            </a:pathLst>
          </a:custGeom>
          <a:noFill/>
          <a:ln w="40245">
            <a:solidFill>
              <a:srgbClr val="328CB2"/>
            </a:solidFill>
            <a:prstDash val="solid"/>
            <a:headEnd type="none"/>
            <a:tailEnd type="none"/>
          </a:ln>
        </p:spPr>
      </p:sp>
      <p:sp>
        <p:nvSpPr>
          <p:cNvPr id="13" name="Shape 6"/>
          <p:cNvSpPr/>
          <p:nvPr/>
        </p:nvSpPr>
        <p:spPr>
          <a:xfrm>
            <a:off x="5574664" y="3376834"/>
            <a:ext cx="505627" cy="505627"/>
          </a:xfrm>
          <a:custGeom>
            <a:avLst/>
            <a:gdLst/>
            <a:ahLst/>
            <a:cxnLst/>
            <a:rect l="l" t="t" r="r" b="b"/>
            <a:pathLst>
              <a:path w="505627" h="505627">
                <a:moveTo>
                  <a:pt x="252813" y="0"/>
                </a:moveTo>
                <a:moveTo>
                  <a:pt x="252813" y="0"/>
                </a:moveTo>
                <a:cubicBezTo>
                  <a:pt x="392345" y="0"/>
                  <a:pt x="505627" y="113282"/>
                  <a:pt x="505627" y="252813"/>
                </a:cubicBezTo>
                <a:cubicBezTo>
                  <a:pt x="505627" y="392345"/>
                  <a:pt x="392345" y="505627"/>
                  <a:pt x="252813" y="505627"/>
                </a:cubicBezTo>
                <a:cubicBezTo>
                  <a:pt x="113282" y="505627"/>
                  <a:pt x="0" y="392345"/>
                  <a:pt x="0" y="252813"/>
                </a:cubicBezTo>
                <a:cubicBezTo>
                  <a:pt x="0" y="113282"/>
                  <a:pt x="113282" y="0"/>
                  <a:pt x="252813" y="0"/>
                </a:cubicBezTo>
                <a:close/>
              </a:path>
            </a:pathLst>
          </a:custGeom>
          <a:solidFill>
            <a:srgbClr val="328CB2"/>
          </a:solidFill>
          <a:ln w="104775">
            <a:solidFill>
              <a:srgbClr val="328CB2">
                <a:alpha val="14118"/>
              </a:srgbClr>
            </a:solidFill>
            <a:prstDash val="solid"/>
          </a:ln>
        </p:spPr>
      </p:sp>
      <p:pic>
        <p:nvPicPr>
          <p:cNvPr id="14" name="Image 5" descr="preencoded.png"/>
          <p:cNvPicPr>
            <a:picLocks noChangeAspect="1"/>
          </p:cNvPicPr>
          <p:nvPr/>
        </p:nvPicPr>
        <p:blipFill>
          <a:blip r:embed="rId4"/>
          <a:stretch>
            <a:fillRect/>
          </a:stretch>
        </p:blipFill>
        <p:spPr>
          <a:xfrm>
            <a:off x="5684767" y="3486938"/>
            <a:ext cx="285419" cy="285419"/>
          </a:xfrm>
          <a:prstGeom prst="rect">
            <a:avLst/>
          </a:prstGeom>
        </p:spPr>
      </p:pic>
      <p:pic>
        <p:nvPicPr>
          <p:cNvPr id="15" name="Image 6" descr="preencoded.png"/>
          <p:cNvPicPr>
            <a:picLocks noChangeAspect="1"/>
          </p:cNvPicPr>
          <p:nvPr/>
        </p:nvPicPr>
        <p:blipFill>
          <a:blip r:embed="rId2"/>
          <a:stretch>
            <a:fillRect/>
          </a:stretch>
        </p:blipFill>
        <p:spPr>
          <a:xfrm>
            <a:off x="6359513" y="1029120"/>
            <a:ext cx="2448981" cy="653062"/>
          </a:xfrm>
          <a:prstGeom prst="rect">
            <a:avLst/>
          </a:prstGeom>
        </p:spPr>
      </p:pic>
      <p:pic>
        <p:nvPicPr>
          <p:cNvPr id="16" name="Image 7" descr="preencoded.png"/>
          <p:cNvPicPr>
            <a:picLocks noChangeAspect="1"/>
          </p:cNvPicPr>
          <p:nvPr/>
        </p:nvPicPr>
        <p:blipFill>
          <a:blip r:embed="rId3"/>
          <a:stretch>
            <a:fillRect/>
          </a:stretch>
        </p:blipFill>
        <p:spPr>
          <a:xfrm>
            <a:off x="6257924" y="1366822"/>
            <a:ext cx="2630933" cy="3079832"/>
          </a:xfrm>
          <a:prstGeom prst="rect">
            <a:avLst/>
          </a:prstGeom>
        </p:spPr>
      </p:pic>
      <p:sp>
        <p:nvSpPr>
          <p:cNvPr id="17" name="Text 7"/>
          <p:cNvSpPr/>
          <p:nvPr/>
        </p:nvSpPr>
        <p:spPr>
          <a:xfrm>
            <a:off x="7196241" y="3337102"/>
            <a:ext cx="754299" cy="100584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4320" b="1" i="1" dirty="0">
                <a:solidFill>
                  <a:srgbClr val="328CB2">
                    <a:alpha val="20000"/>
                  </a:srgbClr>
                </a:solidFill>
                <a:latin typeface="PingFang SC" pitchFamily="34" charset="0"/>
                <a:ea typeface="PingFang SC" pitchFamily="34" charset="-122"/>
                <a:cs typeface="PingFang SC" pitchFamily="34" charset="-120"/>
              </a:rPr>
              <a:t>3</a:t>
            </a:r>
            <a:endParaRPr lang="en-US" sz="1440" dirty="0"/>
          </a:p>
        </p:txBody>
      </p:sp>
      <p:sp>
        <p:nvSpPr>
          <p:cNvPr id="18" name="Shape 8"/>
          <p:cNvSpPr/>
          <p:nvPr/>
        </p:nvSpPr>
        <p:spPr>
          <a:xfrm>
            <a:off x="6760036" y="4436996"/>
            <a:ext cx="1580293" cy="0"/>
          </a:xfrm>
          <a:custGeom>
            <a:avLst/>
            <a:gdLst/>
            <a:ahLst/>
            <a:cxnLst/>
            <a:rect l="l" t="t" r="r" b="b"/>
            <a:pathLst>
              <a:path w="1580293">
                <a:moveTo>
                  <a:pt x="0" y="0"/>
                </a:moveTo>
                <a:moveTo>
                  <a:pt x="0" y="0"/>
                </a:moveTo>
                <a:lnTo>
                  <a:pt x="1580293" y="0"/>
                </a:lnTo>
              </a:path>
            </a:pathLst>
          </a:custGeom>
          <a:noFill/>
          <a:ln w="40245">
            <a:solidFill>
              <a:srgbClr val="328CB2"/>
            </a:solidFill>
            <a:prstDash val="solid"/>
            <a:headEnd type="none"/>
            <a:tailEnd type="none"/>
          </a:ln>
        </p:spPr>
      </p:sp>
      <p:sp>
        <p:nvSpPr>
          <p:cNvPr id="19" name="Text 9"/>
          <p:cNvSpPr/>
          <p:nvPr/>
        </p:nvSpPr>
        <p:spPr>
          <a:xfrm>
            <a:off x="665493" y="1167303"/>
            <a:ext cx="1864901" cy="376696"/>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PingFang SC" pitchFamily="34" charset="0"/>
                <a:ea typeface="PingFang SC" pitchFamily="34" charset="-122"/>
                <a:cs typeface="PingFang SC" pitchFamily="34" charset="-120"/>
              </a:rPr>
              <a:t>需求分析的重要性</a:t>
            </a:r>
            <a:endParaRPr lang="en-US" sz="1440" dirty="0"/>
          </a:p>
        </p:txBody>
      </p:sp>
      <p:sp>
        <p:nvSpPr>
          <p:cNvPr id="20" name="Text 10"/>
          <p:cNvSpPr/>
          <p:nvPr/>
        </p:nvSpPr>
        <p:spPr>
          <a:xfrm>
            <a:off x="405148" y="1682182"/>
            <a:ext cx="2337408" cy="10607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需求分析是软件开发的基石，通过与利益相关者的深入沟通，确保全面理解用户需求，为后续设计和开发提供明确方向。</a:t>
            </a:r>
            <a:endParaRPr lang="en-US" sz="1440" dirty="0"/>
          </a:p>
        </p:txBody>
      </p:sp>
      <p:sp>
        <p:nvSpPr>
          <p:cNvPr id="21" name="Text 11"/>
          <p:cNvSpPr/>
          <p:nvPr/>
        </p:nvSpPr>
        <p:spPr>
          <a:xfrm>
            <a:off x="3593947" y="1157644"/>
            <a:ext cx="1900844" cy="396014"/>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PingFang SC" pitchFamily="34" charset="0"/>
                <a:ea typeface="PingFang SC" pitchFamily="34" charset="-122"/>
                <a:cs typeface="PingFang SC" pitchFamily="34" charset="-120"/>
              </a:rPr>
              <a:t>系统设计的蓝图</a:t>
            </a:r>
            <a:endParaRPr lang="en-US" sz="1440" dirty="0"/>
          </a:p>
        </p:txBody>
      </p:sp>
      <p:sp>
        <p:nvSpPr>
          <p:cNvPr id="22" name="Text 12"/>
          <p:cNvSpPr/>
          <p:nvPr/>
        </p:nvSpPr>
        <p:spPr>
          <a:xfrm>
            <a:off x="3405489" y="1682182"/>
            <a:ext cx="2337408" cy="10607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系统设计将用户需求转化为具体的技术方案，包括功能结构、数据库和界面设计，确保系统的功能性、可靠性和可扩展性。</a:t>
            </a:r>
            <a:endParaRPr lang="en-US" sz="1440" dirty="0"/>
          </a:p>
        </p:txBody>
      </p:sp>
      <p:sp>
        <p:nvSpPr>
          <p:cNvPr id="23" name="Text 13"/>
          <p:cNvSpPr/>
          <p:nvPr/>
        </p:nvSpPr>
        <p:spPr>
          <a:xfrm>
            <a:off x="6584160" y="1162473"/>
            <a:ext cx="1936787" cy="376696"/>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PingFang SC" pitchFamily="34" charset="0"/>
                <a:ea typeface="PingFang SC" pitchFamily="34" charset="-122"/>
                <a:cs typeface="PingFang SC" pitchFamily="34" charset="-120"/>
              </a:rPr>
              <a:t>系统测试的关键作用</a:t>
            </a:r>
            <a:endParaRPr lang="en-US" sz="1440" dirty="0"/>
          </a:p>
        </p:txBody>
      </p:sp>
      <p:sp>
        <p:nvSpPr>
          <p:cNvPr id="24" name="Text 14"/>
          <p:cNvSpPr/>
          <p:nvPr/>
        </p:nvSpPr>
        <p:spPr>
          <a:xfrm>
            <a:off x="6404687" y="1682182"/>
            <a:ext cx="2337408" cy="10607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系统测试验证软件是否满足预期的功能和性能要求，通过各种测试方法发现并修复问题，确保系统的稳定性和可靠性。</a:t>
            </a:r>
            <a:endParaRPr lang="en-US" sz="144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编程能力提升</a:t>
            </a:r>
            <a:endParaRPr lang="en-US" sz="1440" dirty="0"/>
          </a:p>
        </p:txBody>
      </p:sp>
      <p:sp>
        <p:nvSpPr>
          <p:cNvPr id="3" name="Shape 1"/>
          <p:cNvSpPr/>
          <p:nvPr/>
        </p:nvSpPr>
        <p:spPr>
          <a:xfrm>
            <a:off x="1163262" y="1262153"/>
            <a:ext cx="1151947" cy="1151947"/>
          </a:xfrm>
          <a:custGeom>
            <a:avLst/>
            <a:gdLst/>
            <a:ahLst/>
            <a:cxnLst/>
            <a:rect l="l" t="t" r="r" b="b"/>
            <a:pathLst>
              <a:path w="1151947" h="1151947">
                <a:moveTo>
                  <a:pt x="575974" y="0"/>
                </a:moveTo>
                <a:moveTo>
                  <a:pt x="575974" y="0"/>
                </a:moveTo>
                <a:cubicBezTo>
                  <a:pt x="893862" y="0"/>
                  <a:pt x="1151947" y="258085"/>
                  <a:pt x="1151947" y="575974"/>
                </a:cubicBezTo>
                <a:cubicBezTo>
                  <a:pt x="1151947" y="893862"/>
                  <a:pt x="893862" y="1151947"/>
                  <a:pt x="575974" y="1151947"/>
                </a:cubicBezTo>
                <a:cubicBezTo>
                  <a:pt x="258085" y="1151947"/>
                  <a:pt x="0" y="893862"/>
                  <a:pt x="0" y="575974"/>
                </a:cubicBezTo>
                <a:cubicBezTo>
                  <a:pt x="0" y="258085"/>
                  <a:pt x="258085" y="0"/>
                  <a:pt x="575974" y="0"/>
                </a:cubicBezTo>
                <a:close/>
              </a:path>
            </a:pathLst>
          </a:custGeom>
          <a:solidFill>
            <a:srgbClr val="328CB2">
              <a:alpha val="0"/>
            </a:srgbClr>
          </a:solidFill>
          <a:ln w="38100">
            <a:solidFill>
              <a:srgbClr val="69BBE3"/>
            </a:solidFill>
            <a:prstDash val="solid"/>
          </a:ln>
        </p:spPr>
      </p:sp>
      <p:sp>
        <p:nvSpPr>
          <p:cNvPr id="4" name="Shape 2"/>
          <p:cNvSpPr/>
          <p:nvPr/>
        </p:nvSpPr>
        <p:spPr>
          <a:xfrm>
            <a:off x="6844840" y="1262153"/>
            <a:ext cx="1151947" cy="1151947"/>
          </a:xfrm>
          <a:custGeom>
            <a:avLst/>
            <a:gdLst/>
            <a:ahLst/>
            <a:cxnLst/>
            <a:rect l="l" t="t" r="r" b="b"/>
            <a:pathLst>
              <a:path w="1151947" h="1151947">
                <a:moveTo>
                  <a:pt x="575974" y="0"/>
                </a:moveTo>
                <a:moveTo>
                  <a:pt x="575974" y="0"/>
                </a:moveTo>
                <a:cubicBezTo>
                  <a:pt x="893862" y="0"/>
                  <a:pt x="1151947" y="258085"/>
                  <a:pt x="1151947" y="575974"/>
                </a:cubicBezTo>
                <a:cubicBezTo>
                  <a:pt x="1151947" y="893862"/>
                  <a:pt x="893862" y="1151947"/>
                  <a:pt x="575974" y="1151947"/>
                </a:cubicBezTo>
                <a:cubicBezTo>
                  <a:pt x="258085" y="1151947"/>
                  <a:pt x="0" y="893862"/>
                  <a:pt x="0" y="575974"/>
                </a:cubicBezTo>
                <a:cubicBezTo>
                  <a:pt x="0" y="258085"/>
                  <a:pt x="258085" y="0"/>
                  <a:pt x="575974" y="0"/>
                </a:cubicBezTo>
                <a:close/>
              </a:path>
            </a:pathLst>
          </a:custGeom>
          <a:solidFill>
            <a:srgbClr val="328CB2">
              <a:alpha val="0"/>
            </a:srgbClr>
          </a:solidFill>
          <a:ln w="38100">
            <a:solidFill>
              <a:srgbClr val="69BBE3"/>
            </a:solidFill>
            <a:prstDash val="solid"/>
          </a:ln>
        </p:spPr>
      </p:sp>
      <p:pic>
        <p:nvPicPr>
          <p:cNvPr id="5" name="Image 0" descr="preencoded.png"/>
          <p:cNvPicPr>
            <a:picLocks noChangeAspect="1"/>
          </p:cNvPicPr>
          <p:nvPr/>
        </p:nvPicPr>
        <p:blipFill>
          <a:blip r:embed="rId2"/>
          <a:stretch>
            <a:fillRect/>
          </a:stretch>
        </p:blipFill>
        <p:spPr>
          <a:xfrm>
            <a:off x="1393876" y="1492766"/>
            <a:ext cx="690721" cy="690721"/>
          </a:xfrm>
          <a:prstGeom prst="rect">
            <a:avLst/>
          </a:prstGeom>
        </p:spPr>
      </p:pic>
      <p:pic>
        <p:nvPicPr>
          <p:cNvPr id="6" name="Image 1" descr="preencoded.png"/>
          <p:cNvPicPr>
            <a:picLocks noChangeAspect="1"/>
          </p:cNvPicPr>
          <p:nvPr/>
        </p:nvPicPr>
        <p:blipFill>
          <a:blip r:embed="rId3"/>
          <a:stretch>
            <a:fillRect/>
          </a:stretch>
        </p:blipFill>
        <p:spPr>
          <a:xfrm>
            <a:off x="7164924" y="1582237"/>
            <a:ext cx="511778" cy="511778"/>
          </a:xfrm>
          <a:prstGeom prst="rect">
            <a:avLst/>
          </a:prstGeom>
        </p:spPr>
      </p:pic>
      <p:sp>
        <p:nvSpPr>
          <p:cNvPr id="7" name="Shape 3"/>
          <p:cNvSpPr/>
          <p:nvPr/>
        </p:nvSpPr>
        <p:spPr>
          <a:xfrm>
            <a:off x="3850635" y="1080185"/>
            <a:ext cx="1442730" cy="1442730"/>
          </a:xfrm>
          <a:custGeom>
            <a:avLst/>
            <a:gdLst/>
            <a:ahLst/>
            <a:cxnLst/>
            <a:rect l="l" t="t" r="r" b="b"/>
            <a:pathLst>
              <a:path w="1442730" h="1442730">
                <a:moveTo>
                  <a:pt x="721365" y="0"/>
                </a:moveTo>
                <a:moveTo>
                  <a:pt x="721365" y="0"/>
                </a:moveTo>
                <a:cubicBezTo>
                  <a:pt x="1119497" y="0"/>
                  <a:pt x="1442730" y="323233"/>
                  <a:pt x="1442730" y="721365"/>
                </a:cubicBezTo>
                <a:cubicBezTo>
                  <a:pt x="1442730" y="1119497"/>
                  <a:pt x="1119497" y="1442730"/>
                  <a:pt x="721365" y="1442730"/>
                </a:cubicBezTo>
                <a:cubicBezTo>
                  <a:pt x="323233" y="1442730"/>
                  <a:pt x="0" y="1119497"/>
                  <a:pt x="0" y="721365"/>
                </a:cubicBezTo>
                <a:cubicBezTo>
                  <a:pt x="0" y="323233"/>
                  <a:pt x="323233" y="0"/>
                  <a:pt x="721365" y="0"/>
                </a:cubicBezTo>
                <a:close/>
              </a:path>
            </a:pathLst>
          </a:custGeom>
          <a:solidFill>
            <a:srgbClr val="328CB2">
              <a:alpha val="0"/>
            </a:srgbClr>
          </a:solidFill>
          <a:ln w="38100">
            <a:solidFill>
              <a:srgbClr val="328CB2"/>
            </a:solidFill>
            <a:prstDash val="solid"/>
          </a:ln>
        </p:spPr>
      </p:sp>
      <p:pic>
        <p:nvPicPr>
          <p:cNvPr id="8" name="Image 2" descr="preencoded.png"/>
          <p:cNvPicPr>
            <a:picLocks noChangeAspect="1"/>
          </p:cNvPicPr>
          <p:nvPr/>
        </p:nvPicPr>
        <p:blipFill>
          <a:blip r:embed="rId4"/>
          <a:stretch>
            <a:fillRect/>
          </a:stretch>
        </p:blipFill>
        <p:spPr>
          <a:xfrm>
            <a:off x="4215456" y="1445006"/>
            <a:ext cx="713089" cy="713089"/>
          </a:xfrm>
          <a:prstGeom prst="rect">
            <a:avLst/>
          </a:prstGeom>
        </p:spPr>
      </p:pic>
      <p:sp>
        <p:nvSpPr>
          <p:cNvPr id="9" name="Text 4"/>
          <p:cNvSpPr/>
          <p:nvPr/>
        </p:nvSpPr>
        <p:spPr>
          <a:xfrm>
            <a:off x="358844" y="2594576"/>
            <a:ext cx="2760785" cy="483319"/>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69BBE3"/>
                </a:solidFill>
                <a:latin typeface="PingFang SC" pitchFamily="34" charset="0"/>
                <a:ea typeface="PingFang SC" pitchFamily="34" charset="-122"/>
                <a:cs typeface="PingFang SC" pitchFamily="34" charset="-120"/>
              </a:rPr>
              <a:t>掌握基础编程语言</a:t>
            </a:r>
            <a:endParaRPr lang="en-US" sz="1440" dirty="0"/>
          </a:p>
        </p:txBody>
      </p:sp>
      <p:sp>
        <p:nvSpPr>
          <p:cNvPr id="10" name="Text 5"/>
          <p:cNvSpPr/>
          <p:nvPr/>
        </p:nvSpPr>
        <p:spPr>
          <a:xfrm>
            <a:off x="682353" y="3105327"/>
            <a:ext cx="2113767"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学习如Python、Java等基础编程语言是提升编程能力的第一步，它们不仅有助于理解计算机科学的基本概念，还能为解决复杂问题打下坚实的基础。</a:t>
            </a:r>
            <a:endParaRPr lang="en-US" sz="1440" dirty="0"/>
          </a:p>
        </p:txBody>
      </p:sp>
      <p:sp>
        <p:nvSpPr>
          <p:cNvPr id="11" name="Text 6"/>
          <p:cNvSpPr/>
          <p:nvPr/>
        </p:nvSpPr>
        <p:spPr>
          <a:xfrm>
            <a:off x="3191713" y="2719426"/>
            <a:ext cx="2760574" cy="483718"/>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实践项目开发</a:t>
            </a:r>
            <a:endParaRPr lang="en-US" sz="1440" dirty="0"/>
          </a:p>
        </p:txBody>
      </p:sp>
      <p:sp>
        <p:nvSpPr>
          <p:cNvPr id="12" name="Text 7"/>
          <p:cNvSpPr/>
          <p:nvPr/>
        </p:nvSpPr>
        <p:spPr>
          <a:xfrm>
            <a:off x="3514954" y="3229661"/>
            <a:ext cx="2114093"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通过参与实际的软件开发项目，可以有效提升编程技能和解决问题的能力，实践中遇到的挑战将推动你不断学习和成长。</a:t>
            </a:r>
            <a:endParaRPr lang="en-US" sz="1440" dirty="0"/>
          </a:p>
        </p:txBody>
      </p:sp>
      <p:sp>
        <p:nvSpPr>
          <p:cNvPr id="13" name="Text 8"/>
          <p:cNvSpPr/>
          <p:nvPr/>
        </p:nvSpPr>
        <p:spPr>
          <a:xfrm>
            <a:off x="6040526" y="2594153"/>
            <a:ext cx="2760574" cy="483718"/>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69BBE3"/>
                </a:solidFill>
                <a:latin typeface="PingFang SC" pitchFamily="34" charset="0"/>
                <a:ea typeface="PingFang SC" pitchFamily="34" charset="-122"/>
                <a:cs typeface="PingFang SC" pitchFamily="34" charset="-120"/>
              </a:rPr>
              <a:t>持续学习新技术</a:t>
            </a:r>
            <a:endParaRPr lang="en-US" sz="1440" dirty="0"/>
          </a:p>
        </p:txBody>
      </p:sp>
      <p:sp>
        <p:nvSpPr>
          <p:cNvPr id="14" name="Text 9"/>
          <p:cNvSpPr/>
          <p:nvPr/>
        </p:nvSpPr>
        <p:spPr>
          <a:xfrm>
            <a:off x="6363767" y="3105302"/>
            <a:ext cx="2114093"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技术领域日新月异，持续学习最新的编程语言和技术框架对于保持竞争力至关重要，它能让你在快速变化的行业中站稳脚跟。</a:t>
            </a:r>
            <a:endParaRPr lang="en-US" sz="144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023" y="1222687"/>
            <a:ext cx="1882760" cy="179222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8350" b="1" dirty="0">
                <a:solidFill>
                  <a:srgbClr val="FFFFFF">
                    <a:alpha val="40000"/>
                  </a:srgbClr>
                </a:solidFill>
                <a:latin typeface="Arial" panose="020B0604020202020204" pitchFamily="34" charset="0"/>
                <a:ea typeface="Arial" panose="020B0604020202020204" pitchFamily="34" charset="-122"/>
                <a:cs typeface="Arial" panose="020B0604020202020204" pitchFamily="34" charset="-120"/>
              </a:rPr>
              <a:t>08</a:t>
            </a:r>
            <a:endParaRPr lang="en-US" sz="1440" dirty="0"/>
          </a:p>
        </p:txBody>
      </p:sp>
      <p:sp>
        <p:nvSpPr>
          <p:cNvPr id="3" name="Text 1"/>
          <p:cNvSpPr/>
          <p:nvPr/>
        </p:nvSpPr>
        <p:spPr>
          <a:xfrm>
            <a:off x="403023" y="2507428"/>
            <a:ext cx="3807290" cy="74980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致谢部分</a:t>
            </a:r>
            <a:endParaRPr lang="en-US" sz="144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导师指导感谢</a:t>
            </a:r>
            <a:endParaRPr lang="en-US" sz="1440" dirty="0"/>
          </a:p>
        </p:txBody>
      </p:sp>
      <p:sp>
        <p:nvSpPr>
          <p:cNvPr id="3" name="Shape 1"/>
          <p:cNvSpPr/>
          <p:nvPr/>
        </p:nvSpPr>
        <p:spPr>
          <a:xfrm>
            <a:off x="372998" y="1262645"/>
            <a:ext cx="6793133" cy="0"/>
          </a:xfrm>
          <a:custGeom>
            <a:avLst/>
            <a:gdLst/>
            <a:ahLst/>
            <a:cxnLst/>
            <a:rect l="l" t="t" r="r" b="b"/>
            <a:pathLst>
              <a:path w="6793133">
                <a:moveTo>
                  <a:pt x="6793133" y="0"/>
                </a:moveTo>
                <a:moveTo>
                  <a:pt x="6793133" y="0"/>
                </a:moveTo>
                <a:lnTo>
                  <a:pt x="0" y="0"/>
                </a:lnTo>
              </a:path>
            </a:pathLst>
          </a:custGeom>
          <a:noFill/>
          <a:ln w="9525">
            <a:solidFill>
              <a:srgbClr val="E1E1E1"/>
            </a:solidFill>
            <a:prstDash val="solid"/>
            <a:headEnd type="none"/>
            <a:tailEnd type="none"/>
          </a:ln>
        </p:spPr>
      </p:sp>
      <p:pic>
        <p:nvPicPr>
          <p:cNvPr id="4" name="Image 0" descr="https://oceandoc-ai.obs.ap-southeast-3.myhuaweicloud.com/ppt_list_page/_19052329831_pZN4da1732156004906-023884567989475713.png?authorization=c2ltcGxlLWp3dCBhaz1zcGFya2Rlc2s4MDAwMDAwMDAwMDE7ZXhwPTMzMDg5NTYwMDY7YWxnbz1obWFjLXNoYTI1NjtzaWc9ZHp5V29yc3hUUWQ1RGZHYUpqTWxuS28xL29WZUtjTytzbGo0QXNrVTVOcz0=&amp;x_location=7YfmxI7B7uKO7jlRxIftd60pfXD="/>
          <p:cNvPicPr>
            <a:picLocks noChangeAspect="1"/>
          </p:cNvPicPr>
          <p:nvPr/>
        </p:nvPicPr>
        <p:blipFill>
          <a:blip r:embed="rId2"/>
          <a:stretch>
            <a:fillRect/>
          </a:stretch>
        </p:blipFill>
        <p:spPr>
          <a:xfrm>
            <a:off x="6988961" y="901354"/>
            <a:ext cx="1832206" cy="3494071"/>
          </a:xfrm>
          <a:prstGeom prst="rect">
            <a:avLst/>
          </a:prstGeom>
        </p:spPr>
      </p:pic>
      <p:sp>
        <p:nvSpPr>
          <p:cNvPr id="5" name="Text 2"/>
          <p:cNvSpPr/>
          <p:nvPr/>
        </p:nvSpPr>
        <p:spPr>
          <a:xfrm>
            <a:off x="367589" y="1511046"/>
            <a:ext cx="572963" cy="62179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305" b="1" i="1" dirty="0">
                <a:solidFill>
                  <a:srgbClr val="328CB2"/>
                </a:solidFill>
                <a:latin typeface="PingFang SC" pitchFamily="34" charset="0"/>
                <a:ea typeface="PingFang SC" pitchFamily="34" charset="-122"/>
                <a:cs typeface="PingFang SC" pitchFamily="34" charset="-120"/>
              </a:rPr>
              <a:t>01</a:t>
            </a:r>
            <a:endParaRPr lang="en-US" sz="1440" dirty="0"/>
          </a:p>
        </p:txBody>
      </p:sp>
      <p:sp>
        <p:nvSpPr>
          <p:cNvPr id="6" name="Text 3"/>
          <p:cNvSpPr/>
          <p:nvPr/>
        </p:nvSpPr>
        <p:spPr>
          <a:xfrm>
            <a:off x="2686507" y="1511046"/>
            <a:ext cx="572963" cy="62179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305" b="1" i="1" dirty="0">
                <a:solidFill>
                  <a:srgbClr val="69BBE3"/>
                </a:solidFill>
                <a:latin typeface="PingFang SC" pitchFamily="34" charset="0"/>
                <a:ea typeface="PingFang SC" pitchFamily="34" charset="-122"/>
                <a:cs typeface="PingFang SC" pitchFamily="34" charset="-120"/>
              </a:rPr>
              <a:t>02</a:t>
            </a:r>
            <a:endParaRPr lang="en-US" sz="1440" dirty="0"/>
          </a:p>
        </p:txBody>
      </p:sp>
      <p:sp>
        <p:nvSpPr>
          <p:cNvPr id="7" name="Text 4"/>
          <p:cNvSpPr/>
          <p:nvPr/>
        </p:nvSpPr>
        <p:spPr>
          <a:xfrm>
            <a:off x="4942972" y="1511046"/>
            <a:ext cx="572963" cy="62179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305" b="1" i="1" dirty="0">
                <a:solidFill>
                  <a:srgbClr val="328CB2"/>
                </a:solidFill>
                <a:latin typeface="PingFang SC" pitchFamily="34" charset="0"/>
                <a:ea typeface="PingFang SC" pitchFamily="34" charset="-122"/>
                <a:cs typeface="PingFang SC" pitchFamily="34" charset="-120"/>
              </a:rPr>
              <a:t>03</a:t>
            </a:r>
            <a:endParaRPr lang="en-US" sz="1440" dirty="0"/>
          </a:p>
        </p:txBody>
      </p:sp>
      <p:sp>
        <p:nvSpPr>
          <p:cNvPr id="8" name="Text 5"/>
          <p:cNvSpPr/>
          <p:nvPr/>
        </p:nvSpPr>
        <p:spPr>
          <a:xfrm>
            <a:off x="367589" y="2151583"/>
            <a:ext cx="1937614" cy="420624"/>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导师的悉心指导</a:t>
            </a:r>
            <a:endParaRPr lang="en-US" sz="1440" dirty="0"/>
          </a:p>
        </p:txBody>
      </p:sp>
      <p:pic>
        <p:nvPicPr>
          <p:cNvPr id="9" name="Image 1" descr="https://sgw-dx.xf-yun.com/api/v1/sparkdesk/_17468670259532eb6a3c0ecaa44ffb192ccdd42e61816.jpg?authorization=c2ltcGxlLWp3dCBhaz1zcGFya2Rlc2s4MDAwMDAwMDAwMDE7ZXhwPTMzMjM2NjcwMjU7YWxnbz1obWFjLXNoYTI1NjtzaWc9OWdyTlVWalpMRWZiR3p1ZkFkQjBCbFYrM2FqcXhWWVNxMkNrK3dDdXYyaz0=&amp;x_location=7YfmxI7B7uKO7jlRxIftd6UpfPD="/>
          <p:cNvPicPr>
            <a:picLocks noChangeAspect="1"/>
          </p:cNvPicPr>
          <p:nvPr/>
        </p:nvPicPr>
        <p:blipFill>
          <a:blip r:embed="rId3"/>
          <a:srcRect l="19886" r="23295"/>
          <a:stretch>
            <a:fillRect/>
          </a:stretch>
        </p:blipFill>
        <p:spPr>
          <a:xfrm>
            <a:off x="7156987" y="1262645"/>
            <a:ext cx="1499196" cy="2644722"/>
          </a:xfrm>
          <a:prstGeom prst="rect">
            <a:avLst/>
          </a:prstGeom>
        </p:spPr>
      </p:pic>
      <p:sp>
        <p:nvSpPr>
          <p:cNvPr id="10" name="Text 6"/>
          <p:cNvSpPr/>
          <p:nvPr/>
        </p:nvSpPr>
        <p:spPr>
          <a:xfrm>
            <a:off x="367589" y="2746080"/>
            <a:ext cx="1937614" cy="1280160"/>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333333"/>
                </a:solidFill>
                <a:latin typeface="PingFang SC" pitchFamily="34" charset="0"/>
                <a:ea typeface="PingFang SC" pitchFamily="34" charset="-122"/>
                <a:cs typeface="PingFang SC" pitchFamily="34" charset="-120"/>
              </a:rPr>
              <a:t>在毕业设计论文的过程中，导师的悉心指导是我能够顺利完成论文的关键。他/她的严谨学术追求和深厚专业知识，让我受益匪浅。</a:t>
            </a:r>
            <a:endParaRPr lang="en-US" sz="1440" dirty="0"/>
          </a:p>
        </p:txBody>
      </p:sp>
      <p:sp>
        <p:nvSpPr>
          <p:cNvPr id="11" name="Text 7"/>
          <p:cNvSpPr/>
          <p:nvPr/>
        </p:nvSpPr>
        <p:spPr>
          <a:xfrm>
            <a:off x="2686507" y="2151583"/>
            <a:ext cx="1937614" cy="420624"/>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导师的无私帮助</a:t>
            </a:r>
            <a:endParaRPr lang="en-US" sz="1440" dirty="0"/>
          </a:p>
        </p:txBody>
      </p:sp>
      <p:sp>
        <p:nvSpPr>
          <p:cNvPr id="12" name="Text 8"/>
          <p:cNvSpPr/>
          <p:nvPr/>
        </p:nvSpPr>
        <p:spPr>
          <a:xfrm>
            <a:off x="2686507" y="2746080"/>
            <a:ext cx="1937614" cy="128016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导师不仅在学术上给予我无私的帮助，还在生活上关心我，让我感受到了家的温暖。他/她的热忱工作态度，也深深地影响了我。</a:t>
            </a:r>
            <a:endParaRPr lang="en-US" sz="1440" dirty="0"/>
          </a:p>
        </p:txBody>
      </p:sp>
      <p:sp>
        <p:nvSpPr>
          <p:cNvPr id="13" name="Text 9"/>
          <p:cNvSpPr/>
          <p:nvPr/>
        </p:nvSpPr>
        <p:spPr>
          <a:xfrm>
            <a:off x="4942972" y="2151583"/>
            <a:ext cx="1937478" cy="420624"/>
          </a:xfrm>
          <a:prstGeom prst="rect">
            <a:avLst/>
          </a:prstGeom>
          <a:noFill/>
        </p:spPr>
        <p:txBody>
          <a:bodyPr wrap="square" lIns="95250" tIns="95250" rIns="95250" bIns="95250" rtlCol="0" anchor="ctr">
            <a:spAutoFit/>
          </a:bodyPr>
          <a:lstStyle/>
          <a:p>
            <a:pPr marL="0" indent="0">
              <a:lnSpc>
                <a:spcPct val="100000"/>
              </a:lnSpc>
              <a:spcBef>
                <a:spcPts val="375"/>
              </a:spcBef>
              <a:buNone/>
            </a:pPr>
            <a:r>
              <a:rPr lang="en-US" sz="1585" b="1" dirty="0">
                <a:solidFill>
                  <a:srgbClr val="333333"/>
                </a:solidFill>
                <a:latin typeface="PingFang SC" pitchFamily="34" charset="0"/>
                <a:ea typeface="PingFang SC" pitchFamily="34" charset="-122"/>
                <a:cs typeface="PingFang SC" pitchFamily="34" charset="-120"/>
              </a:rPr>
              <a:t>对未来的影响</a:t>
            </a:r>
            <a:endParaRPr lang="en-US" sz="1440" dirty="0"/>
          </a:p>
        </p:txBody>
      </p:sp>
      <p:sp>
        <p:nvSpPr>
          <p:cNvPr id="14" name="Text 10"/>
          <p:cNvSpPr/>
          <p:nvPr/>
        </p:nvSpPr>
        <p:spPr>
          <a:xfrm>
            <a:off x="4942972" y="2746080"/>
            <a:ext cx="1937478" cy="128016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导师的严谨学术追求、深厚的专业知识以及对工作的热忱，都给我留下了难以磨灭的印象，对我未来的学术和职业生涯都将产生深远的影响。</a:t>
            </a:r>
            <a:endParaRPr lang="en-US" sz="144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家人支持感谢</a:t>
            </a:r>
            <a:endParaRPr lang="en-US" sz="1440" dirty="0"/>
          </a:p>
        </p:txBody>
      </p:sp>
      <p:pic>
        <p:nvPicPr>
          <p:cNvPr id="3" name="Image 0" descr="https://sgw-dx.xf-yun.com/api/v1/sparkdesk/_1746867034933178dbbe1588d489cb4b750fdbaff1703.jpg?authorization=c2ltcGxlLWp3dCBhaz1zcGFya2Rlc2s4MDAwMDAwMDAwMDE7ZXhwPTMzMjM2NjcwMzQ7YWxnbz1obWFjLXNoYTI1NjtzaWc9RENHbmFkNzhvMi92WGZNWlZYSkx3czM3RmZHcEtDeFZMVTZNV1U4dDdVND0=&amp;x_location=7YfmxI7B7uKO7jlRxIftd6UpfPD="/>
          <p:cNvPicPr>
            <a:picLocks noChangeAspect="1"/>
          </p:cNvPicPr>
          <p:nvPr/>
        </p:nvPicPr>
        <p:blipFill>
          <a:blip r:embed="rId2"/>
          <a:srcRect/>
          <a:stretch>
            <a:fillRect/>
          </a:stretch>
        </p:blipFill>
        <p:spPr>
          <a:xfrm flipH="1">
            <a:off x="272721" y="1295117"/>
            <a:ext cx="3341028" cy="3341028"/>
          </a:xfrm>
          <a:prstGeom prst="rect">
            <a:avLst/>
          </a:prstGeom>
        </p:spPr>
      </p:pic>
      <p:sp>
        <p:nvSpPr>
          <p:cNvPr id="4" name="Shape 1"/>
          <p:cNvSpPr/>
          <p:nvPr/>
        </p:nvSpPr>
        <p:spPr>
          <a:xfrm>
            <a:off x="3161753" y="1043279"/>
            <a:ext cx="5709526" cy="1090281"/>
          </a:xfrm>
          <a:custGeom>
            <a:avLst/>
            <a:gdLst/>
            <a:ahLst/>
            <a:cxnLst/>
            <a:rect l="l" t="t" r="r" b="b"/>
            <a:pathLst>
              <a:path w="5709526" h="1090281">
                <a:moveTo>
                  <a:pt x="0" y="1090281"/>
                </a:moveTo>
                <a:moveTo>
                  <a:pt x="0" y="1090281"/>
                </a:moveTo>
                <a:lnTo>
                  <a:pt x="0" y="0"/>
                </a:lnTo>
                <a:lnTo>
                  <a:pt x="5491469" y="0"/>
                </a:lnTo>
                <a:lnTo>
                  <a:pt x="5709526" y="218056"/>
                </a:lnTo>
                <a:lnTo>
                  <a:pt x="5709526" y="1090281"/>
                </a:lnTo>
                <a:close/>
              </a:path>
            </a:pathLst>
          </a:custGeom>
          <a:solidFill>
            <a:srgbClr val="FFFFFF"/>
          </a:solidFill>
          <a:ln w="9525">
            <a:solidFill>
              <a:srgbClr val="328CB2">
                <a:alpha val="30980"/>
              </a:srgbClr>
            </a:solidFill>
            <a:prstDash val="solid"/>
          </a:ln>
        </p:spPr>
      </p:sp>
      <p:sp>
        <p:nvSpPr>
          <p:cNvPr id="5" name="Shape 2"/>
          <p:cNvSpPr/>
          <p:nvPr/>
        </p:nvSpPr>
        <p:spPr>
          <a:xfrm>
            <a:off x="2811196" y="2348022"/>
            <a:ext cx="5795609" cy="1090281"/>
          </a:xfrm>
          <a:custGeom>
            <a:avLst/>
            <a:gdLst/>
            <a:ahLst/>
            <a:cxnLst/>
            <a:rect l="l" t="t" r="r" b="b"/>
            <a:pathLst>
              <a:path w="5795609" h="1090281">
                <a:moveTo>
                  <a:pt x="0" y="1090281"/>
                </a:moveTo>
                <a:moveTo>
                  <a:pt x="0" y="1090281"/>
                </a:moveTo>
                <a:lnTo>
                  <a:pt x="0" y="0"/>
                </a:lnTo>
                <a:lnTo>
                  <a:pt x="5577553" y="0"/>
                </a:lnTo>
                <a:lnTo>
                  <a:pt x="5795609" y="218056"/>
                </a:lnTo>
                <a:lnTo>
                  <a:pt x="5795609" y="1090281"/>
                </a:lnTo>
                <a:close/>
              </a:path>
            </a:pathLst>
          </a:custGeom>
          <a:solidFill>
            <a:srgbClr val="FFFFFF"/>
          </a:solidFill>
          <a:ln w="9525">
            <a:solidFill>
              <a:srgbClr val="328CB2">
                <a:alpha val="30980"/>
              </a:srgbClr>
            </a:solidFill>
            <a:prstDash val="solid"/>
          </a:ln>
        </p:spPr>
      </p:sp>
      <p:sp>
        <p:nvSpPr>
          <p:cNvPr id="6" name="Shape 3"/>
          <p:cNvSpPr/>
          <p:nvPr/>
        </p:nvSpPr>
        <p:spPr>
          <a:xfrm>
            <a:off x="3161753" y="3652765"/>
            <a:ext cx="5709526" cy="1090281"/>
          </a:xfrm>
          <a:custGeom>
            <a:avLst/>
            <a:gdLst/>
            <a:ahLst/>
            <a:cxnLst/>
            <a:rect l="l" t="t" r="r" b="b"/>
            <a:pathLst>
              <a:path w="5709526" h="1090281">
                <a:moveTo>
                  <a:pt x="0" y="1090281"/>
                </a:moveTo>
                <a:moveTo>
                  <a:pt x="0" y="1090281"/>
                </a:moveTo>
                <a:lnTo>
                  <a:pt x="0" y="0"/>
                </a:lnTo>
                <a:lnTo>
                  <a:pt x="5491469" y="0"/>
                </a:lnTo>
                <a:lnTo>
                  <a:pt x="5709526" y="218056"/>
                </a:lnTo>
                <a:lnTo>
                  <a:pt x="5709526" y="1090281"/>
                </a:lnTo>
                <a:close/>
              </a:path>
            </a:pathLst>
          </a:custGeom>
          <a:solidFill>
            <a:srgbClr val="FFFFFF"/>
          </a:solidFill>
          <a:ln w="9525">
            <a:solidFill>
              <a:srgbClr val="328CB2">
                <a:alpha val="30980"/>
              </a:srgbClr>
            </a:solidFill>
            <a:prstDash val="solid"/>
          </a:ln>
        </p:spPr>
      </p:sp>
      <p:sp>
        <p:nvSpPr>
          <p:cNvPr id="7" name="Text 4"/>
          <p:cNvSpPr/>
          <p:nvPr/>
        </p:nvSpPr>
        <p:spPr>
          <a:xfrm>
            <a:off x="3735181" y="1118241"/>
            <a:ext cx="4911136" cy="359047"/>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家人的坚强后盾</a:t>
            </a:r>
            <a:endParaRPr lang="en-US" sz="1440" dirty="0"/>
          </a:p>
        </p:txBody>
      </p:sp>
      <p:sp>
        <p:nvSpPr>
          <p:cNvPr id="8" name="Text 5"/>
          <p:cNvSpPr/>
          <p:nvPr/>
        </p:nvSpPr>
        <p:spPr>
          <a:xfrm>
            <a:off x="3312941" y="1424841"/>
            <a:ext cx="5459228"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在作者面临挑战和困难时，家人始终是他/她的坚强后盾。他们的鼓励和支持让他/她重拾信心，继续前行。</a:t>
            </a:r>
            <a:endParaRPr lang="en-US" sz="1440" dirty="0"/>
          </a:p>
        </p:txBody>
      </p:sp>
      <p:sp>
        <p:nvSpPr>
          <p:cNvPr id="9" name="Text 6"/>
          <p:cNvSpPr/>
          <p:nvPr/>
        </p:nvSpPr>
        <p:spPr>
          <a:xfrm>
            <a:off x="3397345" y="2422984"/>
            <a:ext cx="4881554" cy="359047"/>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家人的理解与包容</a:t>
            </a:r>
            <a:endParaRPr lang="en-US" sz="1440" dirty="0"/>
          </a:p>
        </p:txBody>
      </p:sp>
      <p:sp>
        <p:nvSpPr>
          <p:cNvPr id="10" name="Text 7"/>
          <p:cNvSpPr/>
          <p:nvPr/>
        </p:nvSpPr>
        <p:spPr>
          <a:xfrm>
            <a:off x="2893424" y="2729585"/>
            <a:ext cx="5484398"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家人的理解与包容为作者营造了一个安心研究和学习的环境，使他/她能够专注于自己的工作和学习。</a:t>
            </a:r>
            <a:endParaRPr lang="en-US" sz="1440" dirty="0"/>
          </a:p>
        </p:txBody>
      </p:sp>
      <p:sp>
        <p:nvSpPr>
          <p:cNvPr id="11" name="Text 8"/>
          <p:cNvSpPr/>
          <p:nvPr/>
        </p:nvSpPr>
        <p:spPr>
          <a:xfrm>
            <a:off x="3735181" y="3727728"/>
            <a:ext cx="4911136" cy="359047"/>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28CB2"/>
                </a:solidFill>
                <a:latin typeface="PingFang SC" pitchFamily="34" charset="0"/>
                <a:ea typeface="PingFang SC" pitchFamily="34" charset="-122"/>
                <a:cs typeface="PingFang SC" pitchFamily="34" charset="-120"/>
              </a:rPr>
              <a:t>对家人的感激之情</a:t>
            </a:r>
            <a:endParaRPr lang="en-US" sz="1440" dirty="0"/>
          </a:p>
        </p:txBody>
      </p:sp>
      <p:sp>
        <p:nvSpPr>
          <p:cNvPr id="12" name="Text 9"/>
          <p:cNvSpPr/>
          <p:nvPr/>
        </p:nvSpPr>
        <p:spPr>
          <a:xfrm>
            <a:off x="3266233" y="4034328"/>
            <a:ext cx="5505936"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作者在致谢部分表达了对家人的感激之情，感谢他们一直以来的支持和鼓励，以及为他/她提供的安心环境。</a:t>
            </a:r>
            <a:endParaRPr lang="en-US" sz="1440" dirty="0"/>
          </a:p>
        </p:txBody>
      </p:sp>
      <p:sp>
        <p:nvSpPr>
          <p:cNvPr id="13" name="Shape 10"/>
          <p:cNvSpPr/>
          <p:nvPr/>
        </p:nvSpPr>
        <p:spPr>
          <a:xfrm>
            <a:off x="3304548" y="1118241"/>
            <a:ext cx="365164" cy="353752"/>
          </a:xfrm>
          <a:custGeom>
            <a:avLst/>
            <a:gdLst/>
            <a:ahLst/>
            <a:cxnLst/>
            <a:rect l="l" t="t" r="r" b="b"/>
            <a:pathLst>
              <a:path w="365164" h="353752">
                <a:moveTo>
                  <a:pt x="182582" y="0"/>
                </a:moveTo>
                <a:moveTo>
                  <a:pt x="182582" y="0"/>
                </a:moveTo>
                <a:cubicBezTo>
                  <a:pt x="283352" y="0"/>
                  <a:pt x="365164" y="79256"/>
                  <a:pt x="365164" y="176876"/>
                </a:cubicBezTo>
                <a:cubicBezTo>
                  <a:pt x="365164" y="274497"/>
                  <a:pt x="283352" y="353752"/>
                  <a:pt x="182582" y="353752"/>
                </a:cubicBezTo>
                <a:cubicBezTo>
                  <a:pt x="81812" y="353752"/>
                  <a:pt x="0" y="274497"/>
                  <a:pt x="0" y="176876"/>
                </a:cubicBezTo>
                <a:cubicBezTo>
                  <a:pt x="0" y="79256"/>
                  <a:pt x="81812" y="0"/>
                  <a:pt x="182582" y="0"/>
                </a:cubicBezTo>
                <a:close/>
              </a:path>
            </a:pathLst>
          </a:custGeom>
          <a:solidFill>
            <a:srgbClr val="328CB2"/>
          </a:solidFill>
        </p:spPr>
      </p:sp>
      <p:sp>
        <p:nvSpPr>
          <p:cNvPr id="14" name="Shape 11"/>
          <p:cNvSpPr/>
          <p:nvPr/>
        </p:nvSpPr>
        <p:spPr>
          <a:xfrm>
            <a:off x="2953990" y="2422984"/>
            <a:ext cx="365164" cy="353752"/>
          </a:xfrm>
          <a:custGeom>
            <a:avLst/>
            <a:gdLst/>
            <a:ahLst/>
            <a:cxnLst/>
            <a:rect l="l" t="t" r="r" b="b"/>
            <a:pathLst>
              <a:path w="365164" h="353752">
                <a:moveTo>
                  <a:pt x="182582" y="0"/>
                </a:moveTo>
                <a:moveTo>
                  <a:pt x="182582" y="0"/>
                </a:moveTo>
                <a:cubicBezTo>
                  <a:pt x="283352" y="0"/>
                  <a:pt x="365164" y="79256"/>
                  <a:pt x="365164" y="176876"/>
                </a:cubicBezTo>
                <a:cubicBezTo>
                  <a:pt x="365164" y="274497"/>
                  <a:pt x="283352" y="353752"/>
                  <a:pt x="182582" y="353752"/>
                </a:cubicBezTo>
                <a:cubicBezTo>
                  <a:pt x="81812" y="353752"/>
                  <a:pt x="0" y="274497"/>
                  <a:pt x="0" y="176876"/>
                </a:cubicBezTo>
                <a:cubicBezTo>
                  <a:pt x="0" y="79256"/>
                  <a:pt x="81812" y="0"/>
                  <a:pt x="182582" y="0"/>
                </a:cubicBezTo>
                <a:close/>
              </a:path>
            </a:pathLst>
          </a:custGeom>
          <a:solidFill>
            <a:srgbClr val="328CB2"/>
          </a:solidFill>
        </p:spPr>
      </p:sp>
      <p:sp>
        <p:nvSpPr>
          <p:cNvPr id="15" name="Shape 12"/>
          <p:cNvSpPr/>
          <p:nvPr/>
        </p:nvSpPr>
        <p:spPr>
          <a:xfrm>
            <a:off x="3285650" y="3727728"/>
            <a:ext cx="365164" cy="353752"/>
          </a:xfrm>
          <a:custGeom>
            <a:avLst/>
            <a:gdLst/>
            <a:ahLst/>
            <a:cxnLst/>
            <a:rect l="l" t="t" r="r" b="b"/>
            <a:pathLst>
              <a:path w="365164" h="353752">
                <a:moveTo>
                  <a:pt x="182582" y="0"/>
                </a:moveTo>
                <a:moveTo>
                  <a:pt x="182582" y="0"/>
                </a:moveTo>
                <a:cubicBezTo>
                  <a:pt x="283352" y="0"/>
                  <a:pt x="365164" y="79256"/>
                  <a:pt x="365164" y="176876"/>
                </a:cubicBezTo>
                <a:cubicBezTo>
                  <a:pt x="365164" y="274497"/>
                  <a:pt x="283352" y="353752"/>
                  <a:pt x="182582" y="353752"/>
                </a:cubicBezTo>
                <a:cubicBezTo>
                  <a:pt x="81812" y="353752"/>
                  <a:pt x="0" y="274497"/>
                  <a:pt x="0" y="176876"/>
                </a:cubicBezTo>
                <a:cubicBezTo>
                  <a:pt x="0" y="79256"/>
                  <a:pt x="81812" y="0"/>
                  <a:pt x="182582" y="0"/>
                </a:cubicBezTo>
                <a:close/>
              </a:path>
            </a:pathLst>
          </a:custGeom>
          <a:solidFill>
            <a:srgbClr val="328CB2"/>
          </a:solidFill>
        </p:spPr>
      </p:sp>
      <p:sp>
        <p:nvSpPr>
          <p:cNvPr id="16" name="Text 13"/>
          <p:cNvSpPr/>
          <p:nvPr/>
        </p:nvSpPr>
        <p:spPr>
          <a:xfrm>
            <a:off x="3258828" y="1121381"/>
            <a:ext cx="469099" cy="347472"/>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7" name="Text 14"/>
          <p:cNvSpPr/>
          <p:nvPr/>
        </p:nvSpPr>
        <p:spPr>
          <a:xfrm>
            <a:off x="2908916" y="2422984"/>
            <a:ext cx="469099" cy="347472"/>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8" name="Text 15"/>
          <p:cNvSpPr/>
          <p:nvPr/>
        </p:nvSpPr>
        <p:spPr>
          <a:xfrm>
            <a:off x="3228045" y="3727728"/>
            <a:ext cx="469099" cy="347472"/>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同学朋友帮助感谢</a:t>
            </a:r>
            <a:endParaRPr lang="en-US" sz="1440" dirty="0"/>
          </a:p>
        </p:txBody>
      </p:sp>
      <p:sp>
        <p:nvSpPr>
          <p:cNvPr id="3" name="Shape 1"/>
          <p:cNvSpPr/>
          <p:nvPr/>
        </p:nvSpPr>
        <p:spPr>
          <a:xfrm>
            <a:off x="416142" y="1095306"/>
            <a:ext cx="8311715" cy="3574735"/>
          </a:xfrm>
          <a:custGeom>
            <a:avLst/>
            <a:gdLst/>
            <a:ahLst/>
            <a:cxnLst/>
            <a:rect l="l" t="t" r="r" b="b"/>
            <a:pathLst>
              <a:path w="8311715" h="3574735">
                <a:moveTo>
                  <a:pt x="255784" y="0"/>
                </a:moveTo>
                <a:moveTo>
                  <a:pt x="255784" y="0"/>
                </a:moveTo>
                <a:lnTo>
                  <a:pt x="8055931" y="0"/>
                </a:lnTo>
                <a:quadBezTo>
                  <a:pt x="8311715" y="0"/>
                  <a:pt x="8311715" y="255784"/>
                </a:quadBezTo>
                <a:lnTo>
                  <a:pt x="8311715" y="3318951"/>
                </a:lnTo>
                <a:quadBezTo>
                  <a:pt x="8311715" y="3574735"/>
                  <a:pt x="8055931" y="3574735"/>
                </a:quadBezTo>
                <a:lnTo>
                  <a:pt x="255784" y="3574735"/>
                </a:lnTo>
                <a:quadBezTo>
                  <a:pt x="0" y="3574735"/>
                  <a:pt x="0" y="3318951"/>
                </a:quadBezTo>
                <a:lnTo>
                  <a:pt x="0" y="255784"/>
                </a:lnTo>
                <a:quadBezTo>
                  <a:pt x="0" y="0"/>
                  <a:pt x="255784" y="0"/>
                </a:quadBezTo>
                <a:close/>
              </a:path>
            </a:pathLst>
          </a:custGeom>
          <a:solidFill>
            <a:srgbClr val="FFFFFF"/>
          </a:solidFill>
          <a:effectLst>
            <a:outerShdw blurRad="19050" dist="38100" dir="2700000" algn="bl" rotWithShape="0">
              <a:srgbClr val="808080">
                <a:alpha val="14902"/>
              </a:srgbClr>
            </a:outerShdw>
          </a:effectLst>
        </p:spPr>
      </p:sp>
      <p:sp>
        <p:nvSpPr>
          <p:cNvPr id="4" name="Shape 2"/>
          <p:cNvSpPr/>
          <p:nvPr/>
        </p:nvSpPr>
        <p:spPr>
          <a:xfrm>
            <a:off x="751435" y="1950136"/>
            <a:ext cx="2295442" cy="626033"/>
          </a:xfrm>
          <a:custGeom>
            <a:avLst/>
            <a:gdLst/>
            <a:ahLst/>
            <a:cxnLst/>
            <a:rect l="l" t="t" r="r" b="b"/>
            <a:pathLst>
              <a:path w="2295442" h="626033">
                <a:moveTo>
                  <a:pt x="267010" y="0"/>
                </a:moveTo>
                <a:moveTo>
                  <a:pt x="267010" y="0"/>
                </a:moveTo>
                <a:lnTo>
                  <a:pt x="2028431" y="0"/>
                </a:lnTo>
                <a:quadBezTo>
                  <a:pt x="2295442" y="0"/>
                  <a:pt x="2295442" y="313016"/>
                </a:quadBezTo>
                <a:lnTo>
                  <a:pt x="2295442" y="313016"/>
                </a:lnTo>
                <a:quadBezTo>
                  <a:pt x="2295442" y="626033"/>
                  <a:pt x="2028431" y="626033"/>
                </a:quadBezTo>
                <a:lnTo>
                  <a:pt x="267010" y="626033"/>
                </a:lnTo>
                <a:quadBezTo>
                  <a:pt x="0" y="626033"/>
                  <a:pt x="0" y="313016"/>
                </a:quadBezTo>
                <a:lnTo>
                  <a:pt x="0" y="313016"/>
                </a:lnTo>
                <a:quadBezTo>
                  <a:pt x="0" y="0"/>
                  <a:pt x="267010" y="0"/>
                </a:quadBezTo>
                <a:close/>
              </a:path>
            </a:pathLst>
          </a:custGeom>
          <a:solidFill>
            <a:srgbClr val="328CB2"/>
          </a:solidFill>
        </p:spPr>
      </p:sp>
      <p:sp>
        <p:nvSpPr>
          <p:cNvPr id="5" name="Shape 3"/>
          <p:cNvSpPr/>
          <p:nvPr/>
        </p:nvSpPr>
        <p:spPr>
          <a:xfrm>
            <a:off x="849760" y="2803925"/>
            <a:ext cx="2098790" cy="0"/>
          </a:xfrm>
          <a:custGeom>
            <a:avLst/>
            <a:gdLst/>
            <a:ahLst/>
            <a:cxnLst/>
            <a:rect l="l" t="t" r="r" b="b"/>
            <a:pathLst>
              <a:path w="2098790">
                <a:moveTo>
                  <a:pt x="0" y="0"/>
                </a:moveTo>
                <a:moveTo>
                  <a:pt x="0" y="0"/>
                </a:moveTo>
                <a:lnTo>
                  <a:pt x="2098790" y="0"/>
                </a:lnTo>
              </a:path>
            </a:pathLst>
          </a:custGeom>
          <a:noFill/>
          <a:ln w="9525">
            <a:solidFill>
              <a:srgbClr val="328CB2">
                <a:alpha val="21961"/>
              </a:srgbClr>
            </a:solidFill>
            <a:prstDash val="solid"/>
            <a:headEnd type="none"/>
            <a:tailEnd type="none"/>
          </a:ln>
        </p:spPr>
      </p:sp>
      <p:pic>
        <p:nvPicPr>
          <p:cNvPr id="6" name="Image 0" descr="preencoded.png"/>
          <p:cNvPicPr>
            <a:picLocks noChangeAspect="1"/>
          </p:cNvPicPr>
          <p:nvPr/>
        </p:nvPicPr>
        <p:blipFill>
          <a:blip r:embed="rId2"/>
          <a:stretch>
            <a:fillRect/>
          </a:stretch>
        </p:blipFill>
        <p:spPr>
          <a:xfrm>
            <a:off x="856348" y="1464158"/>
            <a:ext cx="2085615" cy="485978"/>
          </a:xfrm>
          <a:prstGeom prst="rect">
            <a:avLst/>
          </a:prstGeom>
        </p:spPr>
      </p:pic>
      <p:sp>
        <p:nvSpPr>
          <p:cNvPr id="7" name="Shape 4"/>
          <p:cNvSpPr/>
          <p:nvPr/>
        </p:nvSpPr>
        <p:spPr>
          <a:xfrm>
            <a:off x="3432553" y="1950136"/>
            <a:ext cx="2295442" cy="626033"/>
          </a:xfrm>
          <a:custGeom>
            <a:avLst/>
            <a:gdLst/>
            <a:ahLst/>
            <a:cxnLst/>
            <a:rect l="l" t="t" r="r" b="b"/>
            <a:pathLst>
              <a:path w="2295442" h="626033">
                <a:moveTo>
                  <a:pt x="267010" y="0"/>
                </a:moveTo>
                <a:moveTo>
                  <a:pt x="267010" y="0"/>
                </a:moveTo>
                <a:lnTo>
                  <a:pt x="2028431" y="0"/>
                </a:lnTo>
                <a:quadBezTo>
                  <a:pt x="2295442" y="0"/>
                  <a:pt x="2295442" y="313016"/>
                </a:quadBezTo>
                <a:lnTo>
                  <a:pt x="2295442" y="313016"/>
                </a:lnTo>
                <a:quadBezTo>
                  <a:pt x="2295442" y="626033"/>
                  <a:pt x="2028431" y="626033"/>
                </a:quadBezTo>
                <a:lnTo>
                  <a:pt x="267010" y="626033"/>
                </a:lnTo>
                <a:quadBezTo>
                  <a:pt x="0" y="626033"/>
                  <a:pt x="0" y="313016"/>
                </a:quadBezTo>
                <a:lnTo>
                  <a:pt x="0" y="313016"/>
                </a:lnTo>
                <a:quadBezTo>
                  <a:pt x="0" y="0"/>
                  <a:pt x="267010" y="0"/>
                </a:quadBezTo>
                <a:close/>
              </a:path>
            </a:pathLst>
          </a:custGeom>
          <a:solidFill>
            <a:srgbClr val="328CB2"/>
          </a:solidFill>
        </p:spPr>
      </p:sp>
      <p:sp>
        <p:nvSpPr>
          <p:cNvPr id="8" name="Shape 5"/>
          <p:cNvSpPr/>
          <p:nvPr/>
        </p:nvSpPr>
        <p:spPr>
          <a:xfrm>
            <a:off x="3530879" y="2803925"/>
            <a:ext cx="2098790" cy="0"/>
          </a:xfrm>
          <a:custGeom>
            <a:avLst/>
            <a:gdLst/>
            <a:ahLst/>
            <a:cxnLst/>
            <a:rect l="l" t="t" r="r" b="b"/>
            <a:pathLst>
              <a:path w="2098790">
                <a:moveTo>
                  <a:pt x="0" y="0"/>
                </a:moveTo>
                <a:moveTo>
                  <a:pt x="0" y="0"/>
                </a:moveTo>
                <a:lnTo>
                  <a:pt x="2098790" y="0"/>
                </a:lnTo>
              </a:path>
            </a:pathLst>
          </a:custGeom>
          <a:noFill/>
          <a:ln w="9525">
            <a:solidFill>
              <a:srgbClr val="328CB2">
                <a:alpha val="21961"/>
              </a:srgbClr>
            </a:solidFill>
            <a:prstDash val="solid"/>
            <a:headEnd type="none"/>
            <a:tailEnd type="none"/>
          </a:ln>
        </p:spPr>
      </p:sp>
      <p:pic>
        <p:nvPicPr>
          <p:cNvPr id="9" name="Image 1" descr="preencoded.png"/>
          <p:cNvPicPr>
            <a:picLocks noChangeAspect="1"/>
          </p:cNvPicPr>
          <p:nvPr/>
        </p:nvPicPr>
        <p:blipFill>
          <a:blip r:embed="rId2"/>
          <a:stretch>
            <a:fillRect/>
          </a:stretch>
        </p:blipFill>
        <p:spPr>
          <a:xfrm>
            <a:off x="3537466" y="1464158"/>
            <a:ext cx="2085615" cy="485978"/>
          </a:xfrm>
          <a:prstGeom prst="rect">
            <a:avLst/>
          </a:prstGeom>
        </p:spPr>
      </p:pic>
      <p:sp>
        <p:nvSpPr>
          <p:cNvPr id="10" name="Shape 6"/>
          <p:cNvSpPr/>
          <p:nvPr/>
        </p:nvSpPr>
        <p:spPr>
          <a:xfrm>
            <a:off x="6097124" y="1950136"/>
            <a:ext cx="2295442" cy="626033"/>
          </a:xfrm>
          <a:custGeom>
            <a:avLst/>
            <a:gdLst/>
            <a:ahLst/>
            <a:cxnLst/>
            <a:rect l="l" t="t" r="r" b="b"/>
            <a:pathLst>
              <a:path w="2295442" h="626033">
                <a:moveTo>
                  <a:pt x="267010" y="0"/>
                </a:moveTo>
                <a:moveTo>
                  <a:pt x="267010" y="0"/>
                </a:moveTo>
                <a:lnTo>
                  <a:pt x="2028431" y="0"/>
                </a:lnTo>
                <a:quadBezTo>
                  <a:pt x="2295442" y="0"/>
                  <a:pt x="2295442" y="313016"/>
                </a:quadBezTo>
                <a:lnTo>
                  <a:pt x="2295442" y="313016"/>
                </a:lnTo>
                <a:quadBezTo>
                  <a:pt x="2295442" y="626033"/>
                  <a:pt x="2028431" y="626033"/>
                </a:quadBezTo>
                <a:lnTo>
                  <a:pt x="267010" y="626033"/>
                </a:lnTo>
                <a:quadBezTo>
                  <a:pt x="0" y="626033"/>
                  <a:pt x="0" y="313016"/>
                </a:quadBezTo>
                <a:lnTo>
                  <a:pt x="0" y="313016"/>
                </a:lnTo>
                <a:quadBezTo>
                  <a:pt x="0" y="0"/>
                  <a:pt x="267010" y="0"/>
                </a:quadBezTo>
                <a:close/>
              </a:path>
            </a:pathLst>
          </a:custGeom>
          <a:solidFill>
            <a:srgbClr val="328CB2"/>
          </a:solidFill>
        </p:spPr>
      </p:sp>
      <p:sp>
        <p:nvSpPr>
          <p:cNvPr id="11" name="Shape 7"/>
          <p:cNvSpPr/>
          <p:nvPr/>
        </p:nvSpPr>
        <p:spPr>
          <a:xfrm>
            <a:off x="6195449" y="2803925"/>
            <a:ext cx="2098790" cy="0"/>
          </a:xfrm>
          <a:custGeom>
            <a:avLst/>
            <a:gdLst/>
            <a:ahLst/>
            <a:cxnLst/>
            <a:rect l="l" t="t" r="r" b="b"/>
            <a:pathLst>
              <a:path w="2098790">
                <a:moveTo>
                  <a:pt x="0" y="0"/>
                </a:moveTo>
                <a:moveTo>
                  <a:pt x="0" y="0"/>
                </a:moveTo>
                <a:lnTo>
                  <a:pt x="2098790" y="0"/>
                </a:lnTo>
              </a:path>
            </a:pathLst>
          </a:custGeom>
          <a:noFill/>
          <a:ln w="9525">
            <a:solidFill>
              <a:srgbClr val="328CB2">
                <a:alpha val="21961"/>
              </a:srgbClr>
            </a:solidFill>
            <a:prstDash val="solid"/>
            <a:headEnd type="none"/>
            <a:tailEnd type="none"/>
          </a:ln>
        </p:spPr>
      </p:sp>
      <p:pic>
        <p:nvPicPr>
          <p:cNvPr id="12" name="Image 2" descr="preencoded.png"/>
          <p:cNvPicPr>
            <a:picLocks noChangeAspect="1"/>
          </p:cNvPicPr>
          <p:nvPr/>
        </p:nvPicPr>
        <p:blipFill>
          <a:blip r:embed="rId2"/>
          <a:stretch>
            <a:fillRect/>
          </a:stretch>
        </p:blipFill>
        <p:spPr>
          <a:xfrm>
            <a:off x="6202037" y="1464158"/>
            <a:ext cx="2085615" cy="485978"/>
          </a:xfrm>
          <a:prstGeom prst="rect">
            <a:avLst/>
          </a:prstGeom>
        </p:spPr>
      </p:pic>
      <p:sp>
        <p:nvSpPr>
          <p:cNvPr id="13" name="Text 8"/>
          <p:cNvSpPr/>
          <p:nvPr/>
        </p:nvSpPr>
        <p:spPr>
          <a:xfrm>
            <a:off x="795609" y="1095306"/>
            <a:ext cx="2207094" cy="91440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5760" b="1" i="1" dirty="0">
                <a:solidFill>
                  <a:srgbClr val="328CB2"/>
                </a:solidFill>
                <a:latin typeface="PingFang SC" pitchFamily="34" charset="0"/>
                <a:ea typeface="PingFang SC" pitchFamily="34" charset="-122"/>
                <a:cs typeface="PingFang SC" pitchFamily="34" charset="-120"/>
              </a:rPr>
              <a:t>1</a:t>
            </a:r>
            <a:endParaRPr lang="en-US" sz="1440" dirty="0"/>
          </a:p>
        </p:txBody>
      </p:sp>
      <p:sp>
        <p:nvSpPr>
          <p:cNvPr id="14" name="Text 9"/>
          <p:cNvSpPr/>
          <p:nvPr/>
        </p:nvSpPr>
        <p:spPr>
          <a:xfrm>
            <a:off x="3476727" y="1095306"/>
            <a:ext cx="2207094" cy="91440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5760" b="1" i="1" dirty="0">
                <a:solidFill>
                  <a:srgbClr val="328CB2"/>
                </a:solidFill>
                <a:latin typeface="PingFang SC" pitchFamily="34" charset="0"/>
                <a:ea typeface="PingFang SC" pitchFamily="34" charset="-122"/>
                <a:cs typeface="PingFang SC" pitchFamily="34" charset="-120"/>
              </a:rPr>
              <a:t>2</a:t>
            </a:r>
            <a:endParaRPr lang="en-US" sz="1440" dirty="0"/>
          </a:p>
        </p:txBody>
      </p:sp>
      <p:sp>
        <p:nvSpPr>
          <p:cNvPr id="15" name="Text 10"/>
          <p:cNvSpPr/>
          <p:nvPr/>
        </p:nvSpPr>
        <p:spPr>
          <a:xfrm>
            <a:off x="6141298" y="1095306"/>
            <a:ext cx="2207094" cy="91440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5760" b="1" i="1" dirty="0">
                <a:solidFill>
                  <a:srgbClr val="328CB2"/>
                </a:solidFill>
                <a:latin typeface="PingFang SC" pitchFamily="34" charset="0"/>
                <a:ea typeface="PingFang SC" pitchFamily="34" charset="-122"/>
                <a:cs typeface="PingFang SC" pitchFamily="34" charset="-120"/>
              </a:rPr>
              <a:t>3</a:t>
            </a:r>
            <a:endParaRPr lang="en-US" sz="1440" dirty="0"/>
          </a:p>
        </p:txBody>
      </p:sp>
      <p:pic>
        <p:nvPicPr>
          <p:cNvPr id="16" name="Image 3" descr="preencoded.png"/>
          <p:cNvPicPr>
            <a:picLocks noChangeAspect="1"/>
          </p:cNvPicPr>
          <p:nvPr/>
        </p:nvPicPr>
        <p:blipFill>
          <a:blip r:embed="rId3"/>
          <a:stretch>
            <a:fillRect/>
          </a:stretch>
        </p:blipFill>
        <p:spPr>
          <a:xfrm>
            <a:off x="856348" y="1552506"/>
            <a:ext cx="7431305" cy="419652"/>
          </a:xfrm>
          <a:prstGeom prst="rect">
            <a:avLst/>
          </a:prstGeom>
        </p:spPr>
      </p:pic>
      <p:sp>
        <p:nvSpPr>
          <p:cNvPr id="17" name="Text 11"/>
          <p:cNvSpPr/>
          <p:nvPr/>
        </p:nvSpPr>
        <p:spPr>
          <a:xfrm>
            <a:off x="751435" y="2075701"/>
            <a:ext cx="2295442"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PingFang SC" pitchFamily="34" charset="0"/>
                <a:ea typeface="PingFang SC" pitchFamily="34" charset="-122"/>
                <a:cs typeface="PingFang SC" pitchFamily="34" charset="-120"/>
              </a:rPr>
              <a:t>同学的学术支持</a:t>
            </a:r>
            <a:endParaRPr lang="en-US" sz="1440" dirty="0"/>
          </a:p>
        </p:txBody>
      </p:sp>
      <p:sp>
        <p:nvSpPr>
          <p:cNvPr id="18" name="Text 12"/>
          <p:cNvSpPr/>
          <p:nvPr/>
        </p:nvSpPr>
        <p:spPr>
          <a:xfrm>
            <a:off x="728282" y="2875476"/>
            <a:ext cx="2341747"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在我遇到学术难题时，同学们总是耐心解答，他们的专业知识和独到见解极大地丰富了我的研究视野，帮助我克服了一道又一道难关。</a:t>
            </a:r>
            <a:endParaRPr lang="en-US" sz="1440" dirty="0"/>
          </a:p>
        </p:txBody>
      </p:sp>
      <p:sp>
        <p:nvSpPr>
          <p:cNvPr id="19" name="Text 13"/>
          <p:cNvSpPr/>
          <p:nvPr/>
        </p:nvSpPr>
        <p:spPr>
          <a:xfrm>
            <a:off x="3432553" y="2075701"/>
            <a:ext cx="2295442"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PingFang SC" pitchFamily="34" charset="0"/>
                <a:ea typeface="PingFang SC" pitchFamily="34" charset="-122"/>
                <a:cs typeface="PingFang SC" pitchFamily="34" charset="-120"/>
              </a:rPr>
              <a:t>朋友的生活陪伴</a:t>
            </a:r>
            <a:endParaRPr lang="en-US" sz="1440" dirty="0"/>
          </a:p>
        </p:txBody>
      </p:sp>
      <p:sp>
        <p:nvSpPr>
          <p:cNvPr id="20" name="Text 14"/>
          <p:cNvSpPr/>
          <p:nvPr/>
        </p:nvSpPr>
        <p:spPr>
          <a:xfrm>
            <a:off x="3409401" y="2875476"/>
            <a:ext cx="2341747"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在紧张的论文写作期间，朋友们的陪伴如同一缕温暖的阳光，他们通过组织活动和提供心理支持，让我在压力之下也能保持轻松愉快的心情。</a:t>
            </a:r>
            <a:endParaRPr lang="en-US" sz="1440" dirty="0"/>
          </a:p>
        </p:txBody>
      </p:sp>
      <p:sp>
        <p:nvSpPr>
          <p:cNvPr id="21" name="Text 15"/>
          <p:cNvSpPr/>
          <p:nvPr/>
        </p:nvSpPr>
        <p:spPr>
          <a:xfrm>
            <a:off x="6097124" y="2075701"/>
            <a:ext cx="2295442"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PingFang SC" pitchFamily="34" charset="0"/>
                <a:ea typeface="PingFang SC" pitchFamily="34" charset="-122"/>
                <a:cs typeface="PingFang SC" pitchFamily="34" charset="-120"/>
              </a:rPr>
              <a:t>团队合作的力量</a:t>
            </a:r>
            <a:endParaRPr lang="en-US" sz="1440" dirty="0"/>
          </a:p>
        </p:txBody>
      </p:sp>
      <p:sp>
        <p:nvSpPr>
          <p:cNvPr id="22" name="Text 16"/>
          <p:cNvSpPr/>
          <p:nvPr/>
        </p:nvSpPr>
        <p:spPr>
          <a:xfrm>
            <a:off x="6073971" y="2875476"/>
            <a:ext cx="2341747"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333333"/>
                </a:solidFill>
                <a:latin typeface="PingFang SC" pitchFamily="34" charset="0"/>
                <a:ea typeface="PingFang SC" pitchFamily="34" charset="-122"/>
                <a:cs typeface="PingFang SC" pitchFamily="34" charset="-120"/>
              </a:rPr>
              <a:t>与同学们共同参与项目研究，我们彼此协作、互补所短，这种团队合作精神不仅提升了工作效率，也让我们之间的友谊更加深厚。</a:t>
            </a:r>
            <a:endParaRPr lang="en-US" sz="144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图书馆人员感谢</a:t>
            </a:r>
            <a:endParaRPr lang="en-US" sz="1440" dirty="0"/>
          </a:p>
        </p:txBody>
      </p:sp>
      <p:sp>
        <p:nvSpPr>
          <p:cNvPr id="3" name="Shape 1"/>
          <p:cNvSpPr/>
          <p:nvPr/>
        </p:nvSpPr>
        <p:spPr>
          <a:xfrm>
            <a:off x="227624" y="2338128"/>
            <a:ext cx="2766039" cy="697421"/>
          </a:xfrm>
          <a:custGeom>
            <a:avLst/>
            <a:gdLst/>
            <a:ahLst/>
            <a:cxnLst/>
            <a:rect l="l" t="t" r="r" b="b"/>
            <a:pathLst>
              <a:path w="2766039" h="697421">
                <a:moveTo>
                  <a:pt x="0" y="0"/>
                </a:moveTo>
                <a:moveTo>
                  <a:pt x="0" y="0"/>
                </a:moveTo>
                <a:lnTo>
                  <a:pt x="2766039" y="0"/>
                </a:lnTo>
                <a:lnTo>
                  <a:pt x="2766039" y="697421"/>
                </a:lnTo>
                <a:lnTo>
                  <a:pt x="0" y="697421"/>
                </a:lnTo>
                <a:close/>
              </a:path>
            </a:pathLst>
          </a:custGeom>
          <a:solidFill>
            <a:srgbClr val="328CB2">
              <a:alpha val="0"/>
            </a:srgbClr>
          </a:solidFill>
          <a:ln w="9525">
            <a:solidFill>
              <a:srgbClr val="328CB2"/>
            </a:solidFill>
            <a:prstDash val="solid"/>
          </a:ln>
        </p:spPr>
      </p:sp>
      <p:sp>
        <p:nvSpPr>
          <p:cNvPr id="4" name="Shape 2"/>
          <p:cNvSpPr/>
          <p:nvPr/>
        </p:nvSpPr>
        <p:spPr>
          <a:xfrm>
            <a:off x="308457" y="2803759"/>
            <a:ext cx="2604374" cy="618959"/>
          </a:xfrm>
          <a:custGeom>
            <a:avLst/>
            <a:gdLst/>
            <a:ahLst/>
            <a:cxnLst/>
            <a:rect l="l" t="t" r="r" b="b"/>
            <a:pathLst>
              <a:path w="2604374" h="618959">
                <a:moveTo>
                  <a:pt x="0" y="0"/>
                </a:moveTo>
                <a:moveTo>
                  <a:pt x="0" y="0"/>
                </a:moveTo>
                <a:lnTo>
                  <a:pt x="2604374" y="0"/>
                </a:lnTo>
                <a:lnTo>
                  <a:pt x="2604374" y="618959"/>
                </a:lnTo>
                <a:lnTo>
                  <a:pt x="0" y="618959"/>
                </a:lnTo>
                <a:close/>
              </a:path>
            </a:pathLst>
          </a:custGeom>
          <a:solidFill>
            <a:srgbClr val="328CB2"/>
          </a:solidFill>
        </p:spPr>
      </p:sp>
      <p:sp>
        <p:nvSpPr>
          <p:cNvPr id="5" name="Shape 3"/>
          <p:cNvSpPr/>
          <p:nvPr/>
        </p:nvSpPr>
        <p:spPr>
          <a:xfrm>
            <a:off x="3188981" y="2338128"/>
            <a:ext cx="2766039" cy="697421"/>
          </a:xfrm>
          <a:custGeom>
            <a:avLst/>
            <a:gdLst/>
            <a:ahLst/>
            <a:cxnLst/>
            <a:rect l="l" t="t" r="r" b="b"/>
            <a:pathLst>
              <a:path w="2766039" h="697421">
                <a:moveTo>
                  <a:pt x="0" y="0"/>
                </a:moveTo>
                <a:moveTo>
                  <a:pt x="0" y="0"/>
                </a:moveTo>
                <a:lnTo>
                  <a:pt x="2766039" y="0"/>
                </a:lnTo>
                <a:lnTo>
                  <a:pt x="2766039" y="697421"/>
                </a:lnTo>
                <a:lnTo>
                  <a:pt x="0" y="697421"/>
                </a:lnTo>
                <a:close/>
              </a:path>
            </a:pathLst>
          </a:custGeom>
          <a:solidFill>
            <a:srgbClr val="328CB2">
              <a:alpha val="0"/>
            </a:srgbClr>
          </a:solidFill>
          <a:ln w="9525">
            <a:solidFill>
              <a:srgbClr val="328CB2"/>
            </a:solidFill>
            <a:prstDash val="solid"/>
          </a:ln>
        </p:spPr>
      </p:sp>
      <p:sp>
        <p:nvSpPr>
          <p:cNvPr id="6" name="Shape 4"/>
          <p:cNvSpPr/>
          <p:nvPr/>
        </p:nvSpPr>
        <p:spPr>
          <a:xfrm>
            <a:off x="3269813" y="2803759"/>
            <a:ext cx="2604374" cy="618959"/>
          </a:xfrm>
          <a:custGeom>
            <a:avLst/>
            <a:gdLst/>
            <a:ahLst/>
            <a:cxnLst/>
            <a:rect l="l" t="t" r="r" b="b"/>
            <a:pathLst>
              <a:path w="2604374" h="618959">
                <a:moveTo>
                  <a:pt x="0" y="0"/>
                </a:moveTo>
                <a:moveTo>
                  <a:pt x="0" y="0"/>
                </a:moveTo>
                <a:lnTo>
                  <a:pt x="2604374" y="0"/>
                </a:lnTo>
                <a:lnTo>
                  <a:pt x="2604374" y="618959"/>
                </a:lnTo>
                <a:lnTo>
                  <a:pt x="0" y="618959"/>
                </a:lnTo>
                <a:close/>
              </a:path>
            </a:pathLst>
          </a:custGeom>
          <a:solidFill>
            <a:srgbClr val="328CB2"/>
          </a:solidFill>
        </p:spPr>
      </p:sp>
      <p:sp>
        <p:nvSpPr>
          <p:cNvPr id="7" name="Shape 5"/>
          <p:cNvSpPr/>
          <p:nvPr/>
        </p:nvSpPr>
        <p:spPr>
          <a:xfrm>
            <a:off x="6150337" y="2338128"/>
            <a:ext cx="2766039" cy="697421"/>
          </a:xfrm>
          <a:custGeom>
            <a:avLst/>
            <a:gdLst/>
            <a:ahLst/>
            <a:cxnLst/>
            <a:rect l="l" t="t" r="r" b="b"/>
            <a:pathLst>
              <a:path w="2766039" h="697421">
                <a:moveTo>
                  <a:pt x="0" y="0"/>
                </a:moveTo>
                <a:moveTo>
                  <a:pt x="0" y="0"/>
                </a:moveTo>
                <a:lnTo>
                  <a:pt x="2766039" y="0"/>
                </a:lnTo>
                <a:lnTo>
                  <a:pt x="2766039" y="697421"/>
                </a:lnTo>
                <a:lnTo>
                  <a:pt x="0" y="697421"/>
                </a:lnTo>
                <a:close/>
              </a:path>
            </a:pathLst>
          </a:custGeom>
          <a:solidFill>
            <a:srgbClr val="328CB2">
              <a:alpha val="0"/>
            </a:srgbClr>
          </a:solidFill>
          <a:ln w="9525">
            <a:solidFill>
              <a:srgbClr val="328CB2"/>
            </a:solidFill>
            <a:prstDash val="solid"/>
          </a:ln>
        </p:spPr>
      </p:sp>
      <p:sp>
        <p:nvSpPr>
          <p:cNvPr id="8" name="Shape 6"/>
          <p:cNvSpPr/>
          <p:nvPr/>
        </p:nvSpPr>
        <p:spPr>
          <a:xfrm>
            <a:off x="6231169" y="2803759"/>
            <a:ext cx="2604374" cy="618959"/>
          </a:xfrm>
          <a:custGeom>
            <a:avLst/>
            <a:gdLst/>
            <a:ahLst/>
            <a:cxnLst/>
            <a:rect l="l" t="t" r="r" b="b"/>
            <a:pathLst>
              <a:path w="2604374" h="618959">
                <a:moveTo>
                  <a:pt x="0" y="0"/>
                </a:moveTo>
                <a:moveTo>
                  <a:pt x="0" y="0"/>
                </a:moveTo>
                <a:lnTo>
                  <a:pt x="2604374" y="0"/>
                </a:lnTo>
                <a:lnTo>
                  <a:pt x="2604374" y="618959"/>
                </a:lnTo>
                <a:lnTo>
                  <a:pt x="0" y="618959"/>
                </a:lnTo>
                <a:close/>
              </a:path>
            </a:pathLst>
          </a:custGeom>
          <a:solidFill>
            <a:srgbClr val="328CB2"/>
          </a:solidFill>
        </p:spPr>
      </p:sp>
      <p:sp>
        <p:nvSpPr>
          <p:cNvPr id="9" name="Text 7"/>
          <p:cNvSpPr/>
          <p:nvPr/>
        </p:nvSpPr>
        <p:spPr>
          <a:xfrm>
            <a:off x="454935" y="2930359"/>
            <a:ext cx="2311417" cy="365760"/>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图书馆工作人员的辛勤付出</a:t>
            </a:r>
            <a:endParaRPr lang="en-US" sz="1440" dirty="0"/>
          </a:p>
        </p:txBody>
      </p:sp>
      <p:pic>
        <p:nvPicPr>
          <p:cNvPr id="10" name="Image 0" descr="https://sgw-dx.xf-yun.com/api/v1/sparkdesk/_1746867054303126be60804a24933b26264efefcd8ac6.jpg?authorization=c2ltcGxlLWp3dCBhaz1zcGFya2Rlc2s4MDAwMDAwMDAwMDE7ZXhwPTMzMjM2NjcwNTQ7YWxnbz1obWFjLXNoYTI1NjtzaWc9bzBJU25TZ3lEbjVGWllZOFEyWVd0Rnd4ZkdNZlNJTmJPMmdDZENkcHMzZz0=&amp;x_location=7YfmxI7B7uKO7jlRxIftd6UpfPD="/>
          <p:cNvPicPr>
            <a:picLocks noChangeAspect="1"/>
          </p:cNvPicPr>
          <p:nvPr/>
        </p:nvPicPr>
        <p:blipFill>
          <a:blip r:embed="rId2"/>
          <a:srcRect t="16667" b="16667"/>
          <a:stretch>
            <a:fillRect/>
          </a:stretch>
        </p:blipFill>
        <p:spPr>
          <a:xfrm>
            <a:off x="308457" y="978526"/>
            <a:ext cx="2604374" cy="1736249"/>
          </a:xfrm>
          <a:prstGeom prst="rect">
            <a:avLst/>
          </a:prstGeom>
        </p:spPr>
      </p:pic>
      <p:sp>
        <p:nvSpPr>
          <p:cNvPr id="11" name="Text 8"/>
          <p:cNvSpPr/>
          <p:nvPr/>
        </p:nvSpPr>
        <p:spPr>
          <a:xfrm>
            <a:off x="308457" y="3422718"/>
            <a:ext cx="2604374" cy="10607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图书馆工作人员日复一日地整理书籍、维护秩序，他们的辛勤工作为我们提供了一个安静、整洁的学习环境，使我们能够专心致志地学习和研究。</a:t>
            </a:r>
            <a:endParaRPr lang="en-US" sz="1440" dirty="0"/>
          </a:p>
        </p:txBody>
      </p:sp>
      <p:sp>
        <p:nvSpPr>
          <p:cNvPr id="12" name="Text 9"/>
          <p:cNvSpPr/>
          <p:nvPr/>
        </p:nvSpPr>
        <p:spPr>
          <a:xfrm>
            <a:off x="3416291" y="2916643"/>
            <a:ext cx="2311417" cy="393192"/>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图书馆资源的丰富多样</a:t>
            </a:r>
            <a:endParaRPr lang="en-US" sz="1440" dirty="0"/>
          </a:p>
        </p:txBody>
      </p:sp>
      <p:pic>
        <p:nvPicPr>
          <p:cNvPr id="13" name="Image 1" descr="https://sgw-dx.xf-yun.com/api/v1/sparkdesk/_1746867057552893b87148f4142af85562cae64bfc152.jpg?authorization=c2ltcGxlLWp3dCBhaz1zcGFya2Rlc2s4MDAwMDAwMDAwMDE7ZXhwPTMzMjM2NjcwNTc7YWxnbz1obWFjLXNoYTI1NjtzaWc9bU1FbmFoSmFWS1BPWGd6Unk1b1E4U2UxUlBxNUxGcS9tTkNaQ2NFaDFqND0=&amp;x_location=7YfmxI7B7uKO7jlRxIftd6UpfPD="/>
          <p:cNvPicPr>
            <a:picLocks noChangeAspect="1"/>
          </p:cNvPicPr>
          <p:nvPr/>
        </p:nvPicPr>
        <p:blipFill>
          <a:blip r:embed="rId3"/>
          <a:srcRect t="16667" b="16667"/>
          <a:stretch>
            <a:fillRect/>
          </a:stretch>
        </p:blipFill>
        <p:spPr>
          <a:xfrm>
            <a:off x="3269813" y="978526"/>
            <a:ext cx="2604374" cy="1736249"/>
          </a:xfrm>
          <a:prstGeom prst="rect">
            <a:avLst/>
          </a:prstGeom>
        </p:spPr>
      </p:pic>
      <p:sp>
        <p:nvSpPr>
          <p:cNvPr id="14" name="Text 10"/>
          <p:cNvSpPr/>
          <p:nvPr/>
        </p:nvSpPr>
        <p:spPr>
          <a:xfrm>
            <a:off x="3269813" y="3422718"/>
            <a:ext cx="2604374" cy="10607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图书馆不仅提供了丰富的图书资源，还有电子数据库、期刊杂志等，这些资源的多样性满足了我们不同的学习需求，为我们的学术研究提供了有力支持。</a:t>
            </a:r>
            <a:endParaRPr lang="en-US" sz="1440" dirty="0"/>
          </a:p>
        </p:txBody>
      </p:sp>
      <p:sp>
        <p:nvSpPr>
          <p:cNvPr id="15" name="Text 11"/>
          <p:cNvSpPr/>
          <p:nvPr/>
        </p:nvSpPr>
        <p:spPr>
          <a:xfrm>
            <a:off x="6377647" y="2930359"/>
            <a:ext cx="2311417" cy="365760"/>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图书馆服务的贴心周到</a:t>
            </a:r>
            <a:endParaRPr lang="en-US" sz="1440" dirty="0"/>
          </a:p>
        </p:txBody>
      </p:sp>
      <p:pic>
        <p:nvPicPr>
          <p:cNvPr id="16" name="Image 2" descr="https://sgw-dx.xf-yun.com/api/v1/sparkdesk/_174686706072922a2c63ebafe4022b5fef80bec3b7651.jpg?authorization=c2ltcGxlLWp3dCBhaz1zcGFya2Rlc2s4MDAwMDAwMDAwMDE7ZXhwPTMzMjM2NjcwNjA7YWxnbz1obWFjLXNoYTI1NjtzaWc9a1RRWmZjVlovVTRUeUkxS2pjQW5FZ1FUZVRLRUUzZDdnVWUrbXJsRmxZND0=&amp;x_location=7YfmxI7B7uKO7jlRxIftd6UpfPD="/>
          <p:cNvPicPr>
            <a:picLocks noChangeAspect="1"/>
          </p:cNvPicPr>
          <p:nvPr/>
        </p:nvPicPr>
        <p:blipFill>
          <a:blip r:embed="rId4"/>
          <a:srcRect t="16667" b="16667"/>
          <a:stretch>
            <a:fillRect/>
          </a:stretch>
        </p:blipFill>
        <p:spPr>
          <a:xfrm>
            <a:off x="6231169" y="978526"/>
            <a:ext cx="2604374" cy="1736249"/>
          </a:xfrm>
          <a:prstGeom prst="rect">
            <a:avLst/>
          </a:prstGeom>
        </p:spPr>
      </p:pic>
      <p:sp>
        <p:nvSpPr>
          <p:cNvPr id="17" name="Text 12"/>
          <p:cNvSpPr/>
          <p:nvPr/>
        </p:nvSpPr>
        <p:spPr>
          <a:xfrm>
            <a:off x="6231169" y="3422718"/>
            <a:ext cx="2604374" cy="10607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图书馆工作人员总是耐心解答我们的问题，提供专业的咨询服务，他们的贴心周到让我们在遇到困难时能够得到及时的帮助，顺利完成学业。</a:t>
            </a:r>
            <a:endParaRPr lang="en-US" sz="144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06998" y="175395"/>
            <a:ext cx="8032509" cy="5852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015" b="1" dirty="0">
                <a:solidFill>
                  <a:srgbClr val="1E6E90"/>
                </a:solidFill>
                <a:latin typeface="微软雅黑" panose="020B0503020204020204" pitchFamily="34" charset="-122"/>
                <a:ea typeface="微软雅黑" panose="020B0503020204020204" pitchFamily="34" charset="-122"/>
                <a:cs typeface="微软雅黑" panose="020B0503020204020204" pitchFamily="34" charset="-120"/>
              </a:rPr>
              <a:t>评审专家意见感谢</a:t>
            </a:r>
            <a:endParaRPr lang="en-US" sz="1440" dirty="0"/>
          </a:p>
        </p:txBody>
      </p:sp>
      <p:pic>
        <p:nvPicPr>
          <p:cNvPr id="3" name="Image 0" descr="https://sgw-dx.xf-yun.com/api/v1/sparkdesk/_174686705943071dd185f9d7746d7863784e98e0b88a9.jpg?authorization=c2ltcGxlLWp3dCBhaz1zcGFya2Rlc2s4MDAwMDAwMDAwMDE7ZXhwPTMzMjM2NjcwNTk7YWxnbz1obWFjLXNoYTI1NjtzaWc9U1NxM2l0NFdnc01tNUhGSm1EdFJ3eHVhZUFUUmtlVzVvN2h6TklLR3NOUT0=&amp;x_location=7YfmxI7B7uKO7jlRxIftd6UpfPD="/>
          <p:cNvPicPr>
            <a:picLocks noChangeAspect="1"/>
          </p:cNvPicPr>
          <p:nvPr/>
        </p:nvPicPr>
        <p:blipFill>
          <a:blip r:embed="rId2"/>
          <a:srcRect/>
          <a:stretch>
            <a:fillRect/>
          </a:stretch>
        </p:blipFill>
        <p:spPr>
          <a:xfrm>
            <a:off x="245567" y="945574"/>
            <a:ext cx="2668369" cy="1499084"/>
          </a:xfrm>
          <a:prstGeom prst="rect">
            <a:avLst/>
          </a:prstGeom>
        </p:spPr>
      </p:pic>
      <p:sp>
        <p:nvSpPr>
          <p:cNvPr id="4" name="Text 1"/>
          <p:cNvSpPr/>
          <p:nvPr/>
        </p:nvSpPr>
        <p:spPr>
          <a:xfrm>
            <a:off x="245567" y="2532534"/>
            <a:ext cx="2668369" cy="42062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328CB2"/>
                </a:solidFill>
                <a:latin typeface="微软雅黑" panose="020B0503020204020204" pitchFamily="34" charset="-122"/>
                <a:ea typeface="微软雅黑" panose="020B0503020204020204" pitchFamily="34" charset="-122"/>
                <a:cs typeface="微软雅黑" panose="020B0503020204020204" pitchFamily="34" charset="-120"/>
              </a:rPr>
              <a:t>评审专家的宝贵意见</a:t>
            </a:r>
            <a:endParaRPr lang="en-US" sz="1440" dirty="0"/>
          </a:p>
        </p:txBody>
      </p:sp>
      <p:sp>
        <p:nvSpPr>
          <p:cNvPr id="5" name="Text 2"/>
          <p:cNvSpPr/>
          <p:nvPr/>
        </p:nvSpPr>
        <p:spPr>
          <a:xfrm>
            <a:off x="245567" y="3117417"/>
            <a:ext cx="2668369"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我们衷心感谢评审专家提出的宝贵意见，这些建议不仅提升了我们项目的质量，也为我们指明了改进的方向，使我们的工作更加完善。</a:t>
            </a:r>
            <a:endParaRPr lang="en-US" sz="1440" dirty="0"/>
          </a:p>
        </p:txBody>
      </p:sp>
      <p:pic>
        <p:nvPicPr>
          <p:cNvPr id="6" name="Image 1" descr="https://sgw-dx.xf-yun.com/api/v1/sparkdesk/_1746867062673a24519eb0cce4c73930f62bc758652e2.jpg?authorization=c2ltcGxlLWp3dCBhaz1zcGFya2Rlc2s4MDAwMDAwMDAwMDE7ZXhwPTMzMjM2NjcwNjI7YWxnbz1obWFjLXNoYTI1NjtzaWc9ZDcrUGcva3VXWjN2dWlCbUdPaExzRlpWcFRBQnJNUnFaaGNzLzdoTTYwdz0=&amp;x_location=7YfmxI7B7uKO7jlRxIftd6UpfPD="/>
          <p:cNvPicPr>
            <a:picLocks noChangeAspect="1"/>
          </p:cNvPicPr>
          <p:nvPr/>
        </p:nvPicPr>
        <p:blipFill>
          <a:blip r:embed="rId3"/>
          <a:srcRect/>
          <a:stretch>
            <a:fillRect/>
          </a:stretch>
        </p:blipFill>
        <p:spPr>
          <a:xfrm>
            <a:off x="3259189" y="945574"/>
            <a:ext cx="2668369" cy="1499084"/>
          </a:xfrm>
          <a:prstGeom prst="rect">
            <a:avLst/>
          </a:prstGeom>
        </p:spPr>
      </p:pic>
      <p:sp>
        <p:nvSpPr>
          <p:cNvPr id="7" name="Text 3"/>
          <p:cNvSpPr/>
          <p:nvPr/>
        </p:nvSpPr>
        <p:spPr>
          <a:xfrm>
            <a:off x="3259189" y="2532534"/>
            <a:ext cx="2668369" cy="42062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328CB2"/>
                </a:solidFill>
                <a:latin typeface="微软雅黑" panose="020B0503020204020204" pitchFamily="34" charset="-122"/>
                <a:ea typeface="微软雅黑" panose="020B0503020204020204" pitchFamily="34" charset="-122"/>
                <a:cs typeface="微软雅黑" panose="020B0503020204020204" pitchFamily="34" charset="-120"/>
              </a:rPr>
              <a:t>专家意见的积极影响</a:t>
            </a:r>
            <a:endParaRPr lang="en-US" sz="1440" dirty="0"/>
          </a:p>
        </p:txBody>
      </p:sp>
      <p:sp>
        <p:nvSpPr>
          <p:cNvPr id="8" name="Text 4"/>
          <p:cNvSpPr/>
          <p:nvPr/>
        </p:nvSpPr>
        <p:spPr>
          <a:xfrm>
            <a:off x="3259189" y="3117417"/>
            <a:ext cx="2668369"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评审专家的意见对我们的项目产生了深远的影响，他们的专业见解帮助我们识别并解决了关键问题，确保了项目的顺利进行和成功完成。</a:t>
            </a:r>
            <a:endParaRPr lang="en-US" sz="1440" dirty="0"/>
          </a:p>
        </p:txBody>
      </p:sp>
      <p:pic>
        <p:nvPicPr>
          <p:cNvPr id="9" name="Image 2" descr="https://sgw-dx.xf-yun.com/api/v1/sparkdesk/_174686706574645fe22c01dd14ea4b51f0faad769a7f2.jpg?authorization=c2ltcGxlLWp3dCBhaz1zcGFya2Rlc2s4MDAwMDAwMDAwMDE7ZXhwPTMzMjM2NjcwNjU7YWxnbz1obWFjLXNoYTI1NjtzaWc9akF0TnlnQXlEN0RHZ0hNZDNGbDRxNUQ3cVhZSWhlL0J4K1ROTGRWYmhtWT0=&amp;x_location=7YfmxI7B7uKO7jlRxIftd6UpfPD="/>
          <p:cNvPicPr>
            <a:picLocks noChangeAspect="1"/>
          </p:cNvPicPr>
          <p:nvPr/>
        </p:nvPicPr>
        <p:blipFill>
          <a:blip r:embed="rId4"/>
          <a:srcRect/>
          <a:stretch>
            <a:fillRect/>
          </a:stretch>
        </p:blipFill>
        <p:spPr>
          <a:xfrm>
            <a:off x="6230064" y="945574"/>
            <a:ext cx="2668369" cy="1499084"/>
          </a:xfrm>
          <a:prstGeom prst="rect">
            <a:avLst/>
          </a:prstGeom>
        </p:spPr>
      </p:pic>
      <p:sp>
        <p:nvSpPr>
          <p:cNvPr id="10" name="Text 5"/>
          <p:cNvSpPr/>
          <p:nvPr/>
        </p:nvSpPr>
        <p:spPr>
          <a:xfrm>
            <a:off x="6230064" y="2534254"/>
            <a:ext cx="2668369" cy="42062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328CB2"/>
                </a:solidFill>
                <a:latin typeface="微软雅黑" panose="020B0503020204020204" pitchFamily="34" charset="-122"/>
                <a:ea typeface="微软雅黑" panose="020B0503020204020204" pitchFamily="34" charset="-122"/>
                <a:cs typeface="微软雅黑" panose="020B0503020204020204" pitchFamily="34" charset="-120"/>
              </a:rPr>
              <a:t>持续改进的动力</a:t>
            </a:r>
            <a:endParaRPr lang="en-US" sz="1440" dirty="0"/>
          </a:p>
        </p:txBody>
      </p:sp>
      <p:sp>
        <p:nvSpPr>
          <p:cNvPr id="11" name="Text 6"/>
          <p:cNvSpPr/>
          <p:nvPr/>
        </p:nvSpPr>
        <p:spPr>
          <a:xfrm>
            <a:off x="6230064" y="3119137"/>
            <a:ext cx="2668369"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得益于评审专家的精准指导，我们获得了持续改进的动力，这不仅增强了我们的专业能力，也激励我们在未来工作中追求更高的标准。</a:t>
            </a:r>
            <a:endParaRPr lang="en-US" sz="144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628705" y="1831151"/>
            <a:ext cx="4219064" cy="110642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475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感谢观看</a:t>
            </a:r>
            <a:endParaRPr lang="en-US" sz="1440" dirty="0"/>
          </a:p>
        </p:txBody>
      </p:sp>
    </p:spTree>
  </p:cSld>
  <p:clrMapOvr>
    <a:masterClrMapping/>
  </p:clrMapOvr>
</p:sld>
</file>

<file path=ppt/tags/tag1.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2.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3.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4.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5.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6.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7.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8.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9.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10.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11.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12.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13.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14.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15.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16.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17.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ags/tag18.xml><?xml version="1.0" encoding="utf-8"?>
<p:tagLst xmlns:p="http://schemas.openxmlformats.org/presentationml/2006/main">
  <p:tag name="KSO_WM_DIAGRAM_VIRTUALLY_FRAME" val="{&quot;height&quot;:210.29677165354332,&quot;left&quot;:28.944015748031497,&quot;top&quot;:106.72999999999999,&quot;width&quot;:512.823700787401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5303</Words>
  <Application>WPS 演示</Application>
  <PresentationFormat>On-screen Show (16:9)</PresentationFormat>
  <Paragraphs>494</Paragraphs>
  <Slides>36</Slides>
  <Notes>36</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36</vt:i4>
      </vt:variant>
    </vt:vector>
  </HeadingPairs>
  <TitlesOfParts>
    <vt:vector size="52" baseType="lpstr">
      <vt:lpstr>Arial</vt:lpstr>
      <vt:lpstr>宋体</vt:lpstr>
      <vt:lpstr>Wingdings</vt:lpstr>
      <vt:lpstr>微软雅黑</vt:lpstr>
      <vt:lpstr>微软雅黑</vt:lpstr>
      <vt:lpstr>PingFang SC</vt:lpstr>
      <vt:lpstr>Segoe Print</vt:lpstr>
      <vt:lpstr>PingFang SC</vt:lpstr>
      <vt:lpstr>PingFang SC</vt:lpstr>
      <vt:lpstr>Arial</vt:lpstr>
      <vt:lpstr>Arial</vt:lpstr>
      <vt:lpstr>Calibri</vt:lpstr>
      <vt:lpstr>Arial Unicode MS</vt:lpstr>
      <vt:lpstr>等线</vt:lpstr>
      <vt:lpstr>MingLiU-ExtB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国际海运·钟先森</cp:lastModifiedBy>
  <cp:revision>2</cp:revision>
  <dcterms:created xsi:type="dcterms:W3CDTF">2025-05-10T08:51:00Z</dcterms:created>
  <dcterms:modified xsi:type="dcterms:W3CDTF">2025-05-10T08:52:54Z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F61A92AFCCB34FF2A9A1F2D1C8B189F7_12</vt:lpwstr>
  </property>
  <property fmtid="{D5CDD505-2E9C-101B-9397-08002B2CF9AE}" pid="3" name="KSOProductBuildVer">
    <vt:lpwstr>2052-12.1.0.20784</vt:lpwstr>
  </property>
</Properties>
</file>